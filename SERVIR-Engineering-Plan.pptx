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6858000" cx="12192000"/>
  <p:notesSz cx="6858000" cy="12192000"/>
  <p:embeddedFontLst>
    <p:embeddedFont>
      <p:font typeface="Roboto Condensed"/>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B7ADE64-2C2D-4D68-BEA2-7A829558A485}">
  <a:tblStyle styleId="{0B7ADE64-2C2D-4D68-BEA2-7A829558A48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obotoCondensed-bold.fntdata"/><Relationship Id="rId10" Type="http://schemas.openxmlformats.org/officeDocument/2006/relationships/slide" Target="slides/slide5.xml"/><Relationship Id="rId54" Type="http://schemas.openxmlformats.org/officeDocument/2006/relationships/font" Target="fonts/RobotoCondensed-regular.fntdata"/><Relationship Id="rId13" Type="http://schemas.openxmlformats.org/officeDocument/2006/relationships/slide" Target="slides/slide8.xml"/><Relationship Id="rId57" Type="http://schemas.openxmlformats.org/officeDocument/2006/relationships/font" Target="fonts/RobotoCondensed-boldItalic.fntdata"/><Relationship Id="rId12" Type="http://schemas.openxmlformats.org/officeDocument/2006/relationships/slide" Target="slides/slide7.xml"/><Relationship Id="rId56" Type="http://schemas.openxmlformats.org/officeDocument/2006/relationships/font" Target="fonts/RobotoCondense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5" name="Google Shape;68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5" name="Google Shape;71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0" name="Google Shape;79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1" name="Google Shape;791;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1" name="Google Shape;80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2" name="Google Shape;802;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7" name="Google Shape;90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8" name="Google Shape;90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1" name="Google Shape;93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 name="Google Shape;93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4" name="Google Shape;944;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5" name="Google Shape;945;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8" name="Google Shape;95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9" name="Google Shape;959;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0" name="Google Shape;1000;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1" name="Google Shape;1001;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1" name="Google Shape;1011;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2" name="Google Shape;1012;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6" name="Google Shape;102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7" name="Google Shape;102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1" name="Google Shape;105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2" name="Google Shape;1052;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0" name="Google Shape;109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1" name="Google Shape;1091;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1" name="Google Shape;1101;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2" name="Google Shape;1102;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2" name="Google Shape;113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3" name="Google Shape;1133;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9" name="Google Shape;114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0" name="Google Shape;1150;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3" name="Google Shape;117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4" name="Google Shape;1174;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2" name="Google Shape;1202;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3" name="Google Shape;1203;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7" name="Google Shape;1217;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8" name="Google Shape;1218;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0" name="Google Shape;1230;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1" name="Google Shape;1231;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1" name="Google Shape;1241;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2" name="Google Shape;1242;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4" name="Google Shape;1254;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5" name="Google Shape;1255;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0" name="Google Shape;1290;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1" name="Google Shape;1291;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2" name="Google Shape;1302;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3" name="Google Shape;1303;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1C212A"/>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p:cSld name="LIGHT">
    <p:bg>
      <p:bgPr>
        <a:solidFill>
          <a:srgbClr val="F1F4F7"/>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 name="Shape 17"/>
        <p:cNvGrpSpPr/>
        <p:nvPr/>
      </p:nvGrpSpPr>
      <p:grpSpPr>
        <a:xfrm>
          <a:off x="0" y="0"/>
          <a:ext cx="0" cy="0"/>
          <a:chOff x="0" y="0"/>
          <a:chExt cx="0" cy="0"/>
        </a:xfrm>
      </p:grpSpPr>
      <p:sp>
        <p:nvSpPr>
          <p:cNvPr id="18" name="Google Shape;18;p5"/>
          <p:cNvSpPr/>
          <p:nvPr/>
        </p:nvSpPr>
        <p:spPr>
          <a:xfrm>
            <a:off x="7863840" y="-2011680"/>
            <a:ext cx="6949440" cy="6949440"/>
          </a:xfrm>
          <a:prstGeom prst="ellipse">
            <a:avLst/>
          </a:prstGeom>
          <a:solidFill>
            <a:srgbClr val="1A6389">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5"/>
          <p:cNvSpPr/>
          <p:nvPr/>
        </p:nvSpPr>
        <p:spPr>
          <a:xfrm>
            <a:off x="9966960" y="3840480"/>
            <a:ext cx="3108960" cy="3108960"/>
          </a:xfrm>
          <a:prstGeom prst="ellipse">
            <a:avLst/>
          </a:prstGeom>
          <a:solidFill>
            <a:srgbClr val="91AF3D">
              <a:alpha val="2196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 name="Google Shape;20;p5"/>
          <p:cNvPicPr preferRelativeResize="0"/>
          <p:nvPr/>
        </p:nvPicPr>
        <p:blipFill rotWithShape="1">
          <a:blip r:embed="rId3">
            <a:alphaModFix/>
          </a:blip>
          <a:srcRect b="0" l="0" r="0" t="0"/>
          <a:stretch/>
        </p:blipFill>
        <p:spPr>
          <a:xfrm>
            <a:off x="822960" y="1572768"/>
            <a:ext cx="2194560" cy="301752"/>
          </a:xfrm>
          <a:prstGeom prst="rect">
            <a:avLst/>
          </a:prstGeom>
          <a:noFill/>
          <a:ln>
            <a:noFill/>
          </a:ln>
        </p:spPr>
      </p:pic>
      <p:sp>
        <p:nvSpPr>
          <p:cNvPr id="21" name="Google Shape;21;p5"/>
          <p:cNvSpPr txBox="1"/>
          <p:nvPr/>
        </p:nvSpPr>
        <p:spPr>
          <a:xfrm>
            <a:off x="822960" y="2148840"/>
            <a:ext cx="86868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Roboto Condensed"/>
              <a:buNone/>
            </a:pPr>
            <a:r>
              <a:rPr b="1" i="0" lang="en-US" sz="5400" u="none" cap="none" strike="noStrike">
                <a:solidFill>
                  <a:srgbClr val="FFFFFF"/>
                </a:solidFill>
                <a:latin typeface="Roboto Condensed"/>
                <a:ea typeface="Roboto Condensed"/>
                <a:cs typeface="Roboto Condensed"/>
                <a:sym typeface="Roboto Condensed"/>
              </a:rPr>
              <a:t>Engineering Plan</a:t>
            </a:r>
            <a:endParaRPr b="0" i="0" sz="5400" u="none" cap="none" strike="noStrike">
              <a:solidFill>
                <a:schemeClr val="dk1"/>
              </a:solidFill>
              <a:latin typeface="Calibri"/>
              <a:ea typeface="Calibri"/>
              <a:cs typeface="Calibri"/>
              <a:sym typeface="Calibri"/>
            </a:endParaRPr>
          </a:p>
        </p:txBody>
      </p:sp>
      <p:sp>
        <p:nvSpPr>
          <p:cNvPr id="22" name="Google Shape;22;p5"/>
          <p:cNvSpPr txBox="1"/>
          <p:nvPr/>
        </p:nvSpPr>
        <p:spPr>
          <a:xfrm>
            <a:off x="841248" y="3520440"/>
            <a:ext cx="78638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D6E6"/>
              </a:buClr>
              <a:buSzPts val="1500"/>
              <a:buFont typeface="Calibri"/>
              <a:buNone/>
            </a:pPr>
            <a:r>
              <a:rPr b="0" i="0" lang="en-US" sz="1500" u="none" cap="none" strike="noStrike">
                <a:solidFill>
                  <a:srgbClr val="C4D6E6"/>
                </a:solidFill>
                <a:latin typeface="Calibri"/>
                <a:ea typeface="Calibri"/>
                <a:cs typeface="Calibri"/>
                <a:sym typeface="Calibri"/>
              </a:rPr>
              <a:t>One shared system — Global Risk, Food Security, Natural Resource Management.</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4D6E6"/>
              </a:buClr>
              <a:buSzPts val="1500"/>
              <a:buFont typeface="Calibri"/>
              <a:buNone/>
            </a:pPr>
            <a:r>
              <a:rPr b="0" i="0" lang="en-US" sz="1500" u="none" cap="none" strike="noStrike">
                <a:solidFill>
                  <a:srgbClr val="C4D6E6"/>
                </a:solidFill>
                <a:latin typeface="Calibri"/>
                <a:ea typeface="Calibri"/>
                <a:cs typeface="Calibri"/>
                <a:sym typeface="Calibri"/>
              </a:rPr>
              <a:t>What has to be built, on three clocks, and how the pieces interoperate.</a:t>
            </a:r>
            <a:endParaRPr b="0" i="0" sz="1500" u="none" cap="none" strike="noStrike">
              <a:solidFill>
                <a:schemeClr val="dk1"/>
              </a:solidFill>
              <a:latin typeface="Calibri"/>
              <a:ea typeface="Calibri"/>
              <a:cs typeface="Calibri"/>
              <a:sym typeface="Calibri"/>
            </a:endParaRPr>
          </a:p>
        </p:txBody>
      </p:sp>
      <p:sp>
        <p:nvSpPr>
          <p:cNvPr id="23" name="Google Shape;23;p5"/>
          <p:cNvSpPr txBox="1"/>
          <p:nvPr/>
        </p:nvSpPr>
        <p:spPr>
          <a:xfrm>
            <a:off x="841248" y="443484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C3E0"/>
              </a:buClr>
              <a:buSzPts val="1500"/>
              <a:buFont typeface="Roboto Condensed"/>
              <a:buNone/>
            </a:pPr>
            <a:r>
              <a:rPr b="0" i="1" lang="en-US" sz="1500" u="none" cap="none" strike="noStrike">
                <a:solidFill>
                  <a:srgbClr val="9FC3E0"/>
                </a:solidFill>
                <a:latin typeface="Roboto Condensed"/>
                <a:ea typeface="Roboto Condensed"/>
                <a:cs typeface="Roboto Condensed"/>
                <a:sym typeface="Roboto Condensed"/>
              </a:rPr>
              <a:t>“Connecting space to village.”</a:t>
            </a:r>
            <a:endParaRPr b="0" i="0" sz="1500" u="none" cap="none" strike="noStrike">
              <a:solidFill>
                <a:schemeClr val="dk1"/>
              </a:solidFill>
              <a:latin typeface="Calibri"/>
              <a:ea typeface="Calibri"/>
              <a:cs typeface="Calibri"/>
              <a:sym typeface="Calibri"/>
            </a:endParaRPr>
          </a:p>
        </p:txBody>
      </p:sp>
      <p:cxnSp>
        <p:nvCxnSpPr>
          <p:cNvPr id="24" name="Google Shape;24;p5"/>
          <p:cNvCxnSpPr/>
          <p:nvPr/>
        </p:nvCxnSpPr>
        <p:spPr>
          <a:xfrm>
            <a:off x="841248" y="5029200"/>
            <a:ext cx="4937760" cy="0"/>
          </a:xfrm>
          <a:prstGeom prst="straightConnector1">
            <a:avLst/>
          </a:prstGeom>
          <a:noFill/>
          <a:ln cap="flat" cmpd="sng" w="12700">
            <a:solidFill>
              <a:srgbClr val="1E4A72"/>
            </a:solidFill>
            <a:prstDash val="solid"/>
            <a:round/>
            <a:headEnd len="sm" w="sm" type="none"/>
            <a:tailEnd len="sm" w="sm" type="none"/>
          </a:ln>
        </p:spPr>
      </p:cxnSp>
      <p:sp>
        <p:nvSpPr>
          <p:cNvPr id="25" name="Google Shape;25;p5"/>
          <p:cNvSpPr txBox="1"/>
          <p:nvPr/>
        </p:nvSpPr>
        <p:spPr>
          <a:xfrm>
            <a:off x="841248" y="5166360"/>
            <a:ext cx="8595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B8"/>
              </a:buClr>
              <a:buSzPts val="950"/>
              <a:buFont typeface="Consolas"/>
              <a:buNone/>
            </a:pPr>
            <a:r>
              <a:rPr b="0" i="0" lang="en-US" sz="950" u="none" cap="none" strike="noStrike">
                <a:solidFill>
                  <a:srgbClr val="7E9CB8"/>
                </a:solidFill>
                <a:latin typeface="Consolas"/>
                <a:ea typeface="Consolas"/>
                <a:cs typeface="Consolas"/>
                <a:sym typeface="Consolas"/>
              </a:rPr>
              <a:t>3 platforms · 1 gateway · 22 decisions · 231 repos · 123 hub services · 34 NASA assets</a:t>
            </a:r>
            <a:endParaRPr b="0" i="0" sz="950" u="none" cap="none" strike="noStrike">
              <a:solidFill>
                <a:schemeClr val="dk1"/>
              </a:solidFill>
              <a:latin typeface="Calibri"/>
              <a:ea typeface="Calibri"/>
              <a:cs typeface="Calibri"/>
              <a:sym typeface="Calibri"/>
            </a:endParaRPr>
          </a:p>
        </p:txBody>
      </p:sp>
      <p:sp>
        <p:nvSpPr>
          <p:cNvPr id="26" name="Google Shape;26;p5"/>
          <p:cNvSpPr txBox="1"/>
          <p:nvPr/>
        </p:nvSpPr>
        <p:spPr>
          <a:xfrm>
            <a:off x="841248" y="5486400"/>
            <a:ext cx="8595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B8"/>
              </a:buClr>
              <a:buSzPts val="950"/>
              <a:buFont typeface="Consolas"/>
              <a:buNone/>
            </a:pPr>
            <a:r>
              <a:rPr b="0" i="0" lang="en-US" sz="950" u="none" cap="none" strike="noStrike">
                <a:solidFill>
                  <a:srgbClr val="7E9CB8"/>
                </a:solidFill>
                <a:latin typeface="Consolas"/>
                <a:ea typeface="Consolas"/>
                <a:cs typeface="Consolas"/>
                <a:sym typeface="Consolas"/>
              </a:rPr>
              <a:t>Prepared September 2, 2026 · Claude with David, SIG-NAL · Source of record: Master Architecture v1.7</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6"/>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What this deck covers</a:t>
            </a:r>
            <a:endParaRPr b="0" i="0" sz="3000" u="none" cap="none" strike="noStrike">
              <a:solidFill>
                <a:schemeClr val="dk1"/>
              </a:solidFill>
              <a:latin typeface="Calibri"/>
              <a:ea typeface="Calibri"/>
              <a:cs typeface="Calibri"/>
              <a:sym typeface="Calibri"/>
            </a:endParaRPr>
          </a:p>
        </p:txBody>
      </p:sp>
      <p:sp>
        <p:nvSpPr>
          <p:cNvPr id="33" name="Google Shape;33;p6"/>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Nine sections. Each platform follows the same shape: the matrix, the wiring, the seams, the evidence.</a:t>
            </a:r>
            <a:endParaRPr b="0" i="0" sz="1350" u="none" cap="none" strike="noStrike">
              <a:solidFill>
                <a:schemeClr val="dk1"/>
              </a:solidFill>
              <a:latin typeface="Calibri"/>
              <a:ea typeface="Calibri"/>
              <a:cs typeface="Calibri"/>
              <a:sym typeface="Calibri"/>
            </a:endParaRPr>
          </a:p>
        </p:txBody>
      </p:sp>
      <p:sp>
        <p:nvSpPr>
          <p:cNvPr id="34" name="Google Shape;34;p6"/>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35" name="Google Shape;35;p6"/>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2</a:t>
            </a:r>
            <a:endParaRPr b="0" i="0" sz="800" u="none" cap="none" strike="noStrike">
              <a:solidFill>
                <a:schemeClr val="dk1"/>
              </a:solidFill>
              <a:latin typeface="Calibri"/>
              <a:ea typeface="Calibri"/>
              <a:cs typeface="Calibri"/>
              <a:sym typeface="Calibri"/>
            </a:endParaRPr>
          </a:p>
        </p:txBody>
      </p:sp>
      <p:sp>
        <p:nvSpPr>
          <p:cNvPr id="36" name="Google Shape;36;p6"/>
          <p:cNvSpPr/>
          <p:nvPr/>
        </p:nvSpPr>
        <p:spPr>
          <a:xfrm>
            <a:off x="548640" y="1600200"/>
            <a:ext cx="5431536" cy="1207008"/>
          </a:xfrm>
          <a:prstGeom prst="roundRect">
            <a:avLst>
              <a:gd fmla="val 4545"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6"/>
          <p:cNvSpPr txBox="1"/>
          <p:nvPr/>
        </p:nvSpPr>
        <p:spPr>
          <a:xfrm>
            <a:off x="749808" y="1728216"/>
            <a:ext cx="50292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01</a:t>
            </a:r>
            <a:endParaRPr b="0" i="0" sz="850" u="none" cap="none" strike="noStrike">
              <a:solidFill>
                <a:schemeClr val="dk1"/>
              </a:solidFill>
              <a:latin typeface="Calibri"/>
              <a:ea typeface="Calibri"/>
              <a:cs typeface="Calibri"/>
              <a:sym typeface="Calibri"/>
            </a:endParaRPr>
          </a:p>
        </p:txBody>
      </p:sp>
      <p:sp>
        <p:nvSpPr>
          <p:cNvPr id="38" name="Google Shape;38;p6"/>
          <p:cNvSpPr txBox="1"/>
          <p:nvPr/>
        </p:nvSpPr>
        <p:spPr>
          <a:xfrm>
            <a:off x="749808" y="1929384"/>
            <a:ext cx="5029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How to build this</a:t>
            </a:r>
            <a:endParaRPr b="0" i="0" sz="1350" u="none" cap="none" strike="noStrike">
              <a:solidFill>
                <a:schemeClr val="dk1"/>
              </a:solidFill>
              <a:latin typeface="Calibri"/>
              <a:ea typeface="Calibri"/>
              <a:cs typeface="Calibri"/>
              <a:sym typeface="Calibri"/>
            </a:endParaRPr>
          </a:p>
        </p:txBody>
      </p:sp>
      <p:sp>
        <p:nvSpPr>
          <p:cNvPr id="39" name="Google Shape;39;p6"/>
          <p:cNvSpPr txBox="1"/>
          <p:nvPr/>
        </p:nvSpPr>
        <p:spPr>
          <a:xfrm>
            <a:off x="749808" y="2203704"/>
            <a:ext cx="5029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Four principles; one shared stack, three domains on top.</a:t>
            </a:r>
            <a:endParaRPr b="0" i="0" sz="1050" u="none" cap="none" strike="noStrike">
              <a:solidFill>
                <a:schemeClr val="dk1"/>
              </a:solidFill>
              <a:latin typeface="Calibri"/>
              <a:ea typeface="Calibri"/>
              <a:cs typeface="Calibri"/>
              <a:sym typeface="Calibri"/>
            </a:endParaRPr>
          </a:p>
        </p:txBody>
      </p:sp>
      <p:sp>
        <p:nvSpPr>
          <p:cNvPr id="40" name="Google Shape;40;p6"/>
          <p:cNvSpPr/>
          <p:nvPr/>
        </p:nvSpPr>
        <p:spPr>
          <a:xfrm>
            <a:off x="6181344" y="1600200"/>
            <a:ext cx="5431536" cy="1207008"/>
          </a:xfrm>
          <a:prstGeom prst="roundRect">
            <a:avLst>
              <a:gd fmla="val 4545"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txBox="1"/>
          <p:nvPr/>
        </p:nvSpPr>
        <p:spPr>
          <a:xfrm>
            <a:off x="6382512" y="1728216"/>
            <a:ext cx="50292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02</a:t>
            </a:r>
            <a:endParaRPr b="0" i="0" sz="850" u="none" cap="none" strike="noStrike">
              <a:solidFill>
                <a:schemeClr val="dk1"/>
              </a:solidFill>
              <a:latin typeface="Calibri"/>
              <a:ea typeface="Calibri"/>
              <a:cs typeface="Calibri"/>
              <a:sym typeface="Calibri"/>
            </a:endParaRPr>
          </a:p>
        </p:txBody>
      </p:sp>
      <p:sp>
        <p:nvSpPr>
          <p:cNvPr id="42" name="Google Shape;42;p6"/>
          <p:cNvSpPr txBox="1"/>
          <p:nvPr/>
        </p:nvSpPr>
        <p:spPr>
          <a:xfrm>
            <a:off x="6382512" y="1929384"/>
            <a:ext cx="5029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Gateway &amp; integration</a:t>
            </a:r>
            <a:endParaRPr b="0" i="0" sz="1350" u="none" cap="none" strike="noStrike">
              <a:solidFill>
                <a:schemeClr val="dk1"/>
              </a:solidFill>
              <a:latin typeface="Calibri"/>
              <a:ea typeface="Calibri"/>
              <a:cs typeface="Calibri"/>
              <a:sym typeface="Calibri"/>
            </a:endParaRPr>
          </a:p>
        </p:txBody>
      </p:sp>
      <p:sp>
        <p:nvSpPr>
          <p:cNvPr id="43" name="Google Shape;43;p6"/>
          <p:cNvSpPr txBox="1"/>
          <p:nvPr/>
        </p:nvSpPr>
        <p:spPr>
          <a:xfrm>
            <a:off x="6382512" y="2203704"/>
            <a:ext cx="5029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Wrap-once pattern, plus the complete 231-repo migration inventory.</a:t>
            </a:r>
            <a:endParaRPr b="0" i="0" sz="1050" u="none" cap="none" strike="noStrike">
              <a:solidFill>
                <a:schemeClr val="dk1"/>
              </a:solidFill>
              <a:latin typeface="Calibri"/>
              <a:ea typeface="Calibri"/>
              <a:cs typeface="Calibri"/>
              <a:sym typeface="Calibri"/>
            </a:endParaRPr>
          </a:p>
        </p:txBody>
      </p:sp>
      <p:sp>
        <p:nvSpPr>
          <p:cNvPr id="44" name="Google Shape;44;p6"/>
          <p:cNvSpPr/>
          <p:nvPr/>
        </p:nvSpPr>
        <p:spPr>
          <a:xfrm>
            <a:off x="548640" y="3008376"/>
            <a:ext cx="5431536" cy="1207008"/>
          </a:xfrm>
          <a:prstGeom prst="roundRect">
            <a:avLst>
              <a:gd fmla="val 4545"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nvSpPr>
        <p:spPr>
          <a:xfrm>
            <a:off x="749808" y="3136392"/>
            <a:ext cx="50292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03</a:t>
            </a:r>
            <a:endParaRPr b="0" i="0" sz="850" u="none" cap="none" strike="noStrike">
              <a:solidFill>
                <a:schemeClr val="dk1"/>
              </a:solidFill>
              <a:latin typeface="Calibri"/>
              <a:ea typeface="Calibri"/>
              <a:cs typeface="Calibri"/>
              <a:sym typeface="Calibri"/>
            </a:endParaRPr>
          </a:p>
        </p:txBody>
      </p:sp>
      <p:sp>
        <p:nvSpPr>
          <p:cNvPr id="46" name="Google Shape;46;p6"/>
          <p:cNvSpPr txBox="1"/>
          <p:nvPr/>
        </p:nvSpPr>
        <p:spPr>
          <a:xfrm>
            <a:off x="749808" y="3337560"/>
            <a:ext cx="5029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GeoAI strategy alignment</a:t>
            </a:r>
            <a:endParaRPr b="0" i="0" sz="1350" u="none" cap="none" strike="noStrike">
              <a:solidFill>
                <a:schemeClr val="dk1"/>
              </a:solidFill>
              <a:latin typeface="Calibri"/>
              <a:ea typeface="Calibri"/>
              <a:cs typeface="Calibri"/>
              <a:sym typeface="Calibri"/>
            </a:endParaRPr>
          </a:p>
        </p:txBody>
      </p:sp>
      <p:sp>
        <p:nvSpPr>
          <p:cNvPr id="47" name="Google Shape;47;p6"/>
          <p:cNvSpPr txBox="1"/>
          <p:nvPr/>
        </p:nvSpPr>
        <p:spPr>
          <a:xfrm>
            <a:off x="749808" y="3611880"/>
            <a:ext cx="5029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Six principles, six pillars, the shared stack, the capacity ladder.</a:t>
            </a:r>
            <a:endParaRPr b="0" i="0" sz="1050" u="none" cap="none" strike="noStrike">
              <a:solidFill>
                <a:schemeClr val="dk1"/>
              </a:solidFill>
              <a:latin typeface="Calibri"/>
              <a:ea typeface="Calibri"/>
              <a:cs typeface="Calibri"/>
              <a:sym typeface="Calibri"/>
            </a:endParaRPr>
          </a:p>
        </p:txBody>
      </p:sp>
      <p:sp>
        <p:nvSpPr>
          <p:cNvPr id="48" name="Google Shape;48;p6"/>
          <p:cNvSpPr/>
          <p:nvPr/>
        </p:nvSpPr>
        <p:spPr>
          <a:xfrm>
            <a:off x="6181344" y="3008376"/>
            <a:ext cx="5431536" cy="1207008"/>
          </a:xfrm>
          <a:prstGeom prst="roundRect">
            <a:avLst>
              <a:gd fmla="val 4545"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txBox="1"/>
          <p:nvPr/>
        </p:nvSpPr>
        <p:spPr>
          <a:xfrm>
            <a:off x="6382512" y="3136392"/>
            <a:ext cx="50292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04–06</a:t>
            </a:r>
            <a:endParaRPr b="0" i="0" sz="850" u="none" cap="none" strike="noStrike">
              <a:solidFill>
                <a:schemeClr val="dk1"/>
              </a:solidFill>
              <a:latin typeface="Calibri"/>
              <a:ea typeface="Calibri"/>
              <a:cs typeface="Calibri"/>
              <a:sym typeface="Calibri"/>
            </a:endParaRPr>
          </a:p>
        </p:txBody>
      </p:sp>
      <p:sp>
        <p:nvSpPr>
          <p:cNvPr id="50" name="Google Shape;50;p6"/>
          <p:cNvSpPr txBox="1"/>
          <p:nvPr/>
        </p:nvSpPr>
        <p:spPr>
          <a:xfrm>
            <a:off x="6382512" y="3337560"/>
            <a:ext cx="5029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Three platform sections</a:t>
            </a:r>
            <a:endParaRPr b="0" i="0" sz="1350" u="none" cap="none" strike="noStrike">
              <a:solidFill>
                <a:schemeClr val="dk1"/>
              </a:solidFill>
              <a:latin typeface="Calibri"/>
              <a:ea typeface="Calibri"/>
              <a:cs typeface="Calibri"/>
              <a:sym typeface="Calibri"/>
            </a:endParaRPr>
          </a:p>
        </p:txBody>
      </p:sp>
      <p:sp>
        <p:nvSpPr>
          <p:cNvPr id="51" name="Google Shape;51;p6"/>
          <p:cNvSpPr txBox="1"/>
          <p:nvPr/>
        </p:nvSpPr>
        <p:spPr>
          <a:xfrm>
            <a:off x="6382512" y="3611880"/>
            <a:ext cx="5029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Build matrix → interaction diagram → companion layers → build seams → documented use cases.</a:t>
            </a:r>
            <a:endParaRPr b="0" i="0" sz="1050" u="none" cap="none" strike="noStrike">
              <a:solidFill>
                <a:schemeClr val="dk1"/>
              </a:solidFill>
              <a:latin typeface="Calibri"/>
              <a:ea typeface="Calibri"/>
              <a:cs typeface="Calibri"/>
              <a:sym typeface="Calibri"/>
            </a:endParaRPr>
          </a:p>
        </p:txBody>
      </p:sp>
      <p:sp>
        <p:nvSpPr>
          <p:cNvPr id="52" name="Google Shape;52;p6"/>
          <p:cNvSpPr/>
          <p:nvPr/>
        </p:nvSpPr>
        <p:spPr>
          <a:xfrm>
            <a:off x="548640" y="4416552"/>
            <a:ext cx="5431536" cy="1207008"/>
          </a:xfrm>
          <a:prstGeom prst="roundRect">
            <a:avLst>
              <a:gd fmla="val 4545"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6"/>
          <p:cNvSpPr txBox="1"/>
          <p:nvPr/>
        </p:nvSpPr>
        <p:spPr>
          <a:xfrm>
            <a:off x="749808" y="4544568"/>
            <a:ext cx="50292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07</a:t>
            </a:r>
            <a:endParaRPr b="0" i="0" sz="850" u="none" cap="none" strike="noStrike">
              <a:solidFill>
                <a:schemeClr val="dk1"/>
              </a:solidFill>
              <a:latin typeface="Calibri"/>
              <a:ea typeface="Calibri"/>
              <a:cs typeface="Calibri"/>
              <a:sym typeface="Calibri"/>
            </a:endParaRPr>
          </a:p>
        </p:txBody>
      </p:sp>
      <p:sp>
        <p:nvSpPr>
          <p:cNvPr id="54" name="Google Shape;54;p6"/>
          <p:cNvSpPr txBox="1"/>
          <p:nvPr/>
        </p:nvSpPr>
        <p:spPr>
          <a:xfrm>
            <a:off x="749808" y="4745736"/>
            <a:ext cx="5029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Shared infrastructure</a:t>
            </a:r>
            <a:endParaRPr b="0" i="0" sz="1350" u="none" cap="none" strike="noStrike">
              <a:solidFill>
                <a:schemeClr val="dk1"/>
              </a:solidFill>
              <a:latin typeface="Calibri"/>
              <a:ea typeface="Calibri"/>
              <a:cs typeface="Calibri"/>
              <a:sym typeface="Calibri"/>
            </a:endParaRPr>
          </a:p>
        </p:txBody>
      </p:sp>
      <p:sp>
        <p:nvSpPr>
          <p:cNvPr id="55" name="Google Shape;55;p6"/>
          <p:cNvSpPr txBox="1"/>
          <p:nvPr/>
        </p:nvSpPr>
        <p:spPr>
          <a:xfrm>
            <a:off x="749808" y="5020056"/>
            <a:ext cx="5029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Five sharing points; the three contracts that make sharing real.</a:t>
            </a:r>
            <a:endParaRPr b="0" i="0" sz="1050" u="none" cap="none" strike="noStrike">
              <a:solidFill>
                <a:schemeClr val="dk1"/>
              </a:solidFill>
              <a:latin typeface="Calibri"/>
              <a:ea typeface="Calibri"/>
              <a:cs typeface="Calibri"/>
              <a:sym typeface="Calibri"/>
            </a:endParaRPr>
          </a:p>
        </p:txBody>
      </p:sp>
      <p:sp>
        <p:nvSpPr>
          <p:cNvPr id="56" name="Google Shape;56;p6"/>
          <p:cNvSpPr/>
          <p:nvPr/>
        </p:nvSpPr>
        <p:spPr>
          <a:xfrm>
            <a:off x="6181344" y="4416552"/>
            <a:ext cx="5431536" cy="1207008"/>
          </a:xfrm>
          <a:prstGeom prst="roundRect">
            <a:avLst>
              <a:gd fmla="val 4545"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txBox="1"/>
          <p:nvPr/>
        </p:nvSpPr>
        <p:spPr>
          <a:xfrm>
            <a:off x="6382512" y="4544568"/>
            <a:ext cx="50292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08–09</a:t>
            </a:r>
            <a:endParaRPr b="0" i="0" sz="850" u="none" cap="none" strike="noStrike">
              <a:solidFill>
                <a:schemeClr val="dk1"/>
              </a:solidFill>
              <a:latin typeface="Calibri"/>
              <a:ea typeface="Calibri"/>
              <a:cs typeface="Calibri"/>
              <a:sym typeface="Calibri"/>
            </a:endParaRPr>
          </a:p>
        </p:txBody>
      </p:sp>
      <p:sp>
        <p:nvSpPr>
          <p:cNvPr id="58" name="Google Shape;58;p6"/>
          <p:cNvSpPr txBox="1"/>
          <p:nvPr/>
        </p:nvSpPr>
        <p:spPr>
          <a:xfrm>
            <a:off x="6382512" y="4745736"/>
            <a:ext cx="5029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Decisions &amp; roadmap</a:t>
            </a:r>
            <a:endParaRPr b="0" i="0" sz="1350" u="none" cap="none" strike="noStrike">
              <a:solidFill>
                <a:schemeClr val="dk1"/>
              </a:solidFill>
              <a:latin typeface="Calibri"/>
              <a:ea typeface="Calibri"/>
              <a:cs typeface="Calibri"/>
              <a:sym typeface="Calibri"/>
            </a:endParaRPr>
          </a:p>
        </p:txBody>
      </p:sp>
      <p:sp>
        <p:nvSpPr>
          <p:cNvPr id="59" name="Google Shape;59;p6"/>
          <p:cNvSpPr txBox="1"/>
          <p:nvPr/>
        </p:nvSpPr>
        <p:spPr>
          <a:xfrm>
            <a:off x="6382512" y="5020056"/>
            <a:ext cx="5029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22 decisions, four phases, consistency ledger and sources.</a:t>
            </a:r>
            <a:endParaRPr b="0" i="0" sz="1050" u="none" cap="none" strike="noStrike">
              <a:solidFill>
                <a:schemeClr val="dk1"/>
              </a:solidFill>
              <a:latin typeface="Calibri"/>
              <a:ea typeface="Calibri"/>
              <a:cs typeface="Calibri"/>
              <a:sym typeface="Calibri"/>
            </a:endParaRPr>
          </a:p>
        </p:txBody>
      </p:sp>
      <p:sp>
        <p:nvSpPr>
          <p:cNvPr id="60" name="Google Shape;60;p6"/>
          <p:cNvSpPr/>
          <p:nvPr/>
        </p:nvSpPr>
        <p:spPr>
          <a:xfrm>
            <a:off x="502920" y="5532120"/>
            <a:ext cx="11155680" cy="731520"/>
          </a:xfrm>
          <a:prstGeom prst="roundRect">
            <a:avLst>
              <a:gd fmla="val 7500"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txBox="1"/>
          <p:nvPr/>
        </p:nvSpPr>
        <p:spPr>
          <a:xfrm>
            <a:off x="713232" y="5623560"/>
            <a:ext cx="10789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The organising idea:  </a:t>
            </a:r>
            <a:r>
              <a:rPr b="0" i="0" lang="en-US" sz="1150" u="none" cap="none" strike="noStrike">
                <a:solidFill>
                  <a:srgbClr val="4D5763"/>
                </a:solidFill>
                <a:latin typeface="Calibri"/>
                <a:ea typeface="Calibri"/>
                <a:cs typeface="Calibri"/>
                <a:sym typeface="Calibri"/>
              </a:rPr>
              <a:t>every platform answers the same question on three different clocks — what is happening now, what the annual baseline is, and how that baseline moves under climate change.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7"/>
          <p:cNvSpPr/>
          <p:nvPr/>
        </p:nvSpPr>
        <p:spPr>
          <a:xfrm>
            <a:off x="0" y="0"/>
            <a:ext cx="12161520" cy="6858000"/>
          </a:xfrm>
          <a:prstGeom prst="rect">
            <a:avLst/>
          </a:prstGeom>
          <a:solidFill>
            <a:srgbClr val="1C21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a:off x="9509760" y="-1280160"/>
            <a:ext cx="4754880" cy="4754880"/>
          </a:xfrm>
          <a:prstGeom prst="ellipse">
            <a:avLst/>
          </a:prstGeom>
          <a:solidFill>
            <a:srgbClr val="1A6389">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7"/>
          <p:cNvSpPr txBox="1"/>
          <p:nvPr/>
        </p:nvSpPr>
        <p:spPr>
          <a:xfrm>
            <a:off x="822960" y="228600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D8C8"/>
              </a:buClr>
              <a:buSzPts val="1500"/>
              <a:buFont typeface="Consolas"/>
              <a:buNone/>
            </a:pPr>
            <a:r>
              <a:rPr b="0" i="0" lang="en-US" sz="1500" u="none" cap="none" strike="noStrike">
                <a:solidFill>
                  <a:srgbClr val="7CD8C8"/>
                </a:solidFill>
                <a:latin typeface="Consolas"/>
                <a:ea typeface="Consolas"/>
                <a:cs typeface="Consolas"/>
                <a:sym typeface="Consolas"/>
              </a:rPr>
              <a:t>01</a:t>
            </a:r>
            <a:endParaRPr b="0" i="0" sz="1500" u="none" cap="none" strike="noStrike">
              <a:solidFill>
                <a:schemeClr val="dk1"/>
              </a:solidFill>
              <a:latin typeface="Calibri"/>
              <a:ea typeface="Calibri"/>
              <a:cs typeface="Calibri"/>
              <a:sym typeface="Calibri"/>
            </a:endParaRPr>
          </a:p>
        </p:txBody>
      </p:sp>
      <p:sp>
        <p:nvSpPr>
          <p:cNvPr id="70" name="Google Shape;70;p7"/>
          <p:cNvSpPr txBox="1"/>
          <p:nvPr/>
        </p:nvSpPr>
        <p:spPr>
          <a:xfrm>
            <a:off x="822960" y="2743200"/>
            <a:ext cx="96012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Roboto Condensed"/>
              <a:buNone/>
            </a:pPr>
            <a:r>
              <a:rPr b="1" i="0" lang="en-US" sz="4000" u="none" cap="none" strike="noStrike">
                <a:solidFill>
                  <a:srgbClr val="FFFFFF"/>
                </a:solidFill>
                <a:latin typeface="Roboto Condensed"/>
                <a:ea typeface="Roboto Condensed"/>
                <a:cs typeface="Roboto Condensed"/>
                <a:sym typeface="Roboto Condensed"/>
              </a:rPr>
              <a:t>How to Build This</a:t>
            </a:r>
            <a:endParaRPr b="0" i="0" sz="4000" u="none" cap="none" strike="noStrike">
              <a:solidFill>
                <a:schemeClr val="dk1"/>
              </a:solidFill>
              <a:latin typeface="Calibri"/>
              <a:ea typeface="Calibri"/>
              <a:cs typeface="Calibri"/>
              <a:sym typeface="Calibri"/>
            </a:endParaRPr>
          </a:p>
        </p:txBody>
      </p:sp>
      <p:sp>
        <p:nvSpPr>
          <p:cNvPr id="71" name="Google Shape;71;p7"/>
          <p:cNvSpPr txBox="1"/>
          <p:nvPr/>
        </p:nvSpPr>
        <p:spPr>
          <a:xfrm>
            <a:off x="822960" y="3840480"/>
            <a:ext cx="87782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D6E6"/>
              </a:buClr>
              <a:buSzPts val="1500"/>
              <a:buFont typeface="Calibri"/>
              <a:buNone/>
            </a:pPr>
            <a:r>
              <a:rPr b="0" i="0" lang="en-US" sz="1500" u="none" cap="none" strike="noStrike">
                <a:solidFill>
                  <a:srgbClr val="C4D6E6"/>
                </a:solidFill>
                <a:latin typeface="Calibri"/>
                <a:ea typeface="Calibri"/>
                <a:cs typeface="Calibri"/>
                <a:sym typeface="Calibri"/>
              </a:rPr>
              <a:t>Global Risk, Food Security and NRM are scoping and funding lenses — not three codebases.</a:t>
            </a:r>
            <a:endParaRPr b="0" i="0" sz="1500" u="none" cap="none" strike="noStrike">
              <a:solidFill>
                <a:schemeClr val="dk1"/>
              </a:solidFill>
              <a:latin typeface="Calibri"/>
              <a:ea typeface="Calibri"/>
              <a:cs typeface="Calibri"/>
              <a:sym typeface="Calibri"/>
            </a:endParaRPr>
          </a:p>
        </p:txBody>
      </p:sp>
      <p:sp>
        <p:nvSpPr>
          <p:cNvPr id="72" name="Google Shape;72;p7"/>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8CA8"/>
              </a:buClr>
              <a:buSzPts val="800"/>
              <a:buFont typeface="Consolas"/>
              <a:buNone/>
            </a:pPr>
            <a:r>
              <a:rPr b="0" i="0" lang="en-US" sz="800" u="none" cap="none" strike="noStrike">
                <a:solidFill>
                  <a:srgbClr val="6E8CA8"/>
                </a:solidFill>
                <a:latin typeface="Consolas"/>
                <a:ea typeface="Consolas"/>
                <a:cs typeface="Consolas"/>
                <a:sym typeface="Consolas"/>
              </a:rPr>
              <a:t>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8"/>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Four principles the whole plan rests on</a:t>
            </a:r>
            <a:endParaRPr b="0" i="0" sz="3000" u="none" cap="none" strike="noStrike">
              <a:solidFill>
                <a:schemeClr val="dk1"/>
              </a:solidFill>
              <a:latin typeface="Calibri"/>
              <a:ea typeface="Calibri"/>
              <a:cs typeface="Calibri"/>
              <a:sym typeface="Calibri"/>
            </a:endParaRPr>
          </a:p>
        </p:txBody>
      </p:sp>
      <p:sp>
        <p:nvSpPr>
          <p:cNvPr id="79" name="Google Shape;79;p8"/>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80" name="Google Shape;80;p8"/>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4</a:t>
            </a:r>
            <a:endParaRPr b="0" i="0" sz="800" u="none" cap="none" strike="noStrike">
              <a:solidFill>
                <a:schemeClr val="dk1"/>
              </a:solidFill>
              <a:latin typeface="Calibri"/>
              <a:ea typeface="Calibri"/>
              <a:cs typeface="Calibri"/>
              <a:sym typeface="Calibri"/>
            </a:endParaRPr>
          </a:p>
        </p:txBody>
      </p:sp>
      <p:sp>
        <p:nvSpPr>
          <p:cNvPr id="81" name="Google Shape;81;p8"/>
          <p:cNvSpPr/>
          <p:nvPr/>
        </p:nvSpPr>
        <p:spPr>
          <a:xfrm>
            <a:off x="594360" y="1773936"/>
            <a:ext cx="310896" cy="310896"/>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txBox="1"/>
          <p:nvPr/>
        </p:nvSpPr>
        <p:spPr>
          <a:xfrm>
            <a:off x="594360" y="177393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100"/>
              <a:buFont typeface="Consolas"/>
              <a:buNone/>
            </a:pPr>
            <a:r>
              <a:rPr b="1" i="0" lang="en-US" sz="1100" u="none" cap="none" strike="noStrike">
                <a:solidFill>
                  <a:srgbClr val="1A6389"/>
                </a:solidFill>
                <a:latin typeface="Consolas"/>
                <a:ea typeface="Consolas"/>
                <a:cs typeface="Consolas"/>
                <a:sym typeface="Consolas"/>
              </a:rPr>
              <a:t>1</a:t>
            </a:r>
            <a:endParaRPr b="0" i="0" sz="1100" u="none" cap="none" strike="noStrike">
              <a:solidFill>
                <a:schemeClr val="dk1"/>
              </a:solidFill>
              <a:latin typeface="Calibri"/>
              <a:ea typeface="Calibri"/>
              <a:cs typeface="Calibri"/>
              <a:sym typeface="Calibri"/>
            </a:endParaRPr>
          </a:p>
        </p:txBody>
      </p:sp>
      <p:sp>
        <p:nvSpPr>
          <p:cNvPr id="83" name="Google Shape;83;p8"/>
          <p:cNvSpPr txBox="1"/>
          <p:nvPr/>
        </p:nvSpPr>
        <p:spPr>
          <a:xfrm>
            <a:off x="1069848" y="1737360"/>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One system, three domains</a:t>
            </a:r>
            <a:endParaRPr b="0" i="0" sz="1400" u="none" cap="none" strike="noStrike">
              <a:solidFill>
                <a:schemeClr val="dk1"/>
              </a:solidFill>
              <a:latin typeface="Calibri"/>
              <a:ea typeface="Calibri"/>
              <a:cs typeface="Calibri"/>
              <a:sym typeface="Calibri"/>
            </a:endParaRPr>
          </a:p>
        </p:txBody>
      </p:sp>
      <p:sp>
        <p:nvSpPr>
          <p:cNvPr id="84" name="Google Shape;84;p8"/>
          <p:cNvSpPr txBox="1"/>
          <p:nvPr/>
        </p:nvSpPr>
        <p:spPr>
          <a:xfrm>
            <a:off x="1069848" y="1993392"/>
            <a:ext cx="1033272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A government analyst, a hub scientist and a partner engineer all pull from the same shared layer to build whatever their problem calls for.</a:t>
            </a:r>
            <a:endParaRPr b="0" i="0" sz="1150" u="none" cap="none" strike="noStrike">
              <a:solidFill>
                <a:schemeClr val="dk1"/>
              </a:solidFill>
              <a:latin typeface="Calibri"/>
              <a:ea typeface="Calibri"/>
              <a:cs typeface="Calibri"/>
              <a:sym typeface="Calibri"/>
            </a:endParaRPr>
          </a:p>
        </p:txBody>
      </p:sp>
      <p:sp>
        <p:nvSpPr>
          <p:cNvPr id="85" name="Google Shape;85;p8"/>
          <p:cNvSpPr/>
          <p:nvPr/>
        </p:nvSpPr>
        <p:spPr>
          <a:xfrm>
            <a:off x="594360" y="2852928"/>
            <a:ext cx="310896" cy="310896"/>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txBox="1"/>
          <p:nvPr/>
        </p:nvSpPr>
        <p:spPr>
          <a:xfrm>
            <a:off x="594360" y="2852928"/>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100"/>
              <a:buFont typeface="Consolas"/>
              <a:buNone/>
            </a:pPr>
            <a:r>
              <a:rPr b="1" i="0" lang="en-US" sz="1100" u="none" cap="none" strike="noStrike">
                <a:solidFill>
                  <a:srgbClr val="1A6389"/>
                </a:solidFill>
                <a:latin typeface="Consolas"/>
                <a:ea typeface="Consolas"/>
                <a:cs typeface="Consolas"/>
                <a:sym typeface="Consolas"/>
              </a:rPr>
              <a:t>2</a:t>
            </a:r>
            <a:endParaRPr b="0" i="0" sz="1100" u="none" cap="none" strike="noStrike">
              <a:solidFill>
                <a:schemeClr val="dk1"/>
              </a:solidFill>
              <a:latin typeface="Calibri"/>
              <a:ea typeface="Calibri"/>
              <a:cs typeface="Calibri"/>
              <a:sym typeface="Calibri"/>
            </a:endParaRPr>
          </a:p>
        </p:txBody>
      </p:sp>
      <p:sp>
        <p:nvSpPr>
          <p:cNvPr id="87" name="Google Shape;87;p8"/>
          <p:cNvSpPr txBox="1"/>
          <p:nvPr/>
        </p:nvSpPr>
        <p:spPr>
          <a:xfrm>
            <a:off x="1069848" y="2816352"/>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Wrap once, reuse everywhere</a:t>
            </a:r>
            <a:endParaRPr b="0" i="0" sz="1400" u="none" cap="none" strike="noStrike">
              <a:solidFill>
                <a:schemeClr val="dk1"/>
              </a:solidFill>
              <a:latin typeface="Calibri"/>
              <a:ea typeface="Calibri"/>
              <a:cs typeface="Calibri"/>
              <a:sym typeface="Calibri"/>
            </a:endParaRPr>
          </a:p>
        </p:txBody>
      </p:sp>
      <p:sp>
        <p:nvSpPr>
          <p:cNvPr id="88" name="Google Shape;88;p8"/>
          <p:cNvSpPr txBox="1"/>
          <p:nvPr/>
        </p:nvSpPr>
        <p:spPr>
          <a:xfrm>
            <a:off x="1069848" y="3072384"/>
            <a:ext cx="1033272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Every capability — internal or partner-owned — becomes an MCP server once; any authorized agent across all three domains can then call it via Agent2Agent.</a:t>
            </a:r>
            <a:endParaRPr b="0" i="0" sz="1150" u="none" cap="none" strike="noStrike">
              <a:solidFill>
                <a:schemeClr val="dk1"/>
              </a:solidFill>
              <a:latin typeface="Calibri"/>
              <a:ea typeface="Calibri"/>
              <a:cs typeface="Calibri"/>
              <a:sym typeface="Calibri"/>
            </a:endParaRPr>
          </a:p>
        </p:txBody>
      </p:sp>
      <p:sp>
        <p:nvSpPr>
          <p:cNvPr id="89" name="Google Shape;89;p8"/>
          <p:cNvSpPr/>
          <p:nvPr/>
        </p:nvSpPr>
        <p:spPr>
          <a:xfrm>
            <a:off x="594360" y="3931920"/>
            <a:ext cx="310896" cy="310896"/>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txBox="1"/>
          <p:nvPr/>
        </p:nvSpPr>
        <p:spPr>
          <a:xfrm>
            <a:off x="594360" y="3931920"/>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100"/>
              <a:buFont typeface="Consolas"/>
              <a:buNone/>
            </a:pPr>
            <a:r>
              <a:rPr b="1" i="0" lang="en-US" sz="1100" u="none" cap="none" strike="noStrike">
                <a:solidFill>
                  <a:srgbClr val="1A6389"/>
                </a:solidFill>
                <a:latin typeface="Consolas"/>
                <a:ea typeface="Consolas"/>
                <a:cs typeface="Consolas"/>
                <a:sym typeface="Consolas"/>
              </a:rPr>
              <a:t>3</a:t>
            </a:r>
            <a:endParaRPr b="0" i="0" sz="1100" u="none" cap="none" strike="noStrike">
              <a:solidFill>
                <a:schemeClr val="dk1"/>
              </a:solidFill>
              <a:latin typeface="Calibri"/>
              <a:ea typeface="Calibri"/>
              <a:cs typeface="Calibri"/>
              <a:sym typeface="Calibri"/>
            </a:endParaRPr>
          </a:p>
        </p:txBody>
      </p:sp>
      <p:sp>
        <p:nvSpPr>
          <p:cNvPr id="91" name="Google Shape;91;p8"/>
          <p:cNvSpPr txBox="1"/>
          <p:nvPr/>
        </p:nvSpPr>
        <p:spPr>
          <a:xfrm>
            <a:off x="1069848" y="3895344"/>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Vendor-agnostic by policy</a:t>
            </a:r>
            <a:endParaRPr b="0" i="0" sz="1400" u="none" cap="none" strike="noStrike">
              <a:solidFill>
                <a:schemeClr val="dk1"/>
              </a:solidFill>
              <a:latin typeface="Calibri"/>
              <a:ea typeface="Calibri"/>
              <a:cs typeface="Calibri"/>
              <a:sym typeface="Calibri"/>
            </a:endParaRPr>
          </a:p>
        </p:txBody>
      </p:sp>
      <p:sp>
        <p:nvSpPr>
          <p:cNvPr id="92" name="Google Shape;92;p8"/>
          <p:cNvSpPr txBox="1"/>
          <p:nvPr/>
        </p:nvSpPr>
        <p:spPr>
          <a:xfrm>
            <a:off x="1069848" y="4151376"/>
            <a:ext cx="1033272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Agents are defined by their MCP-wrapped tools and encoded domain expertise — callable by Claude, GPT-class models, Gemini, or an open-weight model on SOCRATES. Decision #10, settled.</a:t>
            </a:r>
            <a:endParaRPr b="0" i="0" sz="1150" u="none" cap="none" strike="noStrike">
              <a:solidFill>
                <a:schemeClr val="dk1"/>
              </a:solidFill>
              <a:latin typeface="Calibri"/>
              <a:ea typeface="Calibri"/>
              <a:cs typeface="Calibri"/>
              <a:sym typeface="Calibri"/>
            </a:endParaRPr>
          </a:p>
        </p:txBody>
      </p:sp>
      <p:sp>
        <p:nvSpPr>
          <p:cNvPr id="93" name="Google Shape;93;p8"/>
          <p:cNvSpPr/>
          <p:nvPr/>
        </p:nvSpPr>
        <p:spPr>
          <a:xfrm>
            <a:off x="594360" y="5010912"/>
            <a:ext cx="310896" cy="310896"/>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txBox="1"/>
          <p:nvPr/>
        </p:nvSpPr>
        <p:spPr>
          <a:xfrm>
            <a:off x="594360" y="501091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100"/>
              <a:buFont typeface="Consolas"/>
              <a:buNone/>
            </a:pPr>
            <a:r>
              <a:rPr b="1" i="0" lang="en-US" sz="1100" u="none" cap="none" strike="noStrike">
                <a:solidFill>
                  <a:srgbClr val="1A6389"/>
                </a:solidFill>
                <a:latin typeface="Consolas"/>
                <a:ea typeface="Consolas"/>
                <a:cs typeface="Consolas"/>
                <a:sym typeface="Consolas"/>
              </a:rPr>
              <a:t>4</a:t>
            </a:r>
            <a:endParaRPr b="0" i="0" sz="1100" u="none" cap="none" strike="noStrike">
              <a:solidFill>
                <a:schemeClr val="dk1"/>
              </a:solidFill>
              <a:latin typeface="Calibri"/>
              <a:ea typeface="Calibri"/>
              <a:cs typeface="Calibri"/>
              <a:sym typeface="Calibri"/>
            </a:endParaRPr>
          </a:p>
        </p:txBody>
      </p:sp>
      <p:sp>
        <p:nvSpPr>
          <p:cNvPr id="95" name="Google Shape;95;p8"/>
          <p:cNvSpPr txBox="1"/>
          <p:nvPr/>
        </p:nvSpPr>
        <p:spPr>
          <a:xfrm>
            <a:off x="1069848" y="4974336"/>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Build toward SERVIR-AI</a:t>
            </a:r>
            <a:endParaRPr b="0" i="0" sz="1400" u="none" cap="none" strike="noStrike">
              <a:solidFill>
                <a:schemeClr val="dk1"/>
              </a:solidFill>
              <a:latin typeface="Calibri"/>
              <a:ea typeface="Calibri"/>
              <a:cs typeface="Calibri"/>
              <a:sym typeface="Calibri"/>
            </a:endParaRPr>
          </a:p>
        </p:txBody>
      </p:sp>
      <p:sp>
        <p:nvSpPr>
          <p:cNvPr id="96" name="Google Shape;96;p8"/>
          <p:cNvSpPr txBox="1"/>
          <p:nvPr/>
        </p:nvSpPr>
        <p:spPr>
          <a:xfrm>
            <a:off x="1069848" y="5230368"/>
            <a:ext cx="10332720" cy="7863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github.com/SERVIR-AI is the confirmed consolidation org — the master gateway everything migrates into, not one option among several. Decision #14.</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9"/>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One shared stack, three domains on top</a:t>
            </a:r>
            <a:endParaRPr b="0" i="0" sz="3000" u="none" cap="none" strike="noStrike">
              <a:solidFill>
                <a:schemeClr val="dk1"/>
              </a:solidFill>
              <a:latin typeface="Calibri"/>
              <a:ea typeface="Calibri"/>
              <a:cs typeface="Calibri"/>
              <a:sym typeface="Calibri"/>
            </a:endParaRPr>
          </a:p>
        </p:txBody>
      </p:sp>
      <p:sp>
        <p:nvSpPr>
          <p:cNvPr id="103" name="Google Shape;103;p9"/>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Fig. 1 — section numbers point to where each layer is specified.</a:t>
            </a:r>
            <a:endParaRPr b="0" i="0" sz="1350" u="none" cap="none" strike="noStrike">
              <a:solidFill>
                <a:schemeClr val="dk1"/>
              </a:solidFill>
              <a:latin typeface="Calibri"/>
              <a:ea typeface="Calibri"/>
              <a:cs typeface="Calibri"/>
              <a:sym typeface="Calibri"/>
            </a:endParaRPr>
          </a:p>
        </p:txBody>
      </p:sp>
      <p:sp>
        <p:nvSpPr>
          <p:cNvPr id="104" name="Google Shape;104;p9"/>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105" name="Google Shape;105;p9"/>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5</a:t>
            </a:r>
            <a:endParaRPr b="0" i="0" sz="800" u="none" cap="none" strike="noStrike">
              <a:solidFill>
                <a:schemeClr val="dk1"/>
              </a:solidFill>
              <a:latin typeface="Calibri"/>
              <a:ea typeface="Calibri"/>
              <a:cs typeface="Calibri"/>
              <a:sym typeface="Calibri"/>
            </a:endParaRPr>
          </a:p>
        </p:txBody>
      </p:sp>
      <p:sp>
        <p:nvSpPr>
          <p:cNvPr id="106" name="Google Shape;106;p9"/>
          <p:cNvSpPr/>
          <p:nvPr/>
        </p:nvSpPr>
        <p:spPr>
          <a:xfrm>
            <a:off x="1371600" y="1600200"/>
            <a:ext cx="9418320" cy="713232"/>
          </a:xfrm>
          <a:prstGeom prst="roundRect">
            <a:avLst>
              <a:gd fmla="val 7692" name="adj"/>
            </a:avLst>
          </a:prstGeom>
          <a:solidFill>
            <a:srgbClr val="1C212A"/>
          </a:solidFill>
          <a:ln cap="flat" cmpd="sng" w="12700">
            <a:solidFill>
              <a:srgbClr val="1C21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9"/>
          <p:cNvSpPr txBox="1"/>
          <p:nvPr/>
        </p:nvSpPr>
        <p:spPr>
          <a:xfrm>
            <a:off x="1600200" y="1709928"/>
            <a:ext cx="8961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Global Risk  ·  Food Security  ·  NRM / LCEM</a:t>
            </a:r>
            <a:endParaRPr b="0" i="0" sz="1400" u="none" cap="none" strike="noStrike">
              <a:solidFill>
                <a:schemeClr val="dk1"/>
              </a:solidFill>
              <a:latin typeface="Calibri"/>
              <a:ea typeface="Calibri"/>
              <a:cs typeface="Calibri"/>
              <a:sym typeface="Calibri"/>
            </a:endParaRPr>
          </a:p>
        </p:txBody>
      </p:sp>
      <p:sp>
        <p:nvSpPr>
          <p:cNvPr id="108" name="Google Shape;108;p9"/>
          <p:cNvSpPr txBox="1"/>
          <p:nvPr/>
        </p:nvSpPr>
        <p:spPr>
          <a:xfrm>
            <a:off x="1600200" y="1984248"/>
            <a:ext cx="8961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CDE2"/>
              </a:buClr>
              <a:buSzPts val="1000"/>
              <a:buFont typeface="Calibri"/>
              <a:buNone/>
            </a:pPr>
            <a:r>
              <a:rPr b="0" i="0" lang="en-US" sz="1000" u="none" cap="none" strike="noStrike">
                <a:solidFill>
                  <a:srgbClr val="B7CDE2"/>
                </a:solidFill>
                <a:latin typeface="Calibri"/>
                <a:ea typeface="Calibri"/>
                <a:cs typeface="Calibri"/>
                <a:sym typeface="Calibri"/>
              </a:rPr>
              <a:t>§04 · §05 · §06 — three PDDs, three sponsors, one system</a:t>
            </a:r>
            <a:endParaRPr b="0" i="0" sz="1000" u="none" cap="none" strike="noStrike">
              <a:solidFill>
                <a:schemeClr val="dk1"/>
              </a:solidFill>
              <a:latin typeface="Calibri"/>
              <a:ea typeface="Calibri"/>
              <a:cs typeface="Calibri"/>
              <a:sym typeface="Calibri"/>
            </a:endParaRPr>
          </a:p>
        </p:txBody>
      </p:sp>
      <p:sp>
        <p:nvSpPr>
          <p:cNvPr id="109" name="Google Shape;109;p9"/>
          <p:cNvSpPr/>
          <p:nvPr/>
        </p:nvSpPr>
        <p:spPr>
          <a:xfrm>
            <a:off x="1371600" y="2450592"/>
            <a:ext cx="9418320" cy="713232"/>
          </a:xfrm>
          <a:prstGeom prst="roundRect">
            <a:avLst>
              <a:gd fmla="val 7692"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
          <p:cNvSpPr txBox="1"/>
          <p:nvPr/>
        </p:nvSpPr>
        <p:spPr>
          <a:xfrm>
            <a:off x="1600200" y="2560320"/>
            <a:ext cx="8961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Platform Gateway — github.com/SERVIR-AI</a:t>
            </a:r>
            <a:endParaRPr b="0" i="0" sz="1400" u="none" cap="none" strike="noStrike">
              <a:solidFill>
                <a:schemeClr val="dk1"/>
              </a:solidFill>
              <a:latin typeface="Calibri"/>
              <a:ea typeface="Calibri"/>
              <a:cs typeface="Calibri"/>
              <a:sym typeface="Calibri"/>
            </a:endParaRPr>
          </a:p>
        </p:txBody>
      </p:sp>
      <p:sp>
        <p:nvSpPr>
          <p:cNvPr id="111" name="Google Shape;111;p9"/>
          <p:cNvSpPr txBox="1"/>
          <p:nvPr/>
        </p:nvSpPr>
        <p:spPr>
          <a:xfrm>
            <a:off x="1600200" y="2834640"/>
            <a:ext cx="8961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00"/>
              <a:buFont typeface="Calibri"/>
              <a:buNone/>
            </a:pPr>
            <a:r>
              <a:rPr b="0" i="0" lang="en-US" sz="1000" u="none" cap="none" strike="noStrike">
                <a:solidFill>
                  <a:srgbClr val="4D5763"/>
                </a:solidFill>
                <a:latin typeface="Calibri"/>
                <a:ea typeface="Calibri"/>
                <a:cs typeface="Calibri"/>
                <a:sym typeface="Calibri"/>
              </a:rPr>
              <a:t>Identity · Policy · Routing · Audit · Agent2Agent registry (§02)</a:t>
            </a:r>
            <a:endParaRPr b="0" i="0" sz="1000" u="none" cap="none" strike="noStrike">
              <a:solidFill>
                <a:schemeClr val="dk1"/>
              </a:solidFill>
              <a:latin typeface="Calibri"/>
              <a:ea typeface="Calibri"/>
              <a:cs typeface="Calibri"/>
              <a:sym typeface="Calibri"/>
            </a:endParaRPr>
          </a:p>
        </p:txBody>
      </p:sp>
      <p:sp>
        <p:nvSpPr>
          <p:cNvPr id="112" name="Google Shape;112;p9"/>
          <p:cNvSpPr/>
          <p:nvPr/>
        </p:nvSpPr>
        <p:spPr>
          <a:xfrm>
            <a:off x="1371600" y="3300984"/>
            <a:ext cx="9418320" cy="713232"/>
          </a:xfrm>
          <a:prstGeom prst="roundRect">
            <a:avLst>
              <a:gd fmla="val 7692"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
          <p:cNvSpPr txBox="1"/>
          <p:nvPr/>
        </p:nvSpPr>
        <p:spPr>
          <a:xfrm>
            <a:off x="1600200" y="3410712"/>
            <a:ext cx="8961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MCP-wrapped capabilities</a:t>
            </a:r>
            <a:endParaRPr b="0" i="0" sz="1400" u="none" cap="none" strike="noStrike">
              <a:solidFill>
                <a:schemeClr val="dk1"/>
              </a:solidFill>
              <a:latin typeface="Calibri"/>
              <a:ea typeface="Calibri"/>
              <a:cs typeface="Calibri"/>
              <a:sym typeface="Calibri"/>
            </a:endParaRPr>
          </a:p>
        </p:txBody>
      </p:sp>
      <p:sp>
        <p:nvSpPr>
          <p:cNvPr id="114" name="Google Shape;114;p9"/>
          <p:cNvSpPr txBox="1"/>
          <p:nvPr/>
        </p:nvSpPr>
        <p:spPr>
          <a:xfrm>
            <a:off x="1600200" y="3685032"/>
            <a:ext cx="8961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00"/>
              <a:buFont typeface="Calibri"/>
              <a:buNone/>
            </a:pPr>
            <a:r>
              <a:rPr b="0" i="0" lang="en-US" sz="1000" u="none" cap="none" strike="noStrike">
                <a:solidFill>
                  <a:srgbClr val="4D5763"/>
                </a:solidFill>
                <a:latin typeface="Calibri"/>
                <a:ea typeface="Calibri"/>
                <a:cs typeface="Calibri"/>
                <a:sym typeface="Calibri"/>
              </a:rPr>
              <a:t>Every hazard model, classifier and alert feed exposed once — resources for context, tools for action</a:t>
            </a:r>
            <a:endParaRPr b="0" i="0" sz="1000" u="none" cap="none" strike="noStrike">
              <a:solidFill>
                <a:schemeClr val="dk1"/>
              </a:solidFill>
              <a:latin typeface="Calibri"/>
              <a:ea typeface="Calibri"/>
              <a:cs typeface="Calibri"/>
              <a:sym typeface="Calibri"/>
            </a:endParaRPr>
          </a:p>
        </p:txBody>
      </p:sp>
      <p:sp>
        <p:nvSpPr>
          <p:cNvPr id="115" name="Google Shape;115;p9"/>
          <p:cNvSpPr/>
          <p:nvPr/>
        </p:nvSpPr>
        <p:spPr>
          <a:xfrm>
            <a:off x="1371600" y="4151376"/>
            <a:ext cx="9418320" cy="822960"/>
          </a:xfrm>
          <a:prstGeom prst="roundRect">
            <a:avLst>
              <a:gd fmla="val 6667"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p:cNvSpPr txBox="1"/>
          <p:nvPr/>
        </p:nvSpPr>
        <p:spPr>
          <a:xfrm>
            <a:off x="1600200" y="4261104"/>
            <a:ext cx="8961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Shared data &amp; capability layer (§07)</a:t>
            </a:r>
            <a:endParaRPr b="0" i="0" sz="1400" u="none" cap="none" strike="noStrike">
              <a:solidFill>
                <a:schemeClr val="dk1"/>
              </a:solidFill>
              <a:latin typeface="Calibri"/>
              <a:ea typeface="Calibri"/>
              <a:cs typeface="Calibri"/>
              <a:sym typeface="Calibri"/>
            </a:endParaRPr>
          </a:p>
        </p:txBody>
      </p:sp>
      <p:sp>
        <p:nvSpPr>
          <p:cNvPr id="117" name="Google Shape;117;p9"/>
          <p:cNvSpPr txBox="1"/>
          <p:nvPr/>
        </p:nvSpPr>
        <p:spPr>
          <a:xfrm>
            <a:off x="1600200" y="4535424"/>
            <a:ext cx="8961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00"/>
              <a:buFont typeface="Calibri"/>
              <a:buNone/>
            </a:pPr>
            <a:r>
              <a:rPr b="0" i="0" lang="en-US" sz="1000" u="none" cap="none" strike="noStrike">
                <a:solidFill>
                  <a:srgbClr val="4D5763"/>
                </a:solidFill>
                <a:latin typeface="Calibri"/>
                <a:ea typeface="Calibri"/>
                <a:cs typeface="Calibri"/>
                <a:sym typeface="Calibri"/>
              </a:rPr>
              <a:t>Deforestation alerts · climate &amp; hazard data · land cover · GEOGloWS · NASA Harvest · hub tools</a:t>
            </a:r>
            <a:endParaRPr b="0" i="0" sz="1000" u="none" cap="none" strike="noStrike">
              <a:solidFill>
                <a:schemeClr val="dk1"/>
              </a:solidFill>
              <a:latin typeface="Calibri"/>
              <a:ea typeface="Calibri"/>
              <a:cs typeface="Calibri"/>
              <a:sym typeface="Calibri"/>
            </a:endParaRPr>
          </a:p>
        </p:txBody>
      </p:sp>
      <p:cxnSp>
        <p:nvCxnSpPr>
          <p:cNvPr id="118" name="Google Shape;118;p9"/>
          <p:cNvCxnSpPr/>
          <p:nvPr/>
        </p:nvCxnSpPr>
        <p:spPr>
          <a:xfrm>
            <a:off x="6080760" y="2313432"/>
            <a:ext cx="0" cy="137160"/>
          </a:xfrm>
          <a:prstGeom prst="straightConnector1">
            <a:avLst/>
          </a:prstGeom>
          <a:noFill/>
          <a:ln cap="flat" cmpd="sng" w="15875">
            <a:solidFill>
              <a:srgbClr val="6D6E71"/>
            </a:solidFill>
            <a:prstDash val="solid"/>
            <a:round/>
            <a:headEnd len="sm" w="sm" type="none"/>
            <a:tailEnd len="med" w="med" type="triangle"/>
          </a:ln>
        </p:spPr>
      </p:cxnSp>
      <p:cxnSp>
        <p:nvCxnSpPr>
          <p:cNvPr id="119" name="Google Shape;119;p9"/>
          <p:cNvCxnSpPr/>
          <p:nvPr/>
        </p:nvCxnSpPr>
        <p:spPr>
          <a:xfrm>
            <a:off x="6080760" y="3163824"/>
            <a:ext cx="0" cy="137160"/>
          </a:xfrm>
          <a:prstGeom prst="straightConnector1">
            <a:avLst/>
          </a:prstGeom>
          <a:noFill/>
          <a:ln cap="flat" cmpd="sng" w="15875">
            <a:solidFill>
              <a:srgbClr val="6D6E71"/>
            </a:solidFill>
            <a:prstDash val="solid"/>
            <a:round/>
            <a:headEnd len="sm" w="sm" type="none"/>
            <a:tailEnd len="med" w="med" type="triangle"/>
          </a:ln>
        </p:spPr>
      </p:cxnSp>
      <p:cxnSp>
        <p:nvCxnSpPr>
          <p:cNvPr id="120" name="Google Shape;120;p9"/>
          <p:cNvCxnSpPr/>
          <p:nvPr/>
        </p:nvCxnSpPr>
        <p:spPr>
          <a:xfrm>
            <a:off x="6080760" y="4014216"/>
            <a:ext cx="0" cy="137160"/>
          </a:xfrm>
          <a:prstGeom prst="straightConnector1">
            <a:avLst/>
          </a:prstGeom>
          <a:noFill/>
          <a:ln cap="flat" cmpd="sng" w="15875">
            <a:solidFill>
              <a:srgbClr val="6D6E71"/>
            </a:solidFill>
            <a:prstDash val="solid"/>
            <a:round/>
            <a:headEnd len="sm" w="sm" type="none"/>
            <a:tailEnd len="med" w="med" type="triangle"/>
          </a:ln>
        </p:spPr>
      </p:cxnSp>
      <p:sp>
        <p:nvSpPr>
          <p:cNvPr id="121" name="Google Shape;121;p9"/>
          <p:cNvSpPr txBox="1"/>
          <p:nvPr/>
        </p:nvSpPr>
        <p:spPr>
          <a:xfrm>
            <a:off x="1371600" y="5120640"/>
            <a:ext cx="9418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900"/>
              <a:buFont typeface="Consolas"/>
              <a:buNone/>
            </a:pPr>
            <a:r>
              <a:rPr b="0" i="0" lang="en-US" sz="900" u="none" cap="none" strike="noStrike">
                <a:solidFill>
                  <a:srgbClr val="1A6389"/>
                </a:solidFill>
                <a:latin typeface="Consolas"/>
                <a:ea typeface="Consolas"/>
                <a:cs typeface="Consolas"/>
                <a:sym typeface="Consolas"/>
              </a:rPr>
              <a:t>GEOAI STRATEGY — BOTTOM-UP · OPEN · HUMAN-CENTERED · FAIR · TRANSFERABLE (§03)</a:t>
            </a:r>
            <a:endParaRPr b="0" i="0" sz="900" u="none" cap="none" strike="noStrike">
              <a:solidFill>
                <a:schemeClr val="dk1"/>
              </a:solidFill>
              <a:latin typeface="Calibri"/>
              <a:ea typeface="Calibri"/>
              <a:cs typeface="Calibri"/>
              <a:sym typeface="Calibri"/>
            </a:endParaRPr>
          </a:p>
        </p:txBody>
      </p:sp>
      <p:sp>
        <p:nvSpPr>
          <p:cNvPr id="122" name="Google Shape;122;p9"/>
          <p:cNvSpPr/>
          <p:nvPr/>
        </p:nvSpPr>
        <p:spPr>
          <a:xfrm>
            <a:off x="502920" y="5532120"/>
            <a:ext cx="11155680" cy="685800"/>
          </a:xfrm>
          <a:prstGeom prst="roundRect">
            <a:avLst>
              <a:gd fmla="val 8000"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9"/>
          <p:cNvSpPr txBox="1"/>
          <p:nvPr/>
        </p:nvSpPr>
        <p:spPr>
          <a:xfrm>
            <a:off x="713232" y="5623560"/>
            <a:ext cx="10789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Read it this way:  </a:t>
            </a:r>
            <a:r>
              <a:rPr b="0" i="0" lang="en-US" sz="1150" u="none" cap="none" strike="noStrike">
                <a:solidFill>
                  <a:srgbClr val="4D5763"/>
                </a:solidFill>
                <a:latin typeface="Calibri"/>
                <a:ea typeface="Calibri"/>
                <a:cs typeface="Calibri"/>
                <a:sym typeface="Calibri"/>
              </a:rPr>
              <a:t>the three platforms are consumers of one stack. Nothing below the top band is built twice.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0"/>
          <p:cNvSpPr/>
          <p:nvPr/>
        </p:nvSpPr>
        <p:spPr>
          <a:xfrm>
            <a:off x="0" y="0"/>
            <a:ext cx="12161520" cy="6858000"/>
          </a:xfrm>
          <a:prstGeom prst="rect">
            <a:avLst/>
          </a:prstGeom>
          <a:solidFill>
            <a:srgbClr val="1C21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0"/>
          <p:cNvSpPr/>
          <p:nvPr/>
        </p:nvSpPr>
        <p:spPr>
          <a:xfrm>
            <a:off x="9509760" y="-1280160"/>
            <a:ext cx="4754880" cy="4754880"/>
          </a:xfrm>
          <a:prstGeom prst="ellipse">
            <a:avLst/>
          </a:prstGeom>
          <a:solidFill>
            <a:srgbClr val="1A6389">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0"/>
          <p:cNvSpPr txBox="1"/>
          <p:nvPr/>
        </p:nvSpPr>
        <p:spPr>
          <a:xfrm>
            <a:off x="822960" y="228600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D8C8"/>
              </a:buClr>
              <a:buSzPts val="1500"/>
              <a:buFont typeface="Consolas"/>
              <a:buNone/>
            </a:pPr>
            <a:r>
              <a:rPr b="0" i="0" lang="en-US" sz="1500" u="none" cap="none" strike="noStrike">
                <a:solidFill>
                  <a:srgbClr val="7CD8C8"/>
                </a:solidFill>
                <a:latin typeface="Consolas"/>
                <a:ea typeface="Consolas"/>
                <a:cs typeface="Consolas"/>
                <a:sym typeface="Consolas"/>
              </a:rPr>
              <a:t>02</a:t>
            </a:r>
            <a:endParaRPr b="0" i="0" sz="1500" u="none" cap="none" strike="noStrike">
              <a:solidFill>
                <a:schemeClr val="dk1"/>
              </a:solidFill>
              <a:latin typeface="Calibri"/>
              <a:ea typeface="Calibri"/>
              <a:cs typeface="Calibri"/>
              <a:sym typeface="Calibri"/>
            </a:endParaRPr>
          </a:p>
        </p:txBody>
      </p:sp>
      <p:sp>
        <p:nvSpPr>
          <p:cNvPr id="132" name="Google Shape;132;p10"/>
          <p:cNvSpPr txBox="1"/>
          <p:nvPr/>
        </p:nvSpPr>
        <p:spPr>
          <a:xfrm>
            <a:off x="822960" y="2743200"/>
            <a:ext cx="96012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Roboto Condensed"/>
              <a:buNone/>
            </a:pPr>
            <a:r>
              <a:rPr b="1" i="0" lang="en-US" sz="4000" u="none" cap="none" strike="noStrike">
                <a:solidFill>
                  <a:srgbClr val="FFFFFF"/>
                </a:solidFill>
                <a:latin typeface="Roboto Condensed"/>
                <a:ea typeface="Roboto Condensed"/>
                <a:cs typeface="Roboto Condensed"/>
                <a:sym typeface="Roboto Condensed"/>
              </a:rPr>
              <a:t>Gateway &amp; Integration Architecture</a:t>
            </a:r>
            <a:endParaRPr b="0" i="0" sz="4000" u="none" cap="none" strike="noStrike">
              <a:solidFill>
                <a:schemeClr val="dk1"/>
              </a:solidFill>
              <a:latin typeface="Calibri"/>
              <a:ea typeface="Calibri"/>
              <a:cs typeface="Calibri"/>
              <a:sym typeface="Calibri"/>
            </a:endParaRPr>
          </a:p>
        </p:txBody>
      </p:sp>
      <p:sp>
        <p:nvSpPr>
          <p:cNvPr id="133" name="Google Shape;133;p10"/>
          <p:cNvSpPr txBox="1"/>
          <p:nvPr/>
        </p:nvSpPr>
        <p:spPr>
          <a:xfrm>
            <a:off x="822960" y="3840480"/>
            <a:ext cx="87782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D6E6"/>
              </a:buClr>
              <a:buSzPts val="1500"/>
              <a:buFont typeface="Calibri"/>
              <a:buNone/>
            </a:pPr>
            <a:r>
              <a:rPr b="0" i="0" lang="en-US" sz="1500" u="none" cap="none" strike="noStrike">
                <a:solidFill>
                  <a:srgbClr val="C4D6E6"/>
                </a:solidFill>
                <a:latin typeface="Calibri"/>
                <a:ea typeface="Calibri"/>
                <a:cs typeface="Calibri"/>
                <a:sym typeface="Calibri"/>
              </a:rPr>
              <a:t>Two internal documents describe the same mechanism — so GeoAI capabilities need no separate integration architecture.</a:t>
            </a:r>
            <a:endParaRPr b="0" i="0" sz="1500" u="none" cap="none" strike="noStrike">
              <a:solidFill>
                <a:schemeClr val="dk1"/>
              </a:solidFill>
              <a:latin typeface="Calibri"/>
              <a:ea typeface="Calibri"/>
              <a:cs typeface="Calibri"/>
              <a:sym typeface="Calibri"/>
            </a:endParaRPr>
          </a:p>
        </p:txBody>
      </p:sp>
      <p:sp>
        <p:nvSpPr>
          <p:cNvPr id="134" name="Google Shape;134;p10"/>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8CA8"/>
              </a:buClr>
              <a:buSzPts val="800"/>
              <a:buFont typeface="Consolas"/>
              <a:buNone/>
            </a:pPr>
            <a:r>
              <a:rPr b="0" i="0" lang="en-US" sz="800" u="none" cap="none" strike="noStrike">
                <a:solidFill>
                  <a:srgbClr val="6E8CA8"/>
                </a:solidFill>
                <a:latin typeface="Consolas"/>
                <a:ea typeface="Consolas"/>
                <a:cs typeface="Consolas"/>
                <a:sym typeface="Consolas"/>
              </a:rPr>
              <a:t>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1"/>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The wrap-once pattern</a:t>
            </a:r>
            <a:endParaRPr b="0" i="0" sz="3000" u="none" cap="none" strike="noStrike">
              <a:solidFill>
                <a:schemeClr val="dk1"/>
              </a:solidFill>
              <a:latin typeface="Calibri"/>
              <a:ea typeface="Calibri"/>
              <a:cs typeface="Calibri"/>
              <a:sym typeface="Calibri"/>
            </a:endParaRPr>
          </a:p>
        </p:txBody>
      </p:sp>
      <p:sp>
        <p:nvSpPr>
          <p:cNvPr id="141" name="Google Shape;141;p11"/>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Four steps. Every capability in §04–06 goes through exactly these.</a:t>
            </a:r>
            <a:endParaRPr b="0" i="0" sz="1350" u="none" cap="none" strike="noStrike">
              <a:solidFill>
                <a:schemeClr val="dk1"/>
              </a:solidFill>
              <a:latin typeface="Calibri"/>
              <a:ea typeface="Calibri"/>
              <a:cs typeface="Calibri"/>
              <a:sym typeface="Calibri"/>
            </a:endParaRPr>
          </a:p>
        </p:txBody>
      </p:sp>
      <p:sp>
        <p:nvSpPr>
          <p:cNvPr id="142" name="Google Shape;142;p11"/>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143" name="Google Shape;143;p11"/>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7</a:t>
            </a:r>
            <a:endParaRPr b="0" i="0" sz="800" u="none" cap="none" strike="noStrike">
              <a:solidFill>
                <a:schemeClr val="dk1"/>
              </a:solidFill>
              <a:latin typeface="Calibri"/>
              <a:ea typeface="Calibri"/>
              <a:cs typeface="Calibri"/>
              <a:sym typeface="Calibri"/>
            </a:endParaRPr>
          </a:p>
        </p:txBody>
      </p:sp>
      <p:sp>
        <p:nvSpPr>
          <p:cNvPr id="144" name="Google Shape;144;p11"/>
          <p:cNvSpPr/>
          <p:nvPr/>
        </p:nvSpPr>
        <p:spPr>
          <a:xfrm>
            <a:off x="502920" y="1920240"/>
            <a:ext cx="2651760" cy="2377440"/>
          </a:xfrm>
          <a:prstGeom prst="roundRect">
            <a:avLst>
              <a:gd fmla="val 2692"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a:off x="731520" y="2148840"/>
            <a:ext cx="457200" cy="457200"/>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txBox="1"/>
          <p:nvPr/>
        </p:nvSpPr>
        <p:spPr>
          <a:xfrm>
            <a:off x="731520" y="21488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700"/>
              <a:buFont typeface="Roboto Condensed"/>
              <a:buNone/>
            </a:pPr>
            <a:r>
              <a:rPr b="1" i="0" lang="en-US" sz="1700" u="none" cap="none" strike="noStrike">
                <a:solidFill>
                  <a:srgbClr val="1A6389"/>
                </a:solidFill>
                <a:latin typeface="Roboto Condensed"/>
                <a:ea typeface="Roboto Condensed"/>
                <a:cs typeface="Roboto Condensed"/>
                <a:sym typeface="Roboto Condensed"/>
              </a:rPr>
              <a:t>1</a:t>
            </a:r>
            <a:endParaRPr b="0" i="0" sz="1700" u="none" cap="none" strike="noStrike">
              <a:solidFill>
                <a:schemeClr val="dk1"/>
              </a:solidFill>
              <a:latin typeface="Calibri"/>
              <a:ea typeface="Calibri"/>
              <a:cs typeface="Calibri"/>
              <a:sym typeface="Calibri"/>
            </a:endParaRPr>
          </a:p>
        </p:txBody>
      </p:sp>
      <p:sp>
        <p:nvSpPr>
          <p:cNvPr id="147" name="Google Shape;147;p11"/>
          <p:cNvSpPr txBox="1"/>
          <p:nvPr/>
        </p:nvSpPr>
        <p:spPr>
          <a:xfrm>
            <a:off x="731520" y="274320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00"/>
              <a:buFont typeface="Calibri"/>
              <a:buNone/>
            </a:pPr>
            <a:r>
              <a:rPr b="1" i="0" lang="en-US" sz="1300" u="none" cap="none" strike="noStrike">
                <a:solidFill>
                  <a:srgbClr val="1C212A"/>
                </a:solidFill>
                <a:latin typeface="Calibri"/>
                <a:ea typeface="Calibri"/>
                <a:cs typeface="Calibri"/>
                <a:sym typeface="Calibri"/>
              </a:rPr>
              <a:t>MCP-wrap the capability</a:t>
            </a:r>
            <a:endParaRPr b="0" i="0" sz="1300" u="none" cap="none" strike="noStrike">
              <a:solidFill>
                <a:schemeClr val="dk1"/>
              </a:solidFill>
              <a:latin typeface="Calibri"/>
              <a:ea typeface="Calibri"/>
              <a:cs typeface="Calibri"/>
              <a:sym typeface="Calibri"/>
            </a:endParaRPr>
          </a:p>
        </p:txBody>
      </p:sp>
      <p:sp>
        <p:nvSpPr>
          <p:cNvPr id="148" name="Google Shape;148;p11"/>
          <p:cNvSpPr txBox="1"/>
          <p:nvPr/>
        </p:nvSpPr>
        <p:spPr>
          <a:xfrm>
            <a:off x="731520" y="3273552"/>
            <a:ext cx="21945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Resources for the context it provides, tools for the actions it performs. Owner, data currency and known limitations stated up front.</a:t>
            </a:r>
            <a:endParaRPr b="0" i="0" sz="950" u="none" cap="none" strike="noStrike">
              <a:solidFill>
                <a:schemeClr val="dk1"/>
              </a:solidFill>
              <a:latin typeface="Calibri"/>
              <a:ea typeface="Calibri"/>
              <a:cs typeface="Calibri"/>
              <a:sym typeface="Calibri"/>
            </a:endParaRPr>
          </a:p>
        </p:txBody>
      </p:sp>
      <p:cxnSp>
        <p:nvCxnSpPr>
          <p:cNvPr id="149" name="Google Shape;149;p11"/>
          <p:cNvCxnSpPr/>
          <p:nvPr/>
        </p:nvCxnSpPr>
        <p:spPr>
          <a:xfrm>
            <a:off x="3200400" y="3108960"/>
            <a:ext cx="109728" cy="0"/>
          </a:xfrm>
          <a:prstGeom prst="straightConnector1">
            <a:avLst/>
          </a:prstGeom>
          <a:noFill/>
          <a:ln cap="flat" cmpd="sng" w="15875">
            <a:solidFill>
              <a:srgbClr val="6D6E71"/>
            </a:solidFill>
            <a:prstDash val="solid"/>
            <a:round/>
            <a:headEnd len="sm" w="sm" type="none"/>
            <a:tailEnd len="med" w="med" type="triangle"/>
          </a:ln>
        </p:spPr>
      </p:cxnSp>
      <p:sp>
        <p:nvSpPr>
          <p:cNvPr id="150" name="Google Shape;150;p11"/>
          <p:cNvSpPr/>
          <p:nvPr/>
        </p:nvSpPr>
        <p:spPr>
          <a:xfrm>
            <a:off x="3346704" y="1920240"/>
            <a:ext cx="2651760" cy="2377440"/>
          </a:xfrm>
          <a:prstGeom prst="roundRect">
            <a:avLst>
              <a:gd fmla="val 2692"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a:off x="3575304" y="2148840"/>
            <a:ext cx="457200" cy="457200"/>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txBox="1"/>
          <p:nvPr/>
        </p:nvSpPr>
        <p:spPr>
          <a:xfrm>
            <a:off x="3575304" y="21488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700"/>
              <a:buFont typeface="Roboto Condensed"/>
              <a:buNone/>
            </a:pPr>
            <a:r>
              <a:rPr b="1" i="0" lang="en-US" sz="1700" u="none" cap="none" strike="noStrike">
                <a:solidFill>
                  <a:srgbClr val="1A6389"/>
                </a:solidFill>
                <a:latin typeface="Roboto Condensed"/>
                <a:ea typeface="Roboto Condensed"/>
                <a:cs typeface="Roboto Condensed"/>
                <a:sym typeface="Roboto Condensed"/>
              </a:rPr>
              <a:t>2</a:t>
            </a:r>
            <a:endParaRPr b="0" i="0" sz="1700" u="none" cap="none" strike="noStrike">
              <a:solidFill>
                <a:schemeClr val="dk1"/>
              </a:solidFill>
              <a:latin typeface="Calibri"/>
              <a:ea typeface="Calibri"/>
              <a:cs typeface="Calibri"/>
              <a:sym typeface="Calibri"/>
            </a:endParaRPr>
          </a:p>
        </p:txBody>
      </p:sp>
      <p:sp>
        <p:nvSpPr>
          <p:cNvPr id="153" name="Google Shape;153;p11"/>
          <p:cNvSpPr txBox="1"/>
          <p:nvPr/>
        </p:nvSpPr>
        <p:spPr>
          <a:xfrm>
            <a:off x="3575304" y="274320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00"/>
              <a:buFont typeface="Calibri"/>
              <a:buNone/>
            </a:pPr>
            <a:r>
              <a:rPr b="1" i="0" lang="en-US" sz="1300" u="none" cap="none" strike="noStrike">
                <a:solidFill>
                  <a:srgbClr val="1C212A"/>
                </a:solidFill>
                <a:latin typeface="Calibri"/>
                <a:ea typeface="Calibri"/>
                <a:cs typeface="Calibri"/>
                <a:sym typeface="Calibri"/>
              </a:rPr>
              <a:t>Define the domain agent</a:t>
            </a:r>
            <a:endParaRPr b="0" i="0" sz="1300" u="none" cap="none" strike="noStrike">
              <a:solidFill>
                <a:schemeClr val="dk1"/>
              </a:solidFill>
              <a:latin typeface="Calibri"/>
              <a:ea typeface="Calibri"/>
              <a:cs typeface="Calibri"/>
              <a:sym typeface="Calibri"/>
            </a:endParaRPr>
          </a:p>
        </p:txBody>
      </p:sp>
      <p:sp>
        <p:nvSpPr>
          <p:cNvPr id="154" name="Google Shape;154;p11"/>
          <p:cNvSpPr txBox="1"/>
          <p:nvPr/>
        </p:nvSpPr>
        <p:spPr>
          <a:xfrm>
            <a:off x="3575304" y="3273552"/>
            <a:ext cx="21945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Encodes domain expertise (the science a specialist applies) and workflow expertise (the sequence they follow) — not a thin model wrapper.</a:t>
            </a:r>
            <a:endParaRPr b="0" i="0" sz="950" u="none" cap="none" strike="noStrike">
              <a:solidFill>
                <a:schemeClr val="dk1"/>
              </a:solidFill>
              <a:latin typeface="Calibri"/>
              <a:ea typeface="Calibri"/>
              <a:cs typeface="Calibri"/>
              <a:sym typeface="Calibri"/>
            </a:endParaRPr>
          </a:p>
        </p:txBody>
      </p:sp>
      <p:cxnSp>
        <p:nvCxnSpPr>
          <p:cNvPr id="155" name="Google Shape;155;p11"/>
          <p:cNvCxnSpPr/>
          <p:nvPr/>
        </p:nvCxnSpPr>
        <p:spPr>
          <a:xfrm>
            <a:off x="6044184" y="3108960"/>
            <a:ext cx="109728" cy="0"/>
          </a:xfrm>
          <a:prstGeom prst="straightConnector1">
            <a:avLst/>
          </a:prstGeom>
          <a:noFill/>
          <a:ln cap="flat" cmpd="sng" w="15875">
            <a:solidFill>
              <a:srgbClr val="6D6E71"/>
            </a:solidFill>
            <a:prstDash val="solid"/>
            <a:round/>
            <a:headEnd len="sm" w="sm" type="none"/>
            <a:tailEnd len="med" w="med" type="triangle"/>
          </a:ln>
        </p:spPr>
      </p:cxnSp>
      <p:sp>
        <p:nvSpPr>
          <p:cNvPr id="156" name="Google Shape;156;p11"/>
          <p:cNvSpPr/>
          <p:nvPr/>
        </p:nvSpPr>
        <p:spPr>
          <a:xfrm>
            <a:off x="6190488" y="1920240"/>
            <a:ext cx="2651760" cy="2377440"/>
          </a:xfrm>
          <a:prstGeom prst="roundRect">
            <a:avLst>
              <a:gd fmla="val 2692"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a:off x="6419088" y="2148840"/>
            <a:ext cx="457200" cy="457200"/>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txBox="1"/>
          <p:nvPr/>
        </p:nvSpPr>
        <p:spPr>
          <a:xfrm>
            <a:off x="6419088" y="21488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700"/>
              <a:buFont typeface="Roboto Condensed"/>
              <a:buNone/>
            </a:pPr>
            <a:r>
              <a:rPr b="1" i="0" lang="en-US" sz="1700" u="none" cap="none" strike="noStrike">
                <a:solidFill>
                  <a:srgbClr val="1A6389"/>
                </a:solidFill>
                <a:latin typeface="Roboto Condensed"/>
                <a:ea typeface="Roboto Condensed"/>
                <a:cs typeface="Roboto Condensed"/>
                <a:sym typeface="Roboto Condensed"/>
              </a:rPr>
              <a:t>3</a:t>
            </a:r>
            <a:endParaRPr b="0" i="0" sz="1700" u="none" cap="none" strike="noStrike">
              <a:solidFill>
                <a:schemeClr val="dk1"/>
              </a:solidFill>
              <a:latin typeface="Calibri"/>
              <a:ea typeface="Calibri"/>
              <a:cs typeface="Calibri"/>
              <a:sym typeface="Calibri"/>
            </a:endParaRPr>
          </a:p>
        </p:txBody>
      </p:sp>
      <p:sp>
        <p:nvSpPr>
          <p:cNvPr id="159" name="Google Shape;159;p11"/>
          <p:cNvSpPr txBox="1"/>
          <p:nvPr/>
        </p:nvSpPr>
        <p:spPr>
          <a:xfrm>
            <a:off x="6419088" y="274320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00"/>
              <a:buFont typeface="Calibri"/>
              <a:buNone/>
            </a:pPr>
            <a:r>
              <a:rPr b="1" i="0" lang="en-US" sz="1300" u="none" cap="none" strike="noStrike">
                <a:solidFill>
                  <a:srgbClr val="1C212A"/>
                </a:solidFill>
                <a:latin typeface="Calibri"/>
                <a:ea typeface="Calibri"/>
                <a:cs typeface="Calibri"/>
                <a:sym typeface="Calibri"/>
              </a:rPr>
              <a:t>Register with the gateway</a:t>
            </a:r>
            <a:endParaRPr b="0" i="0" sz="1300" u="none" cap="none" strike="noStrike">
              <a:solidFill>
                <a:schemeClr val="dk1"/>
              </a:solidFill>
              <a:latin typeface="Calibri"/>
              <a:ea typeface="Calibri"/>
              <a:cs typeface="Calibri"/>
              <a:sym typeface="Calibri"/>
            </a:endParaRPr>
          </a:p>
        </p:txBody>
      </p:sp>
      <p:sp>
        <p:nvSpPr>
          <p:cNvPr id="160" name="Google Shape;160;p11"/>
          <p:cNvSpPr txBox="1"/>
          <p:nvPr/>
        </p:nvSpPr>
        <p:spPr>
          <a:xfrm>
            <a:off x="6419088" y="3273552"/>
            <a:ext cx="21945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Identity, policy, routing and audit handled once, centrally. Any other domain's agent can now call it via Agent2Agent.</a:t>
            </a:r>
            <a:endParaRPr b="0" i="0" sz="950" u="none" cap="none" strike="noStrike">
              <a:solidFill>
                <a:schemeClr val="dk1"/>
              </a:solidFill>
              <a:latin typeface="Calibri"/>
              <a:ea typeface="Calibri"/>
              <a:cs typeface="Calibri"/>
              <a:sym typeface="Calibri"/>
            </a:endParaRPr>
          </a:p>
        </p:txBody>
      </p:sp>
      <p:cxnSp>
        <p:nvCxnSpPr>
          <p:cNvPr id="161" name="Google Shape;161;p11"/>
          <p:cNvCxnSpPr/>
          <p:nvPr/>
        </p:nvCxnSpPr>
        <p:spPr>
          <a:xfrm>
            <a:off x="8887968" y="3108960"/>
            <a:ext cx="109728" cy="0"/>
          </a:xfrm>
          <a:prstGeom prst="straightConnector1">
            <a:avLst/>
          </a:prstGeom>
          <a:noFill/>
          <a:ln cap="flat" cmpd="sng" w="15875">
            <a:solidFill>
              <a:srgbClr val="6D6E71"/>
            </a:solidFill>
            <a:prstDash val="solid"/>
            <a:round/>
            <a:headEnd len="sm" w="sm" type="none"/>
            <a:tailEnd len="med" w="med" type="triangle"/>
          </a:ln>
        </p:spPr>
      </p:cxnSp>
      <p:sp>
        <p:nvSpPr>
          <p:cNvPr id="162" name="Google Shape;162;p11"/>
          <p:cNvSpPr/>
          <p:nvPr/>
        </p:nvSpPr>
        <p:spPr>
          <a:xfrm>
            <a:off x="9034272" y="1920240"/>
            <a:ext cx="2651760" cy="2377440"/>
          </a:xfrm>
          <a:prstGeom prst="roundRect">
            <a:avLst>
              <a:gd fmla="val 2692"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1"/>
          <p:cNvSpPr/>
          <p:nvPr/>
        </p:nvSpPr>
        <p:spPr>
          <a:xfrm>
            <a:off x="9262872" y="2148840"/>
            <a:ext cx="457200" cy="457200"/>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1"/>
          <p:cNvSpPr txBox="1"/>
          <p:nvPr/>
        </p:nvSpPr>
        <p:spPr>
          <a:xfrm>
            <a:off x="9262872" y="21488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700"/>
              <a:buFont typeface="Roboto Condensed"/>
              <a:buNone/>
            </a:pPr>
            <a:r>
              <a:rPr b="1" i="0" lang="en-US" sz="1700" u="none" cap="none" strike="noStrike">
                <a:solidFill>
                  <a:srgbClr val="1A6389"/>
                </a:solidFill>
                <a:latin typeface="Roboto Condensed"/>
                <a:ea typeface="Roboto Condensed"/>
                <a:cs typeface="Roboto Condensed"/>
                <a:sym typeface="Roboto Condensed"/>
              </a:rPr>
              <a:t>4</a:t>
            </a:r>
            <a:endParaRPr b="0" i="0" sz="1700" u="none" cap="none" strike="noStrike">
              <a:solidFill>
                <a:schemeClr val="dk1"/>
              </a:solidFill>
              <a:latin typeface="Calibri"/>
              <a:ea typeface="Calibri"/>
              <a:cs typeface="Calibri"/>
              <a:sym typeface="Calibri"/>
            </a:endParaRPr>
          </a:p>
        </p:txBody>
      </p:sp>
      <p:sp>
        <p:nvSpPr>
          <p:cNvPr id="165" name="Google Shape;165;p11"/>
          <p:cNvSpPr txBox="1"/>
          <p:nvPr/>
        </p:nvSpPr>
        <p:spPr>
          <a:xfrm>
            <a:off x="9262872" y="274320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00"/>
              <a:buFont typeface="Calibri"/>
              <a:buNone/>
            </a:pPr>
            <a:r>
              <a:rPr b="1" i="0" lang="en-US" sz="1300" u="none" cap="none" strike="noStrike">
                <a:solidFill>
                  <a:srgbClr val="1C212A"/>
                </a:solidFill>
                <a:latin typeface="Calibri"/>
                <a:ea typeface="Calibri"/>
                <a:cs typeface="Calibri"/>
                <a:sym typeface="Calibri"/>
              </a:rPr>
              <a:t>Consume from anywhere</a:t>
            </a:r>
            <a:endParaRPr b="0" i="0" sz="1300" u="none" cap="none" strike="noStrike">
              <a:solidFill>
                <a:schemeClr val="dk1"/>
              </a:solidFill>
              <a:latin typeface="Calibri"/>
              <a:ea typeface="Calibri"/>
              <a:cs typeface="Calibri"/>
              <a:sym typeface="Calibri"/>
            </a:endParaRPr>
          </a:p>
        </p:txBody>
      </p:sp>
      <p:sp>
        <p:nvSpPr>
          <p:cNvPr id="166" name="Google Shape;166;p11"/>
          <p:cNvSpPr txBox="1"/>
          <p:nvPr/>
        </p:nvSpPr>
        <p:spPr>
          <a:xfrm>
            <a:off x="9262872" y="3273552"/>
            <a:ext cx="21945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Agent apps reach it via MCP; dashboards and national systems reach the same capability via curated APIs.</a:t>
            </a:r>
            <a:endParaRPr b="0" i="0" sz="950" u="none" cap="none" strike="noStrike">
              <a:solidFill>
                <a:schemeClr val="dk1"/>
              </a:solidFill>
              <a:latin typeface="Calibri"/>
              <a:ea typeface="Calibri"/>
              <a:cs typeface="Calibri"/>
              <a:sym typeface="Calibri"/>
            </a:endParaRPr>
          </a:p>
        </p:txBody>
      </p:sp>
      <p:sp>
        <p:nvSpPr>
          <p:cNvPr id="167" name="Google Shape;167;p11"/>
          <p:cNvSpPr/>
          <p:nvPr/>
        </p:nvSpPr>
        <p:spPr>
          <a:xfrm>
            <a:off x="502920" y="4663440"/>
            <a:ext cx="11155680" cy="777240"/>
          </a:xfrm>
          <a:prstGeom prst="roundRect">
            <a:avLst>
              <a:gd fmla="val 7059"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txBox="1"/>
          <p:nvPr/>
        </p:nvSpPr>
        <p:spPr>
          <a:xfrm>
            <a:off x="713232" y="4754880"/>
            <a:ext cx="107899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Blocking dependency — Decision #12.  </a:t>
            </a:r>
            <a:r>
              <a:rPr b="0" i="0" lang="en-US" sz="1150" u="none" cap="none" strike="noStrike">
                <a:solidFill>
                  <a:srgbClr val="4D5763"/>
                </a:solidFill>
                <a:latin typeface="Calibri"/>
                <a:ea typeface="Calibri"/>
                <a:cs typeface="Calibri"/>
                <a:sym typeface="Calibri"/>
              </a:rPr>
              <a:t>SERVIR-AI/global-platform's three maintainers have not been contacted. No agent build in §04–06 should start before that conversation, to avoid duplicating an MCP server that already exists.</a:t>
            </a:r>
            <a:endParaRPr b="0" i="0" sz="1150" u="none" cap="none" strike="noStrike">
              <a:solidFill>
                <a:schemeClr val="dk1"/>
              </a:solidFill>
              <a:latin typeface="Calibri"/>
              <a:ea typeface="Calibri"/>
              <a:cs typeface="Calibri"/>
              <a:sym typeface="Calibri"/>
            </a:endParaRPr>
          </a:p>
        </p:txBody>
      </p:sp>
      <p:sp>
        <p:nvSpPr>
          <p:cNvPr id="169" name="Google Shape;169;p11"/>
          <p:cNvSpPr/>
          <p:nvPr/>
        </p:nvSpPr>
        <p:spPr>
          <a:xfrm>
            <a:off x="502920" y="5577840"/>
            <a:ext cx="11155680" cy="731520"/>
          </a:xfrm>
          <a:prstGeom prst="roundRect">
            <a:avLst>
              <a:gd fmla="val 7500"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1"/>
          <p:cNvSpPr txBox="1"/>
          <p:nvPr/>
        </p:nvSpPr>
        <p:spPr>
          <a:xfrm>
            <a:off x="713232" y="5669280"/>
            <a:ext cx="10789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What already runs there:  </a:t>
            </a:r>
            <a:r>
              <a:rPr b="0" i="0" lang="en-US" sz="1150" u="none" cap="none" strike="noStrike">
                <a:solidFill>
                  <a:srgbClr val="4D5763"/>
                </a:solidFill>
                <a:latin typeface="Calibri"/>
                <a:ea typeface="Calibri"/>
                <a:cs typeface="Calibri"/>
                <a:sym typeface="Calibri"/>
              </a:rPr>
              <a:t>a live LangGraph + FastMCP server answering NL disaster-risk questions across 9 perils for SE Asia, minting a replayable receipt per answer behind a groundedness gate.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2"/>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The GitHub migration inventory</a:t>
            </a:r>
            <a:endParaRPr b="0" i="0" sz="3000" u="none" cap="none" strike="noStrike">
              <a:solidFill>
                <a:schemeClr val="dk1"/>
              </a:solidFill>
              <a:latin typeface="Calibri"/>
              <a:ea typeface="Calibri"/>
              <a:cs typeface="Calibri"/>
              <a:sym typeface="Calibri"/>
            </a:endParaRPr>
          </a:p>
        </p:txBody>
      </p:sp>
      <p:sp>
        <p:nvSpPr>
          <p:cNvPr id="177" name="Google Shape;177;p12"/>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Decision #14's residual, closed. Every public repo across six organizations, triaged. Compiled 2 September 2026.</a:t>
            </a:r>
            <a:endParaRPr b="0" i="0" sz="1350" u="none" cap="none" strike="noStrike">
              <a:solidFill>
                <a:schemeClr val="dk1"/>
              </a:solidFill>
              <a:latin typeface="Calibri"/>
              <a:ea typeface="Calibri"/>
              <a:cs typeface="Calibri"/>
              <a:sym typeface="Calibri"/>
            </a:endParaRPr>
          </a:p>
        </p:txBody>
      </p:sp>
      <p:sp>
        <p:nvSpPr>
          <p:cNvPr id="178" name="Google Shape;178;p12"/>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179" name="Google Shape;179;p12"/>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8</a:t>
            </a:r>
            <a:endParaRPr b="0" i="0" sz="800" u="none" cap="none" strike="noStrike">
              <a:solidFill>
                <a:schemeClr val="dk1"/>
              </a:solidFill>
              <a:latin typeface="Calibri"/>
              <a:ea typeface="Calibri"/>
              <a:cs typeface="Calibri"/>
              <a:sym typeface="Calibri"/>
            </a:endParaRPr>
          </a:p>
        </p:txBody>
      </p:sp>
      <p:sp>
        <p:nvSpPr>
          <p:cNvPr id="180" name="Google Shape;180;p12"/>
          <p:cNvSpPr/>
          <p:nvPr/>
        </p:nvSpPr>
        <p:spPr>
          <a:xfrm>
            <a:off x="502920" y="1691640"/>
            <a:ext cx="1700784" cy="1371600"/>
          </a:xfrm>
          <a:prstGeom prst="roundRect">
            <a:avLst>
              <a:gd fmla="val 466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2"/>
          <p:cNvSpPr txBox="1"/>
          <p:nvPr/>
        </p:nvSpPr>
        <p:spPr>
          <a:xfrm>
            <a:off x="649224" y="1847088"/>
            <a:ext cx="14173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3400"/>
              <a:buFont typeface="Roboto Condensed"/>
              <a:buNone/>
            </a:pPr>
            <a:r>
              <a:rPr b="1" i="0" lang="en-US" sz="3400" u="none" cap="none" strike="noStrike">
                <a:solidFill>
                  <a:srgbClr val="1A6389"/>
                </a:solidFill>
                <a:latin typeface="Roboto Condensed"/>
                <a:ea typeface="Roboto Condensed"/>
                <a:cs typeface="Roboto Condensed"/>
                <a:sym typeface="Roboto Condensed"/>
              </a:rPr>
              <a:t>231</a:t>
            </a:r>
            <a:endParaRPr b="0" i="0" sz="3400" u="none" cap="none" strike="noStrike">
              <a:solidFill>
                <a:schemeClr val="dk1"/>
              </a:solidFill>
              <a:latin typeface="Calibri"/>
              <a:ea typeface="Calibri"/>
              <a:cs typeface="Calibri"/>
              <a:sym typeface="Calibri"/>
            </a:endParaRPr>
          </a:p>
        </p:txBody>
      </p:sp>
      <p:sp>
        <p:nvSpPr>
          <p:cNvPr id="182" name="Google Shape;182;p12"/>
          <p:cNvSpPr txBox="1"/>
          <p:nvPr/>
        </p:nvSpPr>
        <p:spPr>
          <a:xfrm>
            <a:off x="649224" y="2432304"/>
            <a:ext cx="1463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PUBLIC REPOS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ACROSS 6 ORGS</a:t>
            </a:r>
            <a:endParaRPr b="0" i="0" sz="750" u="none" cap="none" strike="noStrike">
              <a:solidFill>
                <a:schemeClr val="dk1"/>
              </a:solidFill>
              <a:latin typeface="Calibri"/>
              <a:ea typeface="Calibri"/>
              <a:cs typeface="Calibri"/>
              <a:sym typeface="Calibri"/>
            </a:endParaRPr>
          </a:p>
        </p:txBody>
      </p:sp>
      <p:sp>
        <p:nvSpPr>
          <p:cNvPr id="183" name="Google Shape;183;p12"/>
          <p:cNvSpPr/>
          <p:nvPr/>
        </p:nvSpPr>
        <p:spPr>
          <a:xfrm>
            <a:off x="2386584" y="1691640"/>
            <a:ext cx="1700784" cy="1371600"/>
          </a:xfrm>
          <a:prstGeom prst="roundRect">
            <a:avLst>
              <a:gd fmla="val 466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2"/>
          <p:cNvSpPr txBox="1"/>
          <p:nvPr/>
        </p:nvSpPr>
        <p:spPr>
          <a:xfrm>
            <a:off x="2532888" y="1847088"/>
            <a:ext cx="14173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B52"/>
              </a:buClr>
              <a:buSzPts val="3400"/>
              <a:buFont typeface="Roboto Condensed"/>
              <a:buNone/>
            </a:pPr>
            <a:r>
              <a:rPr b="1" i="0" lang="en-US" sz="3400" u="none" cap="none" strike="noStrike">
                <a:solidFill>
                  <a:srgbClr val="1F6B52"/>
                </a:solidFill>
                <a:latin typeface="Roboto Condensed"/>
                <a:ea typeface="Roboto Condensed"/>
                <a:cs typeface="Roboto Condensed"/>
                <a:sym typeface="Roboto Condensed"/>
              </a:rPr>
              <a:t>41</a:t>
            </a:r>
            <a:endParaRPr b="0" i="0" sz="3400" u="none" cap="none" strike="noStrike">
              <a:solidFill>
                <a:schemeClr val="dk1"/>
              </a:solidFill>
              <a:latin typeface="Calibri"/>
              <a:ea typeface="Calibri"/>
              <a:cs typeface="Calibri"/>
              <a:sym typeface="Calibri"/>
            </a:endParaRPr>
          </a:p>
        </p:txBody>
      </p:sp>
      <p:sp>
        <p:nvSpPr>
          <p:cNvPr id="185" name="Google Shape;185;p12"/>
          <p:cNvSpPr txBox="1"/>
          <p:nvPr/>
        </p:nvSpPr>
        <p:spPr>
          <a:xfrm>
            <a:off x="2532888" y="2432304"/>
            <a:ext cx="1463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WRAP AS MCP</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 the actual payload</a:t>
            </a:r>
            <a:endParaRPr b="0" i="0" sz="750" u="none" cap="none" strike="noStrike">
              <a:solidFill>
                <a:schemeClr val="dk1"/>
              </a:solidFill>
              <a:latin typeface="Calibri"/>
              <a:ea typeface="Calibri"/>
              <a:cs typeface="Calibri"/>
              <a:sym typeface="Calibri"/>
            </a:endParaRPr>
          </a:p>
        </p:txBody>
      </p:sp>
      <p:sp>
        <p:nvSpPr>
          <p:cNvPr id="186" name="Google Shape;186;p12"/>
          <p:cNvSpPr/>
          <p:nvPr/>
        </p:nvSpPr>
        <p:spPr>
          <a:xfrm>
            <a:off x="4270248" y="1691640"/>
            <a:ext cx="1700784" cy="1371600"/>
          </a:xfrm>
          <a:prstGeom prst="roundRect">
            <a:avLst>
              <a:gd fmla="val 466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2"/>
          <p:cNvSpPr txBox="1"/>
          <p:nvPr/>
        </p:nvSpPr>
        <p:spPr>
          <a:xfrm>
            <a:off x="4416552" y="1847088"/>
            <a:ext cx="14173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E88"/>
              </a:buClr>
              <a:buSzPts val="3400"/>
              <a:buFont typeface="Roboto Condensed"/>
              <a:buNone/>
            </a:pPr>
            <a:r>
              <a:rPr b="1" i="0" lang="en-US" sz="3400" u="none" cap="none" strike="noStrike">
                <a:solidFill>
                  <a:srgbClr val="485E88"/>
                </a:solidFill>
                <a:latin typeface="Roboto Condensed"/>
                <a:ea typeface="Roboto Condensed"/>
                <a:cs typeface="Roboto Condensed"/>
                <a:sym typeface="Roboto Condensed"/>
              </a:rPr>
              <a:t>15</a:t>
            </a:r>
            <a:endParaRPr b="0" i="0" sz="3400" u="none" cap="none" strike="noStrike">
              <a:solidFill>
                <a:schemeClr val="dk1"/>
              </a:solidFill>
              <a:latin typeface="Calibri"/>
              <a:ea typeface="Calibri"/>
              <a:cs typeface="Calibri"/>
              <a:sym typeface="Calibri"/>
            </a:endParaRPr>
          </a:p>
        </p:txBody>
      </p:sp>
      <p:sp>
        <p:nvSpPr>
          <p:cNvPr id="188" name="Google Shape;188;p12"/>
          <p:cNvSpPr txBox="1"/>
          <p:nvPr/>
        </p:nvSpPr>
        <p:spPr>
          <a:xfrm>
            <a:off x="4416552" y="2432304"/>
            <a:ext cx="1463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MIGRATE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as-is</a:t>
            </a:r>
            <a:endParaRPr b="0" i="0" sz="750" u="none" cap="none" strike="noStrike">
              <a:solidFill>
                <a:schemeClr val="dk1"/>
              </a:solidFill>
              <a:latin typeface="Calibri"/>
              <a:ea typeface="Calibri"/>
              <a:cs typeface="Calibri"/>
              <a:sym typeface="Calibri"/>
            </a:endParaRPr>
          </a:p>
        </p:txBody>
      </p:sp>
      <p:sp>
        <p:nvSpPr>
          <p:cNvPr id="189" name="Google Shape;189;p12"/>
          <p:cNvSpPr/>
          <p:nvPr/>
        </p:nvSpPr>
        <p:spPr>
          <a:xfrm>
            <a:off x="6153912" y="1691640"/>
            <a:ext cx="1700784" cy="1371600"/>
          </a:xfrm>
          <a:prstGeom prst="roundRect">
            <a:avLst>
              <a:gd fmla="val 466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2"/>
          <p:cNvSpPr txBox="1"/>
          <p:nvPr/>
        </p:nvSpPr>
        <p:spPr>
          <a:xfrm>
            <a:off x="6300216" y="1847088"/>
            <a:ext cx="14173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5E06"/>
              </a:buClr>
              <a:buSzPts val="3400"/>
              <a:buFont typeface="Roboto Condensed"/>
              <a:buNone/>
            </a:pPr>
            <a:r>
              <a:rPr b="1" i="0" lang="en-US" sz="3400" u="none" cap="none" strike="noStrike">
                <a:solidFill>
                  <a:srgbClr val="8F5E06"/>
                </a:solidFill>
                <a:latin typeface="Roboto Condensed"/>
                <a:ea typeface="Roboto Condensed"/>
                <a:cs typeface="Roboto Condensed"/>
                <a:sym typeface="Roboto Condensed"/>
              </a:rPr>
              <a:t>66</a:t>
            </a:r>
            <a:endParaRPr b="0" i="0" sz="3400" u="none" cap="none" strike="noStrike">
              <a:solidFill>
                <a:schemeClr val="dk1"/>
              </a:solidFill>
              <a:latin typeface="Calibri"/>
              <a:ea typeface="Calibri"/>
              <a:cs typeface="Calibri"/>
              <a:sym typeface="Calibri"/>
            </a:endParaRPr>
          </a:p>
        </p:txBody>
      </p:sp>
      <p:sp>
        <p:nvSpPr>
          <p:cNvPr id="191" name="Google Shape;191;p12"/>
          <p:cNvSpPr txBox="1"/>
          <p:nvPr/>
        </p:nvSpPr>
        <p:spPr>
          <a:xfrm>
            <a:off x="6300216" y="2432304"/>
            <a:ext cx="1463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REVIEW</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before deciding</a:t>
            </a:r>
            <a:endParaRPr b="0" i="0" sz="750" u="none" cap="none" strike="noStrike">
              <a:solidFill>
                <a:schemeClr val="dk1"/>
              </a:solidFill>
              <a:latin typeface="Calibri"/>
              <a:ea typeface="Calibri"/>
              <a:cs typeface="Calibri"/>
              <a:sym typeface="Calibri"/>
            </a:endParaRPr>
          </a:p>
        </p:txBody>
      </p:sp>
      <p:sp>
        <p:nvSpPr>
          <p:cNvPr id="192" name="Google Shape;192;p12"/>
          <p:cNvSpPr/>
          <p:nvPr/>
        </p:nvSpPr>
        <p:spPr>
          <a:xfrm>
            <a:off x="8037576" y="1691640"/>
            <a:ext cx="1700784" cy="1371600"/>
          </a:xfrm>
          <a:prstGeom prst="roundRect">
            <a:avLst>
              <a:gd fmla="val 466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2"/>
          <p:cNvSpPr txBox="1"/>
          <p:nvPr/>
        </p:nvSpPr>
        <p:spPr>
          <a:xfrm>
            <a:off x="8183880" y="1847088"/>
            <a:ext cx="14173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400"/>
              <a:buFont typeface="Roboto Condensed"/>
              <a:buNone/>
            </a:pPr>
            <a:r>
              <a:rPr b="1" i="0" lang="en-US" sz="3400" u="none" cap="none" strike="noStrike">
                <a:solidFill>
                  <a:srgbClr val="1C212A"/>
                </a:solidFill>
                <a:latin typeface="Roboto Condensed"/>
                <a:ea typeface="Roboto Condensed"/>
                <a:cs typeface="Roboto Condensed"/>
                <a:sym typeface="Roboto Condensed"/>
              </a:rPr>
              <a:t>19</a:t>
            </a:r>
            <a:endParaRPr b="0" i="0" sz="3400" u="none" cap="none" strike="noStrike">
              <a:solidFill>
                <a:schemeClr val="dk1"/>
              </a:solidFill>
              <a:latin typeface="Calibri"/>
              <a:ea typeface="Calibri"/>
              <a:cs typeface="Calibri"/>
              <a:sym typeface="Calibri"/>
            </a:endParaRPr>
          </a:p>
        </p:txBody>
      </p:sp>
      <p:sp>
        <p:nvSpPr>
          <p:cNvPr id="194" name="Google Shape;194;p12"/>
          <p:cNvSpPr txBox="1"/>
          <p:nvPr/>
        </p:nvSpPr>
        <p:spPr>
          <a:xfrm>
            <a:off x="8183880" y="2432304"/>
            <a:ext cx="1463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CAPACITY</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material</a:t>
            </a:r>
            <a:endParaRPr b="0" i="0" sz="750" u="none" cap="none" strike="noStrike">
              <a:solidFill>
                <a:schemeClr val="dk1"/>
              </a:solidFill>
              <a:latin typeface="Calibri"/>
              <a:ea typeface="Calibri"/>
              <a:cs typeface="Calibri"/>
              <a:sym typeface="Calibri"/>
            </a:endParaRPr>
          </a:p>
        </p:txBody>
      </p:sp>
      <p:sp>
        <p:nvSpPr>
          <p:cNvPr id="195" name="Google Shape;195;p12"/>
          <p:cNvSpPr/>
          <p:nvPr/>
        </p:nvSpPr>
        <p:spPr>
          <a:xfrm>
            <a:off x="9921240" y="1691640"/>
            <a:ext cx="1700784" cy="1371600"/>
          </a:xfrm>
          <a:prstGeom prst="roundRect">
            <a:avLst>
              <a:gd fmla="val 466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2"/>
          <p:cNvSpPr txBox="1"/>
          <p:nvPr/>
        </p:nvSpPr>
        <p:spPr>
          <a:xfrm>
            <a:off x="10067544" y="1847088"/>
            <a:ext cx="14173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2C2C"/>
              </a:buClr>
              <a:buSzPts val="3400"/>
              <a:buFont typeface="Roboto Condensed"/>
              <a:buNone/>
            </a:pPr>
            <a:r>
              <a:rPr b="1" i="0" lang="en-US" sz="3400" u="none" cap="none" strike="noStrike">
                <a:solidFill>
                  <a:srgbClr val="9B2C2C"/>
                </a:solidFill>
                <a:latin typeface="Roboto Condensed"/>
                <a:ea typeface="Roboto Condensed"/>
                <a:cs typeface="Roboto Condensed"/>
                <a:sym typeface="Roboto Condensed"/>
              </a:rPr>
              <a:t>89</a:t>
            </a:r>
            <a:endParaRPr b="0" i="0" sz="3400" u="none" cap="none" strike="noStrike">
              <a:solidFill>
                <a:schemeClr val="dk1"/>
              </a:solidFill>
              <a:latin typeface="Calibri"/>
              <a:ea typeface="Calibri"/>
              <a:cs typeface="Calibri"/>
              <a:sym typeface="Calibri"/>
            </a:endParaRPr>
          </a:p>
        </p:txBody>
      </p:sp>
      <p:sp>
        <p:nvSpPr>
          <p:cNvPr id="197" name="Google Shape;197;p12"/>
          <p:cNvSpPr txBox="1"/>
          <p:nvPr/>
        </p:nvSpPr>
        <p:spPr>
          <a:xfrm>
            <a:off x="10067544" y="2432304"/>
            <a:ext cx="1463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ARCHIVE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dormant</a:t>
            </a:r>
            <a:endParaRPr b="0" i="0" sz="750" u="none" cap="none" strike="noStrike">
              <a:solidFill>
                <a:schemeClr val="dk1"/>
              </a:solidFill>
              <a:latin typeface="Calibri"/>
              <a:ea typeface="Calibri"/>
              <a:cs typeface="Calibri"/>
              <a:sym typeface="Calibri"/>
            </a:endParaRPr>
          </a:p>
        </p:txBody>
      </p:sp>
      <p:graphicFrame>
        <p:nvGraphicFramePr>
          <p:cNvPr id="198" name="Google Shape;198;p12"/>
          <p:cNvGraphicFramePr/>
          <p:nvPr/>
        </p:nvGraphicFramePr>
        <p:xfrm>
          <a:off x="502920" y="3246120"/>
          <a:ext cx="3000000" cy="3000000"/>
        </p:xfrm>
        <a:graphic>
          <a:graphicData uri="http://schemas.openxmlformats.org/drawingml/2006/table">
            <a:tbl>
              <a:tblPr>
                <a:noFill/>
                <a:tableStyleId>{0B7ADE64-2C2D-4D68-BEA2-7A829558A485}</a:tableStyleId>
              </a:tblPr>
              <a:tblGrid>
                <a:gridCol w="2743200"/>
                <a:gridCol w="777250"/>
                <a:gridCol w="6537950"/>
                <a:gridCol w="1097275"/>
              </a:tblGrid>
              <a:tr h="393200">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Organization</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Repos</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Read as</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Wrap</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r>
              <a:tr h="393200">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github.com/SERVIR-AI</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2</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Confirmed consolidation target — the only repo of 231 with an MCP endpoint</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1</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393200">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github.com/SERVIR</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132</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General / legacy org. Fifteen years of service code; six already archived upstream</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19</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393200">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github.com/Servir-Mekong</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44</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Deepest hydrology and land-cover bench — hydra-floods and rlcms</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8</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393200">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github.com/SERVIR-Amazonia</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38</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Newest activity. 14 Tethys repos ≈ 3 codebases forked per country</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4</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393200">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github.com/SERVIRSEA</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7</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Small and modern — two foundation-model experiments (Clay, CNN)</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5</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393200">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github.com/pyregence</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8</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Partner wildfire org (Decision #16) — active Clojure through Sept 2026</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4</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bl>
          </a:graphicData>
        </a:graphic>
      </p:graphicFrame>
      <p:sp>
        <p:nvSpPr>
          <p:cNvPr id="199" name="Google Shape;199;p12"/>
          <p:cNvSpPr/>
          <p:nvPr/>
        </p:nvSpPr>
        <p:spPr>
          <a:xfrm>
            <a:off x="502920" y="5943600"/>
            <a:ext cx="11155680" cy="658368"/>
          </a:xfrm>
          <a:prstGeom prst="roundRect">
            <a:avLst>
              <a:gd fmla="val 8333"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2"/>
          <p:cNvSpPr txBox="1"/>
          <p:nvPr/>
        </p:nvSpPr>
        <p:spPr>
          <a:xfrm>
            <a:off x="713232" y="6035040"/>
            <a:ext cx="10789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The headline finding.  </a:t>
            </a:r>
            <a:r>
              <a:rPr b="0" i="0" lang="en-US" sz="1150" u="none" cap="none" strike="noStrike">
                <a:solidFill>
                  <a:srgbClr val="4D5763"/>
                </a:solidFill>
                <a:latin typeface="Calibri"/>
                <a:ea typeface="Calibri"/>
                <a:cs typeface="Calibri"/>
                <a:sym typeface="Calibri"/>
              </a:rPr>
              <a:t>Only 41 of 231 repos carry a platform capability worth wrapping. The migration is far smaller than the repo count suggests — but it gates two of Decision #9's first three agents.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3"/>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The 41 wrap-as-MCP candidates</a:t>
            </a:r>
            <a:endParaRPr b="0" i="0" sz="3000" u="none" cap="none" strike="noStrike">
              <a:solidFill>
                <a:schemeClr val="dk1"/>
              </a:solidFill>
              <a:latin typeface="Calibri"/>
              <a:ea typeface="Calibri"/>
              <a:cs typeface="Calibri"/>
              <a:sym typeface="Calibri"/>
            </a:endParaRPr>
          </a:p>
        </p:txBody>
      </p:sp>
      <p:sp>
        <p:nvSpPr>
          <p:cNvPr id="207" name="Google Shape;207;p13"/>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Where the migration payload actually sits, by the platform section that consumes it.</a:t>
            </a:r>
            <a:endParaRPr b="0" i="0" sz="1350" u="none" cap="none" strike="noStrike">
              <a:solidFill>
                <a:schemeClr val="dk1"/>
              </a:solidFill>
              <a:latin typeface="Calibri"/>
              <a:ea typeface="Calibri"/>
              <a:cs typeface="Calibri"/>
              <a:sym typeface="Calibri"/>
            </a:endParaRPr>
          </a:p>
        </p:txBody>
      </p:sp>
      <p:sp>
        <p:nvSpPr>
          <p:cNvPr id="208" name="Google Shape;208;p13"/>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209" name="Google Shape;209;p13"/>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9</a:t>
            </a:r>
            <a:endParaRPr b="0" i="0" sz="800" u="none" cap="none" strike="noStrike">
              <a:solidFill>
                <a:schemeClr val="dk1"/>
              </a:solidFill>
              <a:latin typeface="Calibri"/>
              <a:ea typeface="Calibri"/>
              <a:cs typeface="Calibri"/>
              <a:sym typeface="Calibri"/>
            </a:endParaRPr>
          </a:p>
        </p:txBody>
      </p:sp>
      <p:sp>
        <p:nvSpPr>
          <p:cNvPr id="210" name="Google Shape;210;p13"/>
          <p:cNvSpPr/>
          <p:nvPr/>
        </p:nvSpPr>
        <p:spPr>
          <a:xfrm>
            <a:off x="502920" y="1645920"/>
            <a:ext cx="11155680" cy="1371600"/>
          </a:xfrm>
          <a:prstGeom prst="roundRect">
            <a:avLst>
              <a:gd fmla="val 4000" name="adj"/>
            </a:avLst>
          </a:prstGeom>
          <a:solidFill>
            <a:srgbClr val="FFFFFF"/>
          </a:solidFill>
          <a:ln cap="flat" cmpd="sng" w="15875">
            <a:solidFill>
              <a:srgbClr val="1C21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3"/>
          <p:cNvSpPr txBox="1"/>
          <p:nvPr/>
        </p:nvSpPr>
        <p:spPr>
          <a:xfrm>
            <a:off x="713232" y="1755648"/>
            <a:ext cx="10698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00"/>
              <a:buFont typeface="Calibri"/>
              <a:buNone/>
            </a:pPr>
            <a:r>
              <a:rPr b="1" i="0" lang="en-US" sz="1300" u="none" cap="none" strike="noStrike">
                <a:solidFill>
                  <a:srgbClr val="1C212A"/>
                </a:solidFill>
                <a:latin typeface="Calibri"/>
                <a:ea typeface="Calibri"/>
                <a:cs typeface="Calibri"/>
                <a:sym typeface="Calibri"/>
              </a:rPr>
              <a:t>Global Risk (§04) — 20</a:t>
            </a:r>
            <a:endParaRPr b="0" i="0" sz="1300" u="none" cap="none" strike="noStrike">
              <a:solidFill>
                <a:schemeClr val="dk1"/>
              </a:solidFill>
              <a:latin typeface="Calibri"/>
              <a:ea typeface="Calibri"/>
              <a:cs typeface="Calibri"/>
              <a:sym typeface="Calibri"/>
            </a:endParaRPr>
          </a:p>
        </p:txBody>
      </p:sp>
      <p:sp>
        <p:nvSpPr>
          <p:cNvPr id="212" name="Google Shape;212;p13"/>
          <p:cNvSpPr txBox="1"/>
          <p:nvPr/>
        </p:nvSpPr>
        <p:spPr>
          <a:xfrm>
            <a:off x="713232" y="2029968"/>
            <a:ext cx="106984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00"/>
              <a:buFont typeface="Consolas"/>
              <a:buNone/>
            </a:pPr>
            <a:r>
              <a:rPr b="0" i="0" lang="en-US" sz="900" u="none" cap="none" strike="noStrike">
                <a:solidFill>
                  <a:srgbClr val="4D5763"/>
                </a:solidFill>
                <a:latin typeface="Consolas"/>
                <a:ea typeface="Consolas"/>
                <a:cs typeface="Consolas"/>
                <a:sym typeface="Consolas"/>
              </a:rPr>
              <a:t>SERVIR-AI/global-platform · Servir-Mekong/hydra-floods · lhasa · rat_mekong · SERVIR/flood_mapping_intercomparison · fierpy · RHEAS · HIWAT · hiwat_model_viewer · ClimateSERV2 · ClimateSERVpy · rendvi · RX_fires · SMAP_ETL · SERVIRSEA/mrc_ffgs · airquality_backend · pyregence/pyregence · pyretechnics · gridfire · geosync</a:t>
            </a:r>
            <a:endParaRPr b="0" i="0" sz="900" u="none" cap="none" strike="noStrike">
              <a:solidFill>
                <a:schemeClr val="dk1"/>
              </a:solidFill>
              <a:latin typeface="Calibri"/>
              <a:ea typeface="Calibri"/>
              <a:cs typeface="Calibri"/>
              <a:sym typeface="Calibri"/>
            </a:endParaRPr>
          </a:p>
        </p:txBody>
      </p:sp>
      <p:sp>
        <p:nvSpPr>
          <p:cNvPr id="213" name="Google Shape;213;p13"/>
          <p:cNvSpPr/>
          <p:nvPr/>
        </p:nvSpPr>
        <p:spPr>
          <a:xfrm>
            <a:off x="502920" y="3182112"/>
            <a:ext cx="11155680" cy="1051560"/>
          </a:xfrm>
          <a:prstGeom prst="roundRect">
            <a:avLst>
              <a:gd fmla="val 5217" name="adj"/>
            </a:avLst>
          </a:prstGeom>
          <a:solidFill>
            <a:srgbClr val="FFFFFF"/>
          </a:solidFill>
          <a:ln cap="flat" cmpd="sng" w="15875">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3"/>
          <p:cNvSpPr txBox="1"/>
          <p:nvPr/>
        </p:nvSpPr>
        <p:spPr>
          <a:xfrm>
            <a:off x="713232" y="3291840"/>
            <a:ext cx="10698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F3D"/>
              </a:buClr>
              <a:buSzPts val="1300"/>
              <a:buFont typeface="Calibri"/>
              <a:buNone/>
            </a:pPr>
            <a:r>
              <a:rPr b="1" i="0" lang="en-US" sz="1300" u="none" cap="none" strike="noStrike">
                <a:solidFill>
                  <a:srgbClr val="91AF3D"/>
                </a:solidFill>
                <a:latin typeface="Calibri"/>
                <a:ea typeface="Calibri"/>
                <a:cs typeface="Calibri"/>
                <a:sym typeface="Calibri"/>
              </a:rPr>
              <a:t>Food Security (§05) — 7</a:t>
            </a:r>
            <a:endParaRPr b="0" i="0" sz="1300" u="none" cap="none" strike="noStrike">
              <a:solidFill>
                <a:schemeClr val="dk1"/>
              </a:solidFill>
              <a:latin typeface="Calibri"/>
              <a:ea typeface="Calibri"/>
              <a:cs typeface="Calibri"/>
              <a:sym typeface="Calibri"/>
            </a:endParaRPr>
          </a:p>
        </p:txBody>
      </p:sp>
      <p:sp>
        <p:nvSpPr>
          <p:cNvPr id="215" name="Google Shape;215;p13"/>
          <p:cNvSpPr txBox="1"/>
          <p:nvPr/>
        </p:nvSpPr>
        <p:spPr>
          <a:xfrm>
            <a:off x="713232" y="3566160"/>
            <a:ext cx="106984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00"/>
              <a:buFont typeface="Consolas"/>
              <a:buNone/>
            </a:pPr>
            <a:r>
              <a:rPr b="0" i="0" lang="en-US" sz="900" u="none" cap="none" strike="noStrike">
                <a:solidFill>
                  <a:srgbClr val="4D5763"/>
                </a:solidFill>
                <a:latin typeface="Consolas"/>
                <a:ea typeface="Consolas"/>
                <a:cs typeface="Consolas"/>
                <a:sym typeface="Consolas"/>
              </a:rPr>
              <a:t>SERVIR/servir-aces · dssat_service · DssatWeb · ml_crop_yield_training · WENDOU · Servir-Mekong/Drought-And-Crop-Yield · SERVIRSEA/cashew</a:t>
            </a:r>
            <a:endParaRPr b="0" i="0" sz="900" u="none" cap="none" strike="noStrike">
              <a:solidFill>
                <a:schemeClr val="dk1"/>
              </a:solidFill>
              <a:latin typeface="Calibri"/>
              <a:ea typeface="Calibri"/>
              <a:cs typeface="Calibri"/>
              <a:sym typeface="Calibri"/>
            </a:endParaRPr>
          </a:p>
        </p:txBody>
      </p:sp>
      <p:sp>
        <p:nvSpPr>
          <p:cNvPr id="216" name="Google Shape;216;p13"/>
          <p:cNvSpPr/>
          <p:nvPr/>
        </p:nvSpPr>
        <p:spPr>
          <a:xfrm>
            <a:off x="502920" y="4398264"/>
            <a:ext cx="11155680" cy="1051560"/>
          </a:xfrm>
          <a:prstGeom prst="roundRect">
            <a:avLst>
              <a:gd fmla="val 5217" name="adj"/>
            </a:avLst>
          </a:prstGeom>
          <a:solidFill>
            <a:srgbClr val="FFFFFF"/>
          </a:solidFill>
          <a:ln cap="flat" cmpd="sng" w="1587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3"/>
          <p:cNvSpPr txBox="1"/>
          <p:nvPr/>
        </p:nvSpPr>
        <p:spPr>
          <a:xfrm>
            <a:off x="713232" y="4507992"/>
            <a:ext cx="10698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B52"/>
              </a:buClr>
              <a:buSzPts val="1300"/>
              <a:buFont typeface="Calibri"/>
              <a:buNone/>
            </a:pPr>
            <a:r>
              <a:rPr b="1" i="0" lang="en-US" sz="1300" u="none" cap="none" strike="noStrike">
                <a:solidFill>
                  <a:srgbClr val="1F6B52"/>
                </a:solidFill>
                <a:latin typeface="Calibri"/>
                <a:ea typeface="Calibri"/>
                <a:cs typeface="Calibri"/>
                <a:sym typeface="Calibri"/>
              </a:rPr>
              <a:t>NRM / LCEM (§06) — 14</a:t>
            </a:r>
            <a:endParaRPr b="0" i="0" sz="1300" u="none" cap="none" strike="noStrike">
              <a:solidFill>
                <a:schemeClr val="dk1"/>
              </a:solidFill>
              <a:latin typeface="Calibri"/>
              <a:ea typeface="Calibri"/>
              <a:cs typeface="Calibri"/>
              <a:sym typeface="Calibri"/>
            </a:endParaRPr>
          </a:p>
        </p:txBody>
      </p:sp>
      <p:sp>
        <p:nvSpPr>
          <p:cNvPr id="218" name="Google Shape;218;p13"/>
          <p:cNvSpPr txBox="1"/>
          <p:nvPr/>
        </p:nvSpPr>
        <p:spPr>
          <a:xfrm>
            <a:off x="713232" y="4782312"/>
            <a:ext cx="106984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00"/>
              <a:buFont typeface="Consolas"/>
              <a:buNone/>
            </a:pPr>
            <a:r>
              <a:rPr b="0" i="0" lang="en-US" sz="900" u="none" cap="none" strike="noStrike">
                <a:solidFill>
                  <a:srgbClr val="4D5763"/>
                </a:solidFill>
                <a:latin typeface="Consolas"/>
                <a:ea typeface="Consolas"/>
                <a:cs typeface="Consolas"/>
                <a:sym typeface="Consolas"/>
              </a:rPr>
              <a:t>SERVIR-Amazonia/comimo · rami-peru · VegMapper · MANGLEE · SERVIR/RLCMS · Servir-Mekong/rlcms · landcoverPortal · SARFD · GPL_forest_alert_model · SERVIR/galamsey · guyana-mangrove-app · GuyanaMangrovesWebApp · SERVIRSEA/sentinel-tree-cover · Claynge</a:t>
            </a:r>
            <a:endParaRPr b="0" i="0" sz="900" u="none" cap="none" strike="noStrike">
              <a:solidFill>
                <a:schemeClr val="dk1"/>
              </a:solidFill>
              <a:latin typeface="Calibri"/>
              <a:ea typeface="Calibri"/>
              <a:cs typeface="Calibri"/>
              <a:sym typeface="Calibri"/>
            </a:endParaRPr>
          </a:p>
        </p:txBody>
      </p:sp>
      <p:sp>
        <p:nvSpPr>
          <p:cNvPr id="219" name="Google Shape;219;p13"/>
          <p:cNvSpPr/>
          <p:nvPr/>
        </p:nvSpPr>
        <p:spPr>
          <a:xfrm>
            <a:off x="502920" y="5257800"/>
            <a:ext cx="11155680" cy="960120"/>
          </a:xfrm>
          <a:prstGeom prst="roundRect">
            <a:avLst>
              <a:gd fmla="val 5714" name="adj"/>
            </a:avLst>
          </a:prstGeom>
          <a:solidFill>
            <a:srgbClr val="F7E8E8"/>
          </a:solidFill>
          <a:ln cap="flat" cmpd="sng" w="12700">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3"/>
          <p:cNvSpPr txBox="1"/>
          <p:nvPr/>
        </p:nvSpPr>
        <p:spPr>
          <a:xfrm>
            <a:off x="713232" y="5349240"/>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Three findings beyond the counts.  </a:t>
            </a:r>
            <a:r>
              <a:rPr b="0" i="0" lang="en-US" sz="1150" u="none" cap="none" strike="noStrike">
                <a:solidFill>
                  <a:srgbClr val="4D5763"/>
                </a:solidFill>
                <a:latin typeface="Calibri"/>
                <a:ea typeface="Calibri"/>
                <a:cs typeface="Calibri"/>
                <a:sym typeface="Calibri"/>
              </a:rPr>
              <a:t>Only ~6 repos across the two largest hub orgs show 2025–26 activity — this is archaeology as much as migration. sentinel-1-pipeline exists in two orgs (Mekong copy already archived). And pyregence/geoserver and SERVIRSEA/sentinel-tree-cover need provenance checked before being treated as first-party code.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4"/>
          <p:cNvSpPr/>
          <p:nvPr/>
        </p:nvSpPr>
        <p:spPr>
          <a:xfrm>
            <a:off x="0" y="0"/>
            <a:ext cx="12161520" cy="6858000"/>
          </a:xfrm>
          <a:prstGeom prst="rect">
            <a:avLst/>
          </a:prstGeom>
          <a:solidFill>
            <a:srgbClr val="1C21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4"/>
          <p:cNvSpPr/>
          <p:nvPr/>
        </p:nvSpPr>
        <p:spPr>
          <a:xfrm>
            <a:off x="9509760" y="-1280160"/>
            <a:ext cx="4754880" cy="4754880"/>
          </a:xfrm>
          <a:prstGeom prst="ellipse">
            <a:avLst/>
          </a:prstGeom>
          <a:solidFill>
            <a:srgbClr val="1A6389">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4"/>
          <p:cNvSpPr txBox="1"/>
          <p:nvPr/>
        </p:nvSpPr>
        <p:spPr>
          <a:xfrm>
            <a:off x="822960" y="228600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D8C8"/>
              </a:buClr>
              <a:buSzPts val="1500"/>
              <a:buFont typeface="Consolas"/>
              <a:buNone/>
            </a:pPr>
            <a:r>
              <a:rPr b="0" i="0" lang="en-US" sz="1500" u="none" cap="none" strike="noStrike">
                <a:solidFill>
                  <a:srgbClr val="7CD8C8"/>
                </a:solidFill>
                <a:latin typeface="Consolas"/>
                <a:ea typeface="Consolas"/>
                <a:cs typeface="Consolas"/>
                <a:sym typeface="Consolas"/>
              </a:rPr>
              <a:t>03</a:t>
            </a:r>
            <a:endParaRPr b="0" i="0" sz="1500" u="none" cap="none" strike="noStrike">
              <a:solidFill>
                <a:schemeClr val="dk1"/>
              </a:solidFill>
              <a:latin typeface="Calibri"/>
              <a:ea typeface="Calibri"/>
              <a:cs typeface="Calibri"/>
              <a:sym typeface="Calibri"/>
            </a:endParaRPr>
          </a:p>
        </p:txBody>
      </p:sp>
      <p:sp>
        <p:nvSpPr>
          <p:cNvPr id="229" name="Google Shape;229;p14"/>
          <p:cNvSpPr txBox="1"/>
          <p:nvPr/>
        </p:nvSpPr>
        <p:spPr>
          <a:xfrm>
            <a:off x="822960" y="2743200"/>
            <a:ext cx="96012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Roboto Condensed"/>
              <a:buNone/>
            </a:pPr>
            <a:r>
              <a:rPr b="1" i="0" lang="en-US" sz="4000" u="none" cap="none" strike="noStrike">
                <a:solidFill>
                  <a:srgbClr val="FFFFFF"/>
                </a:solidFill>
                <a:latin typeface="Roboto Condensed"/>
                <a:ea typeface="Roboto Condensed"/>
                <a:cs typeface="Roboto Condensed"/>
                <a:sym typeface="Roboto Condensed"/>
              </a:rPr>
              <a:t>GeoAI Strategy Alignment</a:t>
            </a:r>
            <a:endParaRPr b="0" i="0" sz="4000" u="none" cap="none" strike="noStrike">
              <a:solidFill>
                <a:schemeClr val="dk1"/>
              </a:solidFill>
              <a:latin typeface="Calibri"/>
              <a:ea typeface="Calibri"/>
              <a:cs typeface="Calibri"/>
              <a:sym typeface="Calibri"/>
            </a:endParaRPr>
          </a:p>
        </p:txBody>
      </p:sp>
      <p:sp>
        <p:nvSpPr>
          <p:cNvPr id="230" name="Google Shape;230;p14"/>
          <p:cNvSpPr txBox="1"/>
          <p:nvPr/>
        </p:nvSpPr>
        <p:spPr>
          <a:xfrm>
            <a:off x="822960" y="3840480"/>
            <a:ext cx="87782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D6E6"/>
              </a:buClr>
              <a:buSzPts val="1500"/>
              <a:buFont typeface="Calibri"/>
              <a:buNone/>
            </a:pPr>
            <a:r>
              <a:rPr b="0" i="0" lang="en-US" sz="1500" u="none" cap="none" strike="noStrike">
                <a:solidFill>
                  <a:srgbClr val="C4D6E6"/>
                </a:solidFill>
                <a:latin typeface="Calibri"/>
                <a:ea typeface="Calibri"/>
                <a:cs typeface="Calibri"/>
                <a:sym typeface="Calibri"/>
              </a:rPr>
              <a:t>Six design principles and six strategic pillars — restated as the checklist each platform section is built against.</a:t>
            </a:r>
            <a:endParaRPr b="0" i="0" sz="1500" u="none" cap="none" strike="noStrike">
              <a:solidFill>
                <a:schemeClr val="dk1"/>
              </a:solidFill>
              <a:latin typeface="Calibri"/>
              <a:ea typeface="Calibri"/>
              <a:cs typeface="Calibri"/>
              <a:sym typeface="Calibri"/>
            </a:endParaRPr>
          </a:p>
        </p:txBody>
      </p:sp>
      <p:sp>
        <p:nvSpPr>
          <p:cNvPr id="231" name="Google Shape;231;p14"/>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8CA8"/>
              </a:buClr>
              <a:buSzPts val="800"/>
              <a:buFont typeface="Consolas"/>
              <a:buNone/>
            </a:pPr>
            <a:r>
              <a:rPr b="0" i="0" lang="en-US" sz="800" u="none" cap="none" strike="noStrike">
                <a:solidFill>
                  <a:srgbClr val="6E8CA8"/>
                </a:solidFill>
                <a:latin typeface="Consolas"/>
                <a:ea typeface="Consolas"/>
                <a:cs typeface="Consolas"/>
                <a:sym typeface="Consolas"/>
              </a:rPr>
              <a:t>10</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5"/>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Six design principles</a:t>
            </a:r>
            <a:endParaRPr b="0" i="0" sz="3000" u="none" cap="none" strike="noStrike">
              <a:solidFill>
                <a:schemeClr val="dk1"/>
              </a:solidFill>
              <a:latin typeface="Calibri"/>
              <a:ea typeface="Calibri"/>
              <a:cs typeface="Calibri"/>
              <a:sym typeface="Calibri"/>
            </a:endParaRPr>
          </a:p>
        </p:txBody>
      </p:sp>
      <p:sp>
        <p:nvSpPr>
          <p:cNvPr id="238" name="Google Shape;238;p15"/>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239" name="Google Shape;239;p15"/>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11</a:t>
            </a:r>
            <a:endParaRPr b="0" i="0" sz="800" u="none" cap="none" strike="noStrike">
              <a:solidFill>
                <a:schemeClr val="dk1"/>
              </a:solidFill>
              <a:latin typeface="Calibri"/>
              <a:ea typeface="Calibri"/>
              <a:cs typeface="Calibri"/>
              <a:sym typeface="Calibri"/>
            </a:endParaRPr>
          </a:p>
        </p:txBody>
      </p:sp>
      <p:sp>
        <p:nvSpPr>
          <p:cNvPr id="240" name="Google Shape;240;p15"/>
          <p:cNvSpPr/>
          <p:nvPr/>
        </p:nvSpPr>
        <p:spPr>
          <a:xfrm>
            <a:off x="548640" y="1645920"/>
            <a:ext cx="3553968" cy="1325880"/>
          </a:xfrm>
          <a:prstGeom prst="roundRect">
            <a:avLst>
              <a:gd fmla="val 4138"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5"/>
          <p:cNvSpPr txBox="1"/>
          <p:nvPr/>
        </p:nvSpPr>
        <p:spPr>
          <a:xfrm>
            <a:off x="749808" y="1773936"/>
            <a:ext cx="31516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01</a:t>
            </a:r>
            <a:endParaRPr b="0" i="0" sz="850" u="none" cap="none" strike="noStrike">
              <a:solidFill>
                <a:schemeClr val="dk1"/>
              </a:solidFill>
              <a:latin typeface="Calibri"/>
              <a:ea typeface="Calibri"/>
              <a:cs typeface="Calibri"/>
              <a:sym typeface="Calibri"/>
            </a:endParaRPr>
          </a:p>
        </p:txBody>
      </p:sp>
      <p:sp>
        <p:nvSpPr>
          <p:cNvPr id="242" name="Google Shape;242;p15"/>
          <p:cNvSpPr txBox="1"/>
          <p:nvPr/>
        </p:nvSpPr>
        <p:spPr>
          <a:xfrm>
            <a:off x="749808" y="1975104"/>
            <a:ext cx="3151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Bottom-up, case-driven</a:t>
            </a:r>
            <a:endParaRPr b="0" i="0" sz="1350" u="none" cap="none" strike="noStrike">
              <a:solidFill>
                <a:schemeClr val="dk1"/>
              </a:solidFill>
              <a:latin typeface="Calibri"/>
              <a:ea typeface="Calibri"/>
              <a:cs typeface="Calibri"/>
              <a:sym typeface="Calibri"/>
            </a:endParaRPr>
          </a:p>
        </p:txBody>
      </p:sp>
      <p:sp>
        <p:nvSpPr>
          <p:cNvPr id="243" name="Google Shape;243;p15"/>
          <p:cNvSpPr txBox="1"/>
          <p:nvPr/>
        </p:nvSpPr>
        <p:spPr>
          <a:xfrm>
            <a:off x="749808" y="2249424"/>
            <a:ext cx="315163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Capabilities start from a real case a hub already has — not a capability roadmap handed down centrally.</a:t>
            </a:r>
            <a:endParaRPr b="0" i="0" sz="1050" u="none" cap="none" strike="noStrike">
              <a:solidFill>
                <a:schemeClr val="dk1"/>
              </a:solidFill>
              <a:latin typeface="Calibri"/>
              <a:ea typeface="Calibri"/>
              <a:cs typeface="Calibri"/>
              <a:sym typeface="Calibri"/>
            </a:endParaRPr>
          </a:p>
        </p:txBody>
      </p:sp>
      <p:sp>
        <p:nvSpPr>
          <p:cNvPr id="244" name="Google Shape;244;p15"/>
          <p:cNvSpPr/>
          <p:nvPr/>
        </p:nvSpPr>
        <p:spPr>
          <a:xfrm>
            <a:off x="4303776" y="1645920"/>
            <a:ext cx="3553968" cy="1325880"/>
          </a:xfrm>
          <a:prstGeom prst="roundRect">
            <a:avLst>
              <a:gd fmla="val 4138"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
          <p:cNvSpPr txBox="1"/>
          <p:nvPr/>
        </p:nvSpPr>
        <p:spPr>
          <a:xfrm>
            <a:off x="4504944" y="1773936"/>
            <a:ext cx="31516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02</a:t>
            </a:r>
            <a:endParaRPr b="0" i="0" sz="850" u="none" cap="none" strike="noStrike">
              <a:solidFill>
                <a:schemeClr val="dk1"/>
              </a:solidFill>
              <a:latin typeface="Calibri"/>
              <a:ea typeface="Calibri"/>
              <a:cs typeface="Calibri"/>
              <a:sym typeface="Calibri"/>
            </a:endParaRPr>
          </a:p>
        </p:txBody>
      </p:sp>
      <p:sp>
        <p:nvSpPr>
          <p:cNvPr id="246" name="Google Shape;246;p15"/>
          <p:cNvSpPr txBox="1"/>
          <p:nvPr/>
        </p:nvSpPr>
        <p:spPr>
          <a:xfrm>
            <a:off x="4504944" y="1975104"/>
            <a:ext cx="3151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Replication &amp; transferability</a:t>
            </a:r>
            <a:endParaRPr b="0" i="0" sz="1350" u="none" cap="none" strike="noStrike">
              <a:solidFill>
                <a:schemeClr val="dk1"/>
              </a:solidFill>
              <a:latin typeface="Calibri"/>
              <a:ea typeface="Calibri"/>
              <a:cs typeface="Calibri"/>
              <a:sym typeface="Calibri"/>
            </a:endParaRPr>
          </a:p>
        </p:txBody>
      </p:sp>
      <p:sp>
        <p:nvSpPr>
          <p:cNvPr id="247" name="Google Shape;247;p15"/>
          <p:cNvSpPr txBox="1"/>
          <p:nvPr/>
        </p:nvSpPr>
        <p:spPr>
          <a:xfrm>
            <a:off x="4504944" y="2249424"/>
            <a:ext cx="315163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A model built for one region is designed from the start to be recalibrated for another, not rebuilt.</a:t>
            </a:r>
            <a:endParaRPr b="0" i="0" sz="1050" u="none" cap="none" strike="noStrike">
              <a:solidFill>
                <a:schemeClr val="dk1"/>
              </a:solidFill>
              <a:latin typeface="Calibri"/>
              <a:ea typeface="Calibri"/>
              <a:cs typeface="Calibri"/>
              <a:sym typeface="Calibri"/>
            </a:endParaRPr>
          </a:p>
        </p:txBody>
      </p:sp>
      <p:sp>
        <p:nvSpPr>
          <p:cNvPr id="248" name="Google Shape;248;p15"/>
          <p:cNvSpPr/>
          <p:nvPr/>
        </p:nvSpPr>
        <p:spPr>
          <a:xfrm>
            <a:off x="8058912" y="1645920"/>
            <a:ext cx="3553968" cy="1325880"/>
          </a:xfrm>
          <a:prstGeom prst="roundRect">
            <a:avLst>
              <a:gd fmla="val 4138"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
          <p:cNvSpPr txBox="1"/>
          <p:nvPr/>
        </p:nvSpPr>
        <p:spPr>
          <a:xfrm>
            <a:off x="8260080" y="1773936"/>
            <a:ext cx="31516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03</a:t>
            </a:r>
            <a:endParaRPr b="0" i="0" sz="850" u="none" cap="none" strike="noStrike">
              <a:solidFill>
                <a:schemeClr val="dk1"/>
              </a:solidFill>
              <a:latin typeface="Calibri"/>
              <a:ea typeface="Calibri"/>
              <a:cs typeface="Calibri"/>
              <a:sym typeface="Calibri"/>
            </a:endParaRPr>
          </a:p>
        </p:txBody>
      </p:sp>
      <p:sp>
        <p:nvSpPr>
          <p:cNvPr id="250" name="Google Shape;250;p15"/>
          <p:cNvSpPr txBox="1"/>
          <p:nvPr/>
        </p:nvSpPr>
        <p:spPr>
          <a:xfrm>
            <a:off x="8260080" y="1975104"/>
            <a:ext cx="3151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Open &amp; FAIR science</a:t>
            </a:r>
            <a:endParaRPr b="0" i="0" sz="1350" u="none" cap="none" strike="noStrike">
              <a:solidFill>
                <a:schemeClr val="dk1"/>
              </a:solidFill>
              <a:latin typeface="Calibri"/>
              <a:ea typeface="Calibri"/>
              <a:cs typeface="Calibri"/>
              <a:sym typeface="Calibri"/>
            </a:endParaRPr>
          </a:p>
        </p:txBody>
      </p:sp>
      <p:sp>
        <p:nvSpPr>
          <p:cNvPr id="251" name="Google Shape;251;p15"/>
          <p:cNvSpPr txBox="1"/>
          <p:nvPr/>
        </p:nvSpPr>
        <p:spPr>
          <a:xfrm>
            <a:off x="8260080" y="2249424"/>
            <a:ext cx="315163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Data and models publish through Source Cooperative and open standards, not siloed stores.</a:t>
            </a:r>
            <a:endParaRPr b="0" i="0" sz="1050" u="none" cap="none" strike="noStrike">
              <a:solidFill>
                <a:schemeClr val="dk1"/>
              </a:solidFill>
              <a:latin typeface="Calibri"/>
              <a:ea typeface="Calibri"/>
              <a:cs typeface="Calibri"/>
              <a:sym typeface="Calibri"/>
            </a:endParaRPr>
          </a:p>
        </p:txBody>
      </p:sp>
      <p:sp>
        <p:nvSpPr>
          <p:cNvPr id="252" name="Google Shape;252;p15"/>
          <p:cNvSpPr/>
          <p:nvPr/>
        </p:nvSpPr>
        <p:spPr>
          <a:xfrm>
            <a:off x="548640" y="3172968"/>
            <a:ext cx="3553968" cy="1325880"/>
          </a:xfrm>
          <a:prstGeom prst="roundRect">
            <a:avLst>
              <a:gd fmla="val 4138"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
          <p:cNvSpPr txBox="1"/>
          <p:nvPr/>
        </p:nvSpPr>
        <p:spPr>
          <a:xfrm>
            <a:off x="749808" y="3300984"/>
            <a:ext cx="31516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04</a:t>
            </a:r>
            <a:endParaRPr b="0" i="0" sz="850" u="none" cap="none" strike="noStrike">
              <a:solidFill>
                <a:schemeClr val="dk1"/>
              </a:solidFill>
              <a:latin typeface="Calibri"/>
              <a:ea typeface="Calibri"/>
              <a:cs typeface="Calibri"/>
              <a:sym typeface="Calibri"/>
            </a:endParaRPr>
          </a:p>
        </p:txBody>
      </p:sp>
      <p:sp>
        <p:nvSpPr>
          <p:cNvPr id="254" name="Google Shape;254;p15"/>
          <p:cNvSpPr txBox="1"/>
          <p:nvPr/>
        </p:nvSpPr>
        <p:spPr>
          <a:xfrm>
            <a:off x="749808" y="3502152"/>
            <a:ext cx="3151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Human-centered design</a:t>
            </a:r>
            <a:endParaRPr b="0" i="0" sz="1350" u="none" cap="none" strike="noStrike">
              <a:solidFill>
                <a:schemeClr val="dk1"/>
              </a:solidFill>
              <a:latin typeface="Calibri"/>
              <a:ea typeface="Calibri"/>
              <a:cs typeface="Calibri"/>
              <a:sym typeface="Calibri"/>
            </a:endParaRPr>
          </a:p>
        </p:txBody>
      </p:sp>
      <p:sp>
        <p:nvSpPr>
          <p:cNvPr id="255" name="Google Shape;255;p15"/>
          <p:cNvSpPr txBox="1"/>
          <p:nvPr/>
        </p:nvSpPr>
        <p:spPr>
          <a:xfrm>
            <a:off x="749808" y="3776472"/>
            <a:ext cx="315163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Practitioners shape the workflow; the model serves a decision a person already needs to make.</a:t>
            </a:r>
            <a:endParaRPr b="0" i="0" sz="1050" u="none" cap="none" strike="noStrike">
              <a:solidFill>
                <a:schemeClr val="dk1"/>
              </a:solidFill>
              <a:latin typeface="Calibri"/>
              <a:ea typeface="Calibri"/>
              <a:cs typeface="Calibri"/>
              <a:sym typeface="Calibri"/>
            </a:endParaRPr>
          </a:p>
        </p:txBody>
      </p:sp>
      <p:sp>
        <p:nvSpPr>
          <p:cNvPr id="256" name="Google Shape;256;p15"/>
          <p:cNvSpPr/>
          <p:nvPr/>
        </p:nvSpPr>
        <p:spPr>
          <a:xfrm>
            <a:off x="4303776" y="3172968"/>
            <a:ext cx="3553968" cy="1325880"/>
          </a:xfrm>
          <a:prstGeom prst="roundRect">
            <a:avLst>
              <a:gd fmla="val 4138"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5"/>
          <p:cNvSpPr txBox="1"/>
          <p:nvPr/>
        </p:nvSpPr>
        <p:spPr>
          <a:xfrm>
            <a:off x="4504944" y="3300984"/>
            <a:ext cx="31516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05</a:t>
            </a:r>
            <a:endParaRPr b="0" i="0" sz="850" u="none" cap="none" strike="noStrike">
              <a:solidFill>
                <a:schemeClr val="dk1"/>
              </a:solidFill>
              <a:latin typeface="Calibri"/>
              <a:ea typeface="Calibri"/>
              <a:cs typeface="Calibri"/>
              <a:sym typeface="Calibri"/>
            </a:endParaRPr>
          </a:p>
        </p:txBody>
      </p:sp>
      <p:sp>
        <p:nvSpPr>
          <p:cNvPr id="258" name="Google Shape;258;p15"/>
          <p:cNvSpPr txBox="1"/>
          <p:nvPr/>
        </p:nvSpPr>
        <p:spPr>
          <a:xfrm>
            <a:off x="4504944" y="3502152"/>
            <a:ext cx="3151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Ethical &amp; responsible AI</a:t>
            </a:r>
            <a:endParaRPr b="0" i="0" sz="1350" u="none" cap="none" strike="noStrike">
              <a:solidFill>
                <a:schemeClr val="dk1"/>
              </a:solidFill>
              <a:latin typeface="Calibri"/>
              <a:ea typeface="Calibri"/>
              <a:cs typeface="Calibri"/>
              <a:sym typeface="Calibri"/>
            </a:endParaRPr>
          </a:p>
        </p:txBody>
      </p:sp>
      <p:sp>
        <p:nvSpPr>
          <p:cNvPr id="259" name="Google Shape;259;p15"/>
          <p:cNvSpPr txBox="1"/>
          <p:nvPr/>
        </p:nvSpPr>
        <p:spPr>
          <a:xfrm>
            <a:off x="4504944" y="3776472"/>
            <a:ext cx="315163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Groundedness gates, receipts and regional-sensitivity review are load-bearing, not late add-ons.</a:t>
            </a:r>
            <a:endParaRPr b="0" i="0" sz="1050" u="none" cap="none" strike="noStrike">
              <a:solidFill>
                <a:schemeClr val="dk1"/>
              </a:solidFill>
              <a:latin typeface="Calibri"/>
              <a:ea typeface="Calibri"/>
              <a:cs typeface="Calibri"/>
              <a:sym typeface="Calibri"/>
            </a:endParaRPr>
          </a:p>
        </p:txBody>
      </p:sp>
      <p:sp>
        <p:nvSpPr>
          <p:cNvPr id="260" name="Google Shape;260;p15"/>
          <p:cNvSpPr/>
          <p:nvPr/>
        </p:nvSpPr>
        <p:spPr>
          <a:xfrm>
            <a:off x="8058912" y="3172968"/>
            <a:ext cx="3553968" cy="1325880"/>
          </a:xfrm>
          <a:prstGeom prst="roundRect">
            <a:avLst>
              <a:gd fmla="val 4138"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
          <p:cNvSpPr txBox="1"/>
          <p:nvPr/>
        </p:nvSpPr>
        <p:spPr>
          <a:xfrm>
            <a:off x="8260080" y="3300984"/>
            <a:ext cx="31516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06</a:t>
            </a:r>
            <a:endParaRPr b="0" i="0" sz="850" u="none" cap="none" strike="noStrike">
              <a:solidFill>
                <a:schemeClr val="dk1"/>
              </a:solidFill>
              <a:latin typeface="Calibri"/>
              <a:ea typeface="Calibri"/>
              <a:cs typeface="Calibri"/>
              <a:sym typeface="Calibri"/>
            </a:endParaRPr>
          </a:p>
        </p:txBody>
      </p:sp>
      <p:sp>
        <p:nvSpPr>
          <p:cNvPr id="262" name="Google Shape;262;p15"/>
          <p:cNvSpPr txBox="1"/>
          <p:nvPr/>
        </p:nvSpPr>
        <p:spPr>
          <a:xfrm>
            <a:off x="8260080" y="3502152"/>
            <a:ext cx="3151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Institutional capacity</a:t>
            </a:r>
            <a:endParaRPr b="0" i="0" sz="1350" u="none" cap="none" strike="noStrike">
              <a:solidFill>
                <a:schemeClr val="dk1"/>
              </a:solidFill>
              <a:latin typeface="Calibri"/>
              <a:ea typeface="Calibri"/>
              <a:cs typeface="Calibri"/>
              <a:sym typeface="Calibri"/>
            </a:endParaRPr>
          </a:p>
        </p:txBody>
      </p:sp>
      <p:sp>
        <p:nvSpPr>
          <p:cNvPr id="263" name="Google Shape;263;p15"/>
          <p:cNvSpPr txBox="1"/>
          <p:nvPr/>
        </p:nvSpPr>
        <p:spPr>
          <a:xfrm>
            <a:off x="8260080" y="3776472"/>
            <a:ext cx="315163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A hub that adopts a capability also gains the ability to maintain and extend it.</a:t>
            </a:r>
            <a:endParaRPr b="0" i="0" sz="1050" u="none" cap="none" strike="noStrike">
              <a:solidFill>
                <a:schemeClr val="dk1"/>
              </a:solidFill>
              <a:latin typeface="Calibri"/>
              <a:ea typeface="Calibri"/>
              <a:cs typeface="Calibri"/>
              <a:sym typeface="Calibri"/>
            </a:endParaRPr>
          </a:p>
        </p:txBody>
      </p:sp>
      <p:sp>
        <p:nvSpPr>
          <p:cNvPr id="264" name="Google Shape;264;p15"/>
          <p:cNvSpPr/>
          <p:nvPr/>
        </p:nvSpPr>
        <p:spPr>
          <a:xfrm>
            <a:off x="502920" y="4480560"/>
            <a:ext cx="11155680" cy="822960"/>
          </a:xfrm>
          <a:prstGeom prst="roundRect">
            <a:avLst>
              <a:gd fmla="val 6667"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
          <p:cNvSpPr txBox="1"/>
          <p:nvPr/>
        </p:nvSpPr>
        <p:spPr>
          <a:xfrm>
            <a:off x="713232" y="4572000"/>
            <a:ext cx="10789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Where these bind:  </a:t>
            </a:r>
            <a:r>
              <a:rPr b="0" i="0" lang="en-US" sz="1150" u="none" cap="none" strike="noStrike">
                <a:solidFill>
                  <a:srgbClr val="4D5763"/>
                </a:solidFill>
                <a:latin typeface="Calibri"/>
                <a:ea typeface="Calibri"/>
                <a:cs typeface="Calibri"/>
                <a:sym typeface="Calibri"/>
              </a:rPr>
              <a:t>Principle 05 becomes the confidence enum in every contract (E1/F1/N1). Principle 02 becomes the hub-override design in Decision #18. Principle 06 becomes the 19 capacity-material repos in §02, routed to a training archive rather than the gateway.</a:t>
            </a:r>
            <a:endParaRPr b="0" i="0" sz="1150" u="none" cap="none" strike="noStrike">
              <a:solidFill>
                <a:schemeClr val="dk1"/>
              </a:solidFill>
              <a:latin typeface="Calibri"/>
              <a:ea typeface="Calibri"/>
              <a:cs typeface="Calibri"/>
              <a:sym typeface="Calibri"/>
            </a:endParaRPr>
          </a:p>
        </p:txBody>
      </p:sp>
      <p:sp>
        <p:nvSpPr>
          <p:cNvPr id="266" name="Google Shape;266;p15"/>
          <p:cNvSpPr txBox="1"/>
          <p:nvPr/>
        </p:nvSpPr>
        <p:spPr>
          <a:xfrm>
            <a:off x="548640" y="5440680"/>
            <a:ext cx="11064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00"/>
              <a:buFont typeface="Calibri"/>
              <a:buNone/>
            </a:pPr>
            <a:r>
              <a:rPr b="0" i="1" lang="en-US" sz="1100" u="none" cap="none" strike="noStrike">
                <a:solidFill>
                  <a:srgbClr val="4D5763"/>
                </a:solidFill>
                <a:latin typeface="Calibri"/>
                <a:ea typeface="Calibri"/>
                <a:cs typeface="Calibri"/>
                <a:sym typeface="Calibri"/>
              </a:rPr>
              <a:t>Six strategic pillars: bottom-up domain-grounded development · transferability &amp; shared tech ecosystem · operational integration · open science · human capital · infrastructure &amp; compute sustainability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6"/>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Shared technology stack, governance, and the capacity ladder</a:t>
            </a:r>
            <a:endParaRPr b="0" i="0" sz="3000" u="none" cap="none" strike="noStrike">
              <a:solidFill>
                <a:schemeClr val="dk1"/>
              </a:solidFill>
              <a:latin typeface="Calibri"/>
              <a:ea typeface="Calibri"/>
              <a:cs typeface="Calibri"/>
              <a:sym typeface="Calibri"/>
            </a:endParaRPr>
          </a:p>
        </p:txBody>
      </p:sp>
      <p:sp>
        <p:nvSpPr>
          <p:cNvPr id="273" name="Google Shape;273;p16"/>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274" name="Google Shape;274;p16"/>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12</a:t>
            </a:r>
            <a:endParaRPr b="0" i="0" sz="800" u="none" cap="none" strike="noStrike">
              <a:solidFill>
                <a:schemeClr val="dk1"/>
              </a:solidFill>
              <a:latin typeface="Calibri"/>
              <a:ea typeface="Calibri"/>
              <a:cs typeface="Calibri"/>
              <a:sym typeface="Calibri"/>
            </a:endParaRPr>
          </a:p>
        </p:txBody>
      </p:sp>
      <p:graphicFrame>
        <p:nvGraphicFramePr>
          <p:cNvPr id="275" name="Google Shape;275;p16"/>
          <p:cNvGraphicFramePr/>
          <p:nvPr/>
        </p:nvGraphicFramePr>
        <p:xfrm>
          <a:off x="502920" y="1572768"/>
          <a:ext cx="3000000" cy="3000000"/>
        </p:xfrm>
        <a:graphic>
          <a:graphicData uri="http://schemas.openxmlformats.org/drawingml/2006/table">
            <a:tbl>
              <a:tblPr>
                <a:noFill/>
                <a:tableStyleId>{0B7ADE64-2C2D-4D68-BEA2-7A829558A485}</a:tableStyleId>
              </a:tblPr>
              <a:tblGrid>
                <a:gridCol w="2377450"/>
                <a:gridCol w="8778250"/>
              </a:tblGrid>
              <a:tr h="347475">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Layer</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Components</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r>
              <a:tr h="347475">
                <a:tc>
                  <a:txBody>
                    <a:bodyPr/>
                    <a:lstStyle/>
                    <a:p>
                      <a:pPr indent="0" lvl="0" marL="0" marR="0" rtl="0" algn="l">
                        <a:spcBef>
                          <a:spcPts val="0"/>
                        </a:spcBef>
                        <a:spcAft>
                          <a:spcPts val="0"/>
                        </a:spcAft>
                        <a:buClr>
                          <a:srgbClr val="1C212A"/>
                        </a:buClr>
                        <a:buSzPts val="1050"/>
                        <a:buFont typeface="Calibri"/>
                        <a:buNone/>
                      </a:pPr>
                      <a:r>
                        <a:rPr b="1" lang="en-US" sz="1050" u="none" cap="none" strike="noStrike">
                          <a:solidFill>
                            <a:srgbClr val="1C212A"/>
                          </a:solidFill>
                          <a:latin typeface="Calibri"/>
                          <a:ea typeface="Calibri"/>
                          <a:cs typeface="Calibri"/>
                          <a:sym typeface="Calibri"/>
                        </a:rPr>
                        <a:t>Foundation models</a:t>
                      </a:r>
                      <a:endParaRPr sz="10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50"/>
                        <a:buFont typeface="Calibri"/>
                        <a:buNone/>
                      </a:pPr>
                      <a:r>
                        <a:rPr lang="en-US" sz="1050" u="none" cap="none" strike="noStrike">
                          <a:solidFill>
                            <a:srgbClr val="1C212A"/>
                          </a:solidFill>
                          <a:latin typeface="Calibri"/>
                          <a:ea typeface="Calibri"/>
                          <a:cs typeface="Calibri"/>
                          <a:sym typeface="Calibri"/>
                        </a:rPr>
                        <a:t>Prithvi · DOFA · TerraMind · CROMA · OlmoEarth · Satlas · Tessera · Clay · AlphaEarth</a:t>
                      </a:r>
                      <a:endParaRPr sz="10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C212A"/>
                        </a:buClr>
                        <a:buSzPts val="1050"/>
                        <a:buFont typeface="Calibri"/>
                        <a:buNone/>
                      </a:pPr>
                      <a:r>
                        <a:rPr b="1" lang="en-US" sz="1050" u="none" cap="none" strike="noStrike">
                          <a:solidFill>
                            <a:srgbClr val="1C212A"/>
                          </a:solidFill>
                          <a:latin typeface="Calibri"/>
                          <a:ea typeface="Calibri"/>
                          <a:cs typeface="Calibri"/>
                          <a:sym typeface="Calibri"/>
                        </a:rPr>
                        <a:t>Tooling</a:t>
                      </a:r>
                      <a:endParaRPr sz="10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50"/>
                        <a:buFont typeface="Calibri"/>
                        <a:buNone/>
                      </a:pPr>
                      <a:r>
                        <a:rPr lang="en-US" sz="1050" u="none" cap="none" strike="noStrike">
                          <a:solidFill>
                            <a:srgbClr val="1C212A"/>
                          </a:solidFill>
                          <a:latin typeface="Calibri"/>
                          <a:ea typeface="Calibri"/>
                          <a:cs typeface="Calibri"/>
                          <a:sym typeface="Calibri"/>
                        </a:rPr>
                        <a:t>TorchGeo · TerraTorch · Raster Vision · eo-learn · PANGAEA</a:t>
                      </a:r>
                      <a:endParaRPr sz="10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347475">
                <a:tc>
                  <a:txBody>
                    <a:bodyPr/>
                    <a:lstStyle/>
                    <a:p>
                      <a:pPr indent="0" lvl="0" marL="0" marR="0" rtl="0" algn="l">
                        <a:spcBef>
                          <a:spcPts val="0"/>
                        </a:spcBef>
                        <a:spcAft>
                          <a:spcPts val="0"/>
                        </a:spcAft>
                        <a:buClr>
                          <a:srgbClr val="1C212A"/>
                        </a:buClr>
                        <a:buSzPts val="1050"/>
                        <a:buFont typeface="Calibri"/>
                        <a:buNone/>
                      </a:pPr>
                      <a:r>
                        <a:rPr b="1" lang="en-US" sz="1050" u="none" cap="none" strike="noStrike">
                          <a:solidFill>
                            <a:srgbClr val="1C212A"/>
                          </a:solidFill>
                          <a:latin typeface="Calibri"/>
                          <a:ea typeface="Calibri"/>
                          <a:cs typeface="Calibri"/>
                          <a:sym typeface="Calibri"/>
                        </a:rPr>
                        <a:t>Compute</a:t>
                      </a:r>
                      <a:endParaRPr sz="10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50"/>
                        <a:buFont typeface="Calibri"/>
                        <a:buNone/>
                      </a:pPr>
                      <a:r>
                        <a:rPr lang="en-US" sz="1050" u="none" cap="none" strike="noStrike">
                          <a:solidFill>
                            <a:srgbClr val="1C212A"/>
                          </a:solidFill>
                          <a:latin typeface="Calibri"/>
                          <a:ea typeface="Calibri"/>
                          <a:cs typeface="Calibri"/>
                          <a:sym typeface="Calibri"/>
                        </a:rPr>
                        <a:t>Hybrid: SIG's SOCRATES cluster + commercial core-3 (AWS / Google Cloud / Azure), chosen per workload</a:t>
                      </a:r>
                      <a:endParaRPr sz="10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C212A"/>
                        </a:buClr>
                        <a:buSzPts val="1050"/>
                        <a:buFont typeface="Calibri"/>
                        <a:buNone/>
                      </a:pPr>
                      <a:r>
                        <a:rPr b="1" lang="en-US" sz="1050" u="none" cap="none" strike="noStrike">
                          <a:solidFill>
                            <a:srgbClr val="1C212A"/>
                          </a:solidFill>
                          <a:latin typeface="Calibri"/>
                          <a:ea typeface="Calibri"/>
                          <a:cs typeface="Calibri"/>
                          <a:sym typeface="Calibri"/>
                        </a:rPr>
                        <a:t>Storage &amp; publication</a:t>
                      </a:r>
                      <a:endParaRPr sz="10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50"/>
                        <a:buFont typeface="Calibri"/>
                        <a:buNone/>
                      </a:pPr>
                      <a:r>
                        <a:rPr lang="en-US" sz="1050" u="none" cap="none" strike="noStrike">
                          <a:solidFill>
                            <a:srgbClr val="1C212A"/>
                          </a:solidFill>
                          <a:latin typeface="Calibri"/>
                          <a:ea typeface="Calibri"/>
                          <a:cs typeface="Calibri"/>
                          <a:sym typeface="Calibri"/>
                        </a:rPr>
                        <a:t>Source Cooperative, org instance source.coop/737847</a:t>
                      </a:r>
                      <a:endParaRPr sz="10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bl>
          </a:graphicData>
        </a:graphic>
      </p:graphicFrame>
      <p:sp>
        <p:nvSpPr>
          <p:cNvPr id="276" name="Google Shape;276;p16"/>
          <p:cNvSpPr txBox="1"/>
          <p:nvPr/>
        </p:nvSpPr>
        <p:spPr>
          <a:xfrm>
            <a:off x="502920" y="32004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500"/>
              <a:buFont typeface="Roboto Condensed"/>
              <a:buNone/>
            </a:pPr>
            <a:r>
              <a:rPr b="1" i="0" lang="en-US" sz="1500" u="none" cap="none" strike="noStrike">
                <a:solidFill>
                  <a:srgbClr val="1C212A"/>
                </a:solidFill>
                <a:latin typeface="Roboto Condensed"/>
                <a:ea typeface="Roboto Condensed"/>
                <a:cs typeface="Roboto Condensed"/>
                <a:sym typeface="Roboto Condensed"/>
              </a:rPr>
              <a:t>Governance carried into every agent</a:t>
            </a:r>
            <a:endParaRPr b="0" i="0" sz="1500" u="none" cap="none" strike="noStrike">
              <a:solidFill>
                <a:schemeClr val="dk1"/>
              </a:solidFill>
              <a:latin typeface="Calibri"/>
              <a:ea typeface="Calibri"/>
              <a:cs typeface="Calibri"/>
              <a:sym typeface="Calibri"/>
            </a:endParaRPr>
          </a:p>
        </p:txBody>
      </p:sp>
      <p:sp>
        <p:nvSpPr>
          <p:cNvPr id="277" name="Google Shape;277;p16"/>
          <p:cNvSpPr/>
          <p:nvPr/>
        </p:nvSpPr>
        <p:spPr>
          <a:xfrm>
            <a:off x="548640" y="3520440"/>
            <a:ext cx="3553968" cy="1051560"/>
          </a:xfrm>
          <a:prstGeom prst="roundRect">
            <a:avLst>
              <a:gd fmla="val 521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6"/>
          <p:cNvSpPr txBox="1"/>
          <p:nvPr/>
        </p:nvSpPr>
        <p:spPr>
          <a:xfrm>
            <a:off x="749808" y="3685032"/>
            <a:ext cx="3151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Post-processing style agent</a:t>
            </a:r>
            <a:endParaRPr b="0" i="0" sz="1350" u="none" cap="none" strike="noStrike">
              <a:solidFill>
                <a:schemeClr val="dk1"/>
              </a:solidFill>
              <a:latin typeface="Calibri"/>
              <a:ea typeface="Calibri"/>
              <a:cs typeface="Calibri"/>
              <a:sym typeface="Calibri"/>
            </a:endParaRPr>
          </a:p>
        </p:txBody>
      </p:sp>
      <p:sp>
        <p:nvSpPr>
          <p:cNvPr id="279" name="Google Shape;279;p16"/>
          <p:cNvSpPr txBox="1"/>
          <p:nvPr/>
        </p:nvSpPr>
        <p:spPr>
          <a:xfrm>
            <a:off x="749808" y="3977640"/>
            <a:ext cx="3151632" cy="4663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Reviews outputs for culturally and politically sensitive framing before publication.</a:t>
            </a:r>
            <a:endParaRPr b="0" i="0" sz="1050" u="none" cap="none" strike="noStrike">
              <a:solidFill>
                <a:schemeClr val="dk1"/>
              </a:solidFill>
              <a:latin typeface="Calibri"/>
              <a:ea typeface="Calibri"/>
              <a:cs typeface="Calibri"/>
              <a:sym typeface="Calibri"/>
            </a:endParaRPr>
          </a:p>
        </p:txBody>
      </p:sp>
      <p:sp>
        <p:nvSpPr>
          <p:cNvPr id="280" name="Google Shape;280;p16"/>
          <p:cNvSpPr/>
          <p:nvPr/>
        </p:nvSpPr>
        <p:spPr>
          <a:xfrm>
            <a:off x="4303776" y="3520440"/>
            <a:ext cx="3553968" cy="1051560"/>
          </a:xfrm>
          <a:prstGeom prst="roundRect">
            <a:avLst>
              <a:gd fmla="val 521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6"/>
          <p:cNvSpPr txBox="1"/>
          <p:nvPr/>
        </p:nvSpPr>
        <p:spPr>
          <a:xfrm>
            <a:off x="4504944" y="3685032"/>
            <a:ext cx="3151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Permission-level sandboxing</a:t>
            </a:r>
            <a:endParaRPr b="0" i="0" sz="1350" u="none" cap="none" strike="noStrike">
              <a:solidFill>
                <a:schemeClr val="dk1"/>
              </a:solidFill>
              <a:latin typeface="Calibri"/>
              <a:ea typeface="Calibri"/>
              <a:cs typeface="Calibri"/>
              <a:sym typeface="Calibri"/>
            </a:endParaRPr>
          </a:p>
        </p:txBody>
      </p:sp>
      <p:sp>
        <p:nvSpPr>
          <p:cNvPr id="282" name="Google Shape;282;p16"/>
          <p:cNvSpPr txBox="1"/>
          <p:nvPr/>
        </p:nvSpPr>
        <p:spPr>
          <a:xfrm>
            <a:off x="4504944" y="3977640"/>
            <a:ext cx="3151632" cy="4663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A capability's blast radius is bounded by what its caller may see or change.</a:t>
            </a:r>
            <a:endParaRPr b="0" i="0" sz="1050" u="none" cap="none" strike="noStrike">
              <a:solidFill>
                <a:schemeClr val="dk1"/>
              </a:solidFill>
              <a:latin typeface="Calibri"/>
              <a:ea typeface="Calibri"/>
              <a:cs typeface="Calibri"/>
              <a:sym typeface="Calibri"/>
            </a:endParaRPr>
          </a:p>
        </p:txBody>
      </p:sp>
      <p:sp>
        <p:nvSpPr>
          <p:cNvPr id="283" name="Google Shape;283;p16"/>
          <p:cNvSpPr/>
          <p:nvPr/>
        </p:nvSpPr>
        <p:spPr>
          <a:xfrm>
            <a:off x="8058912" y="3520440"/>
            <a:ext cx="3553968" cy="1051560"/>
          </a:xfrm>
          <a:prstGeom prst="roundRect">
            <a:avLst>
              <a:gd fmla="val 521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txBox="1"/>
          <p:nvPr/>
        </p:nvSpPr>
        <p:spPr>
          <a:xfrm>
            <a:off x="8260080" y="3685032"/>
            <a:ext cx="3151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Federated model stewardship</a:t>
            </a:r>
            <a:endParaRPr b="0" i="0" sz="1350" u="none" cap="none" strike="noStrike">
              <a:solidFill>
                <a:schemeClr val="dk1"/>
              </a:solidFill>
              <a:latin typeface="Calibri"/>
              <a:ea typeface="Calibri"/>
              <a:cs typeface="Calibri"/>
              <a:sym typeface="Calibri"/>
            </a:endParaRPr>
          </a:p>
        </p:txBody>
      </p:sp>
      <p:sp>
        <p:nvSpPr>
          <p:cNvPr id="285" name="Google Shape;285;p16"/>
          <p:cNvSpPr txBox="1"/>
          <p:nvPr/>
        </p:nvSpPr>
        <p:spPr>
          <a:xfrm>
            <a:off x="8260080" y="3977640"/>
            <a:ext cx="3151632" cy="4663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Hub-level stewardship, not one central authority — the named anti-centralisation mitigation.</a:t>
            </a:r>
            <a:endParaRPr b="0" i="0" sz="1050" u="none" cap="none" strike="noStrike">
              <a:solidFill>
                <a:schemeClr val="dk1"/>
              </a:solidFill>
              <a:latin typeface="Calibri"/>
              <a:ea typeface="Calibri"/>
              <a:cs typeface="Calibri"/>
              <a:sym typeface="Calibri"/>
            </a:endParaRPr>
          </a:p>
        </p:txBody>
      </p:sp>
      <p:sp>
        <p:nvSpPr>
          <p:cNvPr id="286" name="Google Shape;286;p16"/>
          <p:cNvSpPr txBox="1"/>
          <p:nvPr/>
        </p:nvSpPr>
        <p:spPr>
          <a:xfrm>
            <a:off x="502920" y="475488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500"/>
              <a:buFont typeface="Roboto Condensed"/>
              <a:buNone/>
            </a:pPr>
            <a:r>
              <a:rPr b="1" i="0" lang="en-US" sz="1500" u="none" cap="none" strike="noStrike">
                <a:solidFill>
                  <a:srgbClr val="1C212A"/>
                </a:solidFill>
                <a:latin typeface="Roboto Condensed"/>
                <a:ea typeface="Roboto Condensed"/>
                <a:cs typeface="Roboto Condensed"/>
                <a:sym typeface="Roboto Condensed"/>
              </a:rPr>
              <a:t>The capacity ladder — each tier trains the next</a:t>
            </a:r>
            <a:endParaRPr b="0" i="0" sz="1500" u="none" cap="none" strike="noStrike">
              <a:solidFill>
                <a:schemeClr val="dk1"/>
              </a:solidFill>
              <a:latin typeface="Calibri"/>
              <a:ea typeface="Calibri"/>
              <a:cs typeface="Calibri"/>
              <a:sym typeface="Calibri"/>
            </a:endParaRPr>
          </a:p>
        </p:txBody>
      </p:sp>
      <p:sp>
        <p:nvSpPr>
          <p:cNvPr id="287" name="Google Shape;287;p16"/>
          <p:cNvSpPr/>
          <p:nvPr/>
        </p:nvSpPr>
        <p:spPr>
          <a:xfrm>
            <a:off x="502920" y="5102352"/>
            <a:ext cx="3602736" cy="658368"/>
          </a:xfrm>
          <a:prstGeom prst="roundRect">
            <a:avLst>
              <a:gd fmla="val 8333"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6"/>
          <p:cNvSpPr txBox="1"/>
          <p:nvPr/>
        </p:nvSpPr>
        <p:spPr>
          <a:xfrm>
            <a:off x="667512" y="5175504"/>
            <a:ext cx="32918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0" i="0" lang="en-US" sz="1000" u="none" cap="none" strike="noStrike">
                <a:solidFill>
                  <a:srgbClr val="1C212A"/>
                </a:solidFill>
                <a:latin typeface="Calibri"/>
                <a:ea typeface="Calibri"/>
                <a:cs typeface="Calibri"/>
                <a:sym typeface="Calibri"/>
              </a:rPr>
              <a:t>PRACTITIONER — runs the tool, reads the output, knows its limits</a:t>
            </a:r>
            <a:endParaRPr b="0" i="0" sz="1000" u="none" cap="none" strike="noStrike">
              <a:solidFill>
                <a:schemeClr val="dk1"/>
              </a:solidFill>
              <a:latin typeface="Calibri"/>
              <a:ea typeface="Calibri"/>
              <a:cs typeface="Calibri"/>
              <a:sym typeface="Calibri"/>
            </a:endParaRPr>
          </a:p>
        </p:txBody>
      </p:sp>
      <p:cxnSp>
        <p:nvCxnSpPr>
          <p:cNvPr id="289" name="Google Shape;289;p16"/>
          <p:cNvCxnSpPr/>
          <p:nvPr/>
        </p:nvCxnSpPr>
        <p:spPr>
          <a:xfrm>
            <a:off x="4142232" y="5431536"/>
            <a:ext cx="100584" cy="0"/>
          </a:xfrm>
          <a:prstGeom prst="straightConnector1">
            <a:avLst/>
          </a:prstGeom>
          <a:noFill/>
          <a:ln cap="flat" cmpd="sng" w="15875">
            <a:solidFill>
              <a:srgbClr val="6D6E71"/>
            </a:solidFill>
            <a:prstDash val="solid"/>
            <a:round/>
            <a:headEnd len="sm" w="sm" type="none"/>
            <a:tailEnd len="med" w="med" type="triangle"/>
          </a:ln>
        </p:spPr>
      </p:cxnSp>
      <p:sp>
        <p:nvSpPr>
          <p:cNvPr id="290" name="Google Shape;290;p16"/>
          <p:cNvSpPr/>
          <p:nvPr/>
        </p:nvSpPr>
        <p:spPr>
          <a:xfrm>
            <a:off x="4279392" y="5102352"/>
            <a:ext cx="3602736" cy="658368"/>
          </a:xfrm>
          <a:prstGeom prst="roundRect">
            <a:avLst>
              <a:gd fmla="val 8333"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6"/>
          <p:cNvSpPr txBox="1"/>
          <p:nvPr/>
        </p:nvSpPr>
        <p:spPr>
          <a:xfrm>
            <a:off x="4443984" y="5175504"/>
            <a:ext cx="32918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0" i="0" lang="en-US" sz="1000" u="none" cap="none" strike="noStrike">
                <a:solidFill>
                  <a:srgbClr val="1C212A"/>
                </a:solidFill>
                <a:latin typeface="Calibri"/>
                <a:ea typeface="Calibri"/>
                <a:cs typeface="Calibri"/>
                <a:sym typeface="Calibri"/>
              </a:rPr>
              <a:t>ENGINEER — recalibrates and extends it for a new region or dataset</a:t>
            </a:r>
            <a:endParaRPr b="0" i="0" sz="1000" u="none" cap="none" strike="noStrike">
              <a:solidFill>
                <a:schemeClr val="dk1"/>
              </a:solidFill>
              <a:latin typeface="Calibri"/>
              <a:ea typeface="Calibri"/>
              <a:cs typeface="Calibri"/>
              <a:sym typeface="Calibri"/>
            </a:endParaRPr>
          </a:p>
        </p:txBody>
      </p:sp>
      <p:cxnSp>
        <p:nvCxnSpPr>
          <p:cNvPr id="292" name="Google Shape;292;p16"/>
          <p:cNvCxnSpPr/>
          <p:nvPr/>
        </p:nvCxnSpPr>
        <p:spPr>
          <a:xfrm>
            <a:off x="7918704" y="5431536"/>
            <a:ext cx="100584" cy="0"/>
          </a:xfrm>
          <a:prstGeom prst="straightConnector1">
            <a:avLst/>
          </a:prstGeom>
          <a:noFill/>
          <a:ln cap="flat" cmpd="sng" w="15875">
            <a:solidFill>
              <a:srgbClr val="6D6E71"/>
            </a:solidFill>
            <a:prstDash val="solid"/>
            <a:round/>
            <a:headEnd len="sm" w="sm" type="none"/>
            <a:tailEnd len="med" w="med" type="triangle"/>
          </a:ln>
        </p:spPr>
      </p:cxnSp>
      <p:sp>
        <p:nvSpPr>
          <p:cNvPr id="293" name="Google Shape;293;p16"/>
          <p:cNvSpPr/>
          <p:nvPr/>
        </p:nvSpPr>
        <p:spPr>
          <a:xfrm>
            <a:off x="8055864" y="5102352"/>
            <a:ext cx="3602736" cy="658368"/>
          </a:xfrm>
          <a:prstGeom prst="roundRect">
            <a:avLst>
              <a:gd fmla="val 8333"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6"/>
          <p:cNvSpPr txBox="1"/>
          <p:nvPr/>
        </p:nvSpPr>
        <p:spPr>
          <a:xfrm>
            <a:off x="8220456" y="5175504"/>
            <a:ext cx="32918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0" i="0" lang="en-US" sz="1000" u="none" cap="none" strike="noStrike">
                <a:solidFill>
                  <a:srgbClr val="1C212A"/>
                </a:solidFill>
                <a:latin typeface="Calibri"/>
                <a:ea typeface="Calibri"/>
                <a:cs typeface="Calibri"/>
                <a:sym typeface="Calibri"/>
              </a:rPr>
              <a:t>RESEARCH LEAD — trains the next cohort, so capacity compounds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7"/>
          <p:cNvSpPr/>
          <p:nvPr/>
        </p:nvSpPr>
        <p:spPr>
          <a:xfrm>
            <a:off x="0" y="0"/>
            <a:ext cx="12161520" cy="6858000"/>
          </a:xfrm>
          <a:prstGeom prst="rect">
            <a:avLst/>
          </a:prstGeom>
          <a:solidFill>
            <a:srgbClr val="1C21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7"/>
          <p:cNvSpPr/>
          <p:nvPr/>
        </p:nvSpPr>
        <p:spPr>
          <a:xfrm>
            <a:off x="9509760" y="-1280160"/>
            <a:ext cx="4754880" cy="4754880"/>
          </a:xfrm>
          <a:prstGeom prst="ellipse">
            <a:avLst/>
          </a:prstGeom>
          <a:solidFill>
            <a:srgbClr val="1A6389">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7"/>
          <p:cNvSpPr txBox="1"/>
          <p:nvPr/>
        </p:nvSpPr>
        <p:spPr>
          <a:xfrm>
            <a:off x="822960" y="228600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D8C8"/>
              </a:buClr>
              <a:buSzPts val="1500"/>
              <a:buFont typeface="Consolas"/>
              <a:buNone/>
            </a:pPr>
            <a:r>
              <a:rPr b="0" i="0" lang="en-US" sz="1500" u="none" cap="none" strike="noStrike">
                <a:solidFill>
                  <a:srgbClr val="7CD8C8"/>
                </a:solidFill>
                <a:latin typeface="Consolas"/>
                <a:ea typeface="Consolas"/>
                <a:cs typeface="Consolas"/>
                <a:sym typeface="Consolas"/>
              </a:rPr>
              <a:t>04</a:t>
            </a:r>
            <a:endParaRPr b="0" i="0" sz="1500" u="none" cap="none" strike="noStrike">
              <a:solidFill>
                <a:schemeClr val="dk1"/>
              </a:solidFill>
              <a:latin typeface="Calibri"/>
              <a:ea typeface="Calibri"/>
              <a:cs typeface="Calibri"/>
              <a:sym typeface="Calibri"/>
            </a:endParaRPr>
          </a:p>
        </p:txBody>
      </p:sp>
      <p:sp>
        <p:nvSpPr>
          <p:cNvPr id="303" name="Google Shape;303;p17"/>
          <p:cNvSpPr txBox="1"/>
          <p:nvPr/>
        </p:nvSpPr>
        <p:spPr>
          <a:xfrm>
            <a:off x="822960" y="2743200"/>
            <a:ext cx="96012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Roboto Condensed"/>
              <a:buNone/>
            </a:pPr>
            <a:r>
              <a:rPr b="1" i="0" lang="en-US" sz="4000" u="none" cap="none" strike="noStrike">
                <a:solidFill>
                  <a:srgbClr val="FFFFFF"/>
                </a:solidFill>
                <a:latin typeface="Roboto Condensed"/>
                <a:ea typeface="Roboto Condensed"/>
                <a:cs typeface="Roboto Condensed"/>
                <a:sym typeface="Roboto Condensed"/>
              </a:rPr>
              <a:t>Global Risk Platform</a:t>
            </a:r>
            <a:endParaRPr b="0" i="0" sz="4000" u="none" cap="none" strike="noStrike">
              <a:solidFill>
                <a:schemeClr val="dk1"/>
              </a:solidFill>
              <a:latin typeface="Calibri"/>
              <a:ea typeface="Calibri"/>
              <a:cs typeface="Calibri"/>
              <a:sym typeface="Calibri"/>
            </a:endParaRPr>
          </a:p>
        </p:txBody>
      </p:sp>
      <p:sp>
        <p:nvSpPr>
          <p:cNvPr id="304" name="Google Shape;304;p17"/>
          <p:cNvSpPr txBox="1"/>
          <p:nvPr/>
        </p:nvSpPr>
        <p:spPr>
          <a:xfrm>
            <a:off x="822960" y="3840480"/>
            <a:ext cx="87782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D6E6"/>
              </a:buClr>
              <a:buSzPts val="1500"/>
              <a:buFont typeface="Calibri"/>
              <a:buNone/>
            </a:pPr>
            <a:r>
              <a:rPr b="0" i="0" lang="en-US" sz="1500" u="none" cap="none" strike="noStrike">
                <a:solidFill>
                  <a:srgbClr val="C4D6E6"/>
                </a:solidFill>
                <a:latin typeface="Calibri"/>
                <a:ea typeface="Calibri"/>
                <a:cs typeface="Calibri"/>
                <a:sym typeface="Calibri"/>
              </a:rPr>
              <a:t>RiskMap. Twelve perils × three clocks = thirty-six elements that have to exist, be wrapped, and interoperate.</a:t>
            </a:r>
            <a:endParaRPr b="0" i="0" sz="1500" u="none" cap="none" strike="noStrike">
              <a:solidFill>
                <a:schemeClr val="dk1"/>
              </a:solidFill>
              <a:latin typeface="Calibri"/>
              <a:ea typeface="Calibri"/>
              <a:cs typeface="Calibri"/>
              <a:sym typeface="Calibri"/>
            </a:endParaRPr>
          </a:p>
        </p:txBody>
      </p:sp>
      <p:sp>
        <p:nvSpPr>
          <p:cNvPr id="305" name="Google Shape;305;p17"/>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8CA8"/>
              </a:buClr>
              <a:buSzPts val="800"/>
              <a:buFont typeface="Consolas"/>
              <a:buNone/>
            </a:pPr>
            <a:r>
              <a:rPr b="0" i="0" lang="en-US" sz="800" u="none" cap="none" strike="noStrike">
                <a:solidFill>
                  <a:srgbClr val="6E8CA8"/>
                </a:solidFill>
                <a:latin typeface="Consolas"/>
                <a:ea typeface="Consolas"/>
                <a:cs typeface="Consolas"/>
                <a:sym typeface="Consolas"/>
              </a:rPr>
              <a:t>13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8"/>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The three clocks</a:t>
            </a:r>
            <a:endParaRPr b="0" i="0" sz="3000" u="none" cap="none" strike="noStrike">
              <a:solidFill>
                <a:schemeClr val="dk1"/>
              </a:solidFill>
              <a:latin typeface="Calibri"/>
              <a:ea typeface="Calibri"/>
              <a:cs typeface="Calibri"/>
              <a:sym typeface="Calibri"/>
            </a:endParaRPr>
          </a:p>
        </p:txBody>
      </p:sp>
      <p:sp>
        <p:nvSpPr>
          <p:cNvPr id="312" name="Google Shape;312;p18"/>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The same structure repeats in §05 and §06. It is the organising grammar of the whole plan.</a:t>
            </a:r>
            <a:endParaRPr b="0" i="0" sz="1350" u="none" cap="none" strike="noStrike">
              <a:solidFill>
                <a:schemeClr val="dk1"/>
              </a:solidFill>
              <a:latin typeface="Calibri"/>
              <a:ea typeface="Calibri"/>
              <a:cs typeface="Calibri"/>
              <a:sym typeface="Calibri"/>
            </a:endParaRPr>
          </a:p>
        </p:txBody>
      </p:sp>
      <p:sp>
        <p:nvSpPr>
          <p:cNvPr id="313" name="Google Shape;313;p18"/>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314" name="Google Shape;314;p18"/>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14</a:t>
            </a:r>
            <a:endParaRPr b="0" i="0" sz="800" u="none" cap="none" strike="noStrike">
              <a:solidFill>
                <a:schemeClr val="dk1"/>
              </a:solidFill>
              <a:latin typeface="Calibri"/>
              <a:ea typeface="Calibri"/>
              <a:cs typeface="Calibri"/>
              <a:sym typeface="Calibri"/>
            </a:endParaRPr>
          </a:p>
        </p:txBody>
      </p:sp>
      <p:sp>
        <p:nvSpPr>
          <p:cNvPr id="315" name="Google Shape;315;p18"/>
          <p:cNvSpPr/>
          <p:nvPr/>
        </p:nvSpPr>
        <p:spPr>
          <a:xfrm>
            <a:off x="502920" y="1691640"/>
            <a:ext cx="3602736" cy="2331720"/>
          </a:xfrm>
          <a:prstGeom prst="roundRect">
            <a:avLst>
              <a:gd fmla="val 2745" name="adj"/>
            </a:avLst>
          </a:prstGeom>
          <a:solidFill>
            <a:srgbClr val="FFFFFF"/>
          </a:solidFill>
          <a:ln cap="flat" cmpd="sng" w="1905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8"/>
          <p:cNvSpPr txBox="1"/>
          <p:nvPr/>
        </p:nvSpPr>
        <p:spPr>
          <a:xfrm>
            <a:off x="722376" y="1874520"/>
            <a:ext cx="32004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900"/>
              <a:buFont typeface="Consolas"/>
              <a:buNone/>
            </a:pPr>
            <a:r>
              <a:rPr b="0" i="0" lang="en-US" sz="900" u="none" cap="none" strike="noStrike">
                <a:solidFill>
                  <a:srgbClr val="2380B0"/>
                </a:solidFill>
                <a:latin typeface="Consolas"/>
                <a:ea typeface="Consolas"/>
                <a:cs typeface="Consolas"/>
                <a:sym typeface="Consolas"/>
              </a:rPr>
              <a:t>CLOCK 1</a:t>
            </a:r>
            <a:endParaRPr b="0" i="0" sz="900" u="none" cap="none" strike="noStrike">
              <a:solidFill>
                <a:schemeClr val="dk1"/>
              </a:solidFill>
              <a:latin typeface="Calibri"/>
              <a:ea typeface="Calibri"/>
              <a:cs typeface="Calibri"/>
              <a:sym typeface="Calibri"/>
            </a:endParaRPr>
          </a:p>
        </p:txBody>
      </p:sp>
      <p:sp>
        <p:nvSpPr>
          <p:cNvPr id="317" name="Google Shape;317;p18"/>
          <p:cNvSpPr txBox="1"/>
          <p:nvPr/>
        </p:nvSpPr>
        <p:spPr>
          <a:xfrm>
            <a:off x="722376" y="2121408"/>
            <a:ext cx="3200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900"/>
              <a:buFont typeface="Roboto Condensed"/>
              <a:buNone/>
            </a:pPr>
            <a:r>
              <a:rPr b="1" i="0" lang="en-US" sz="1900" u="none" cap="none" strike="noStrike">
                <a:solidFill>
                  <a:srgbClr val="1C212A"/>
                </a:solidFill>
                <a:latin typeface="Roboto Condensed"/>
                <a:ea typeface="Roboto Condensed"/>
                <a:cs typeface="Roboto Condensed"/>
                <a:sym typeface="Roboto Condensed"/>
              </a:rPr>
              <a:t>Near-real-time</a:t>
            </a:r>
            <a:endParaRPr b="0" i="0" sz="1900" u="none" cap="none" strike="noStrike">
              <a:solidFill>
                <a:schemeClr val="dk1"/>
              </a:solidFill>
              <a:latin typeface="Calibri"/>
              <a:ea typeface="Calibri"/>
              <a:cs typeface="Calibri"/>
              <a:sym typeface="Calibri"/>
            </a:endParaRPr>
          </a:p>
        </p:txBody>
      </p:sp>
      <p:sp>
        <p:nvSpPr>
          <p:cNvPr id="318" name="Google Shape;318;p18"/>
          <p:cNvSpPr txBox="1"/>
          <p:nvPr/>
        </p:nvSpPr>
        <p:spPr>
          <a:xfrm>
            <a:off x="722376" y="2514600"/>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1200"/>
              <a:buFont typeface="Calibri"/>
              <a:buNone/>
            </a:pPr>
            <a:r>
              <a:rPr b="0" i="1" lang="en-US" sz="1200" u="none" cap="none" strike="noStrike">
                <a:solidFill>
                  <a:srgbClr val="2380B0"/>
                </a:solidFill>
                <a:latin typeface="Calibri"/>
                <a:ea typeface="Calibri"/>
                <a:cs typeface="Calibri"/>
                <a:sym typeface="Calibri"/>
              </a:rPr>
              <a:t>What is happening now?</a:t>
            </a:r>
            <a:endParaRPr b="0" i="0" sz="1200" u="none" cap="none" strike="noStrike">
              <a:solidFill>
                <a:schemeClr val="dk1"/>
              </a:solidFill>
              <a:latin typeface="Calibri"/>
              <a:ea typeface="Calibri"/>
              <a:cs typeface="Calibri"/>
              <a:sym typeface="Calibri"/>
            </a:endParaRPr>
          </a:p>
        </p:txBody>
      </p:sp>
      <p:sp>
        <p:nvSpPr>
          <p:cNvPr id="319" name="Google Shape;319;p18"/>
          <p:cNvSpPr txBox="1"/>
          <p:nvPr/>
        </p:nvSpPr>
        <p:spPr>
          <a:xfrm>
            <a:off x="722376" y="2871216"/>
            <a:ext cx="32004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Event-triggered, minutes to days. Answers: who is affected, right now. Feeds warnings and anticipatory action.</a:t>
            </a:r>
            <a:endParaRPr b="0" i="0" sz="1050" u="none" cap="none" strike="noStrike">
              <a:solidFill>
                <a:schemeClr val="dk1"/>
              </a:solidFill>
              <a:latin typeface="Calibri"/>
              <a:ea typeface="Calibri"/>
              <a:cs typeface="Calibri"/>
              <a:sym typeface="Calibri"/>
            </a:endParaRPr>
          </a:p>
        </p:txBody>
      </p:sp>
      <p:sp>
        <p:nvSpPr>
          <p:cNvPr id="320" name="Google Shape;320;p18"/>
          <p:cNvSpPr/>
          <p:nvPr/>
        </p:nvSpPr>
        <p:spPr>
          <a:xfrm>
            <a:off x="4279392" y="1691640"/>
            <a:ext cx="3602736" cy="2331720"/>
          </a:xfrm>
          <a:prstGeom prst="roundRect">
            <a:avLst>
              <a:gd fmla="val 2745" name="adj"/>
            </a:avLst>
          </a:prstGeom>
          <a:solidFill>
            <a:srgbClr val="FFFFFF"/>
          </a:solidFill>
          <a:ln cap="flat" cmpd="sng" w="1905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8"/>
          <p:cNvSpPr txBox="1"/>
          <p:nvPr/>
        </p:nvSpPr>
        <p:spPr>
          <a:xfrm>
            <a:off x="4498848" y="1874520"/>
            <a:ext cx="32004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F3D"/>
              </a:buClr>
              <a:buSzPts val="900"/>
              <a:buFont typeface="Consolas"/>
              <a:buNone/>
            </a:pPr>
            <a:r>
              <a:rPr b="0" i="0" lang="en-US" sz="900" u="none" cap="none" strike="noStrike">
                <a:solidFill>
                  <a:srgbClr val="91AF3D"/>
                </a:solidFill>
                <a:latin typeface="Consolas"/>
                <a:ea typeface="Consolas"/>
                <a:cs typeface="Consolas"/>
                <a:sym typeface="Consolas"/>
              </a:rPr>
              <a:t>CLOCK 2</a:t>
            </a:r>
            <a:endParaRPr b="0" i="0" sz="900" u="none" cap="none" strike="noStrike">
              <a:solidFill>
                <a:schemeClr val="dk1"/>
              </a:solidFill>
              <a:latin typeface="Calibri"/>
              <a:ea typeface="Calibri"/>
              <a:cs typeface="Calibri"/>
              <a:sym typeface="Calibri"/>
            </a:endParaRPr>
          </a:p>
        </p:txBody>
      </p:sp>
      <p:sp>
        <p:nvSpPr>
          <p:cNvPr id="322" name="Google Shape;322;p18"/>
          <p:cNvSpPr txBox="1"/>
          <p:nvPr/>
        </p:nvSpPr>
        <p:spPr>
          <a:xfrm>
            <a:off x="4498848" y="2121408"/>
            <a:ext cx="3200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900"/>
              <a:buFont typeface="Roboto Condensed"/>
              <a:buNone/>
            </a:pPr>
            <a:r>
              <a:rPr b="1" i="0" lang="en-US" sz="1900" u="none" cap="none" strike="noStrike">
                <a:solidFill>
                  <a:srgbClr val="1C212A"/>
                </a:solidFill>
                <a:latin typeface="Roboto Condensed"/>
                <a:ea typeface="Roboto Condensed"/>
                <a:cs typeface="Roboto Condensed"/>
                <a:sym typeface="Roboto Condensed"/>
              </a:rPr>
              <a:t>Annualized baseline</a:t>
            </a:r>
            <a:endParaRPr b="0" i="0" sz="1900" u="none" cap="none" strike="noStrike">
              <a:solidFill>
                <a:schemeClr val="dk1"/>
              </a:solidFill>
              <a:latin typeface="Calibri"/>
              <a:ea typeface="Calibri"/>
              <a:cs typeface="Calibri"/>
              <a:sym typeface="Calibri"/>
            </a:endParaRPr>
          </a:p>
        </p:txBody>
      </p:sp>
      <p:sp>
        <p:nvSpPr>
          <p:cNvPr id="323" name="Google Shape;323;p18"/>
          <p:cNvSpPr txBox="1"/>
          <p:nvPr/>
        </p:nvSpPr>
        <p:spPr>
          <a:xfrm>
            <a:off x="4498848" y="2514600"/>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F3D"/>
              </a:buClr>
              <a:buSzPts val="1200"/>
              <a:buFont typeface="Calibri"/>
              <a:buNone/>
            </a:pPr>
            <a:r>
              <a:rPr b="0" i="1" lang="en-US" sz="1200" u="none" cap="none" strike="noStrike">
                <a:solidFill>
                  <a:srgbClr val="91AF3D"/>
                </a:solidFill>
                <a:latin typeface="Calibri"/>
                <a:ea typeface="Calibri"/>
                <a:cs typeface="Calibri"/>
                <a:sym typeface="Calibri"/>
              </a:rPr>
              <a:t>What does it cost in an average year?</a:t>
            </a:r>
            <a:endParaRPr b="0" i="0" sz="1200" u="none" cap="none" strike="noStrike">
              <a:solidFill>
                <a:schemeClr val="dk1"/>
              </a:solidFill>
              <a:latin typeface="Calibri"/>
              <a:ea typeface="Calibri"/>
              <a:cs typeface="Calibri"/>
              <a:sym typeface="Calibri"/>
            </a:endParaRPr>
          </a:p>
        </p:txBody>
      </p:sp>
      <p:sp>
        <p:nvSpPr>
          <p:cNvPr id="324" name="Google Shape;324;p18"/>
          <p:cNvSpPr txBox="1"/>
          <p:nvPr/>
        </p:nvSpPr>
        <p:spPr>
          <a:xfrm>
            <a:off x="4498848" y="2871216"/>
            <a:ext cx="32004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AAL, PML, exceedance curves over an historical event set. Answers: what to plan and finance against.</a:t>
            </a:r>
            <a:endParaRPr b="0" i="0" sz="1050" u="none" cap="none" strike="noStrike">
              <a:solidFill>
                <a:schemeClr val="dk1"/>
              </a:solidFill>
              <a:latin typeface="Calibri"/>
              <a:ea typeface="Calibri"/>
              <a:cs typeface="Calibri"/>
              <a:sym typeface="Calibri"/>
            </a:endParaRPr>
          </a:p>
        </p:txBody>
      </p:sp>
      <p:sp>
        <p:nvSpPr>
          <p:cNvPr id="325" name="Google Shape;325;p18"/>
          <p:cNvSpPr/>
          <p:nvPr/>
        </p:nvSpPr>
        <p:spPr>
          <a:xfrm>
            <a:off x="8055864" y="1691640"/>
            <a:ext cx="3602736" cy="2331720"/>
          </a:xfrm>
          <a:prstGeom prst="roundRect">
            <a:avLst>
              <a:gd fmla="val 2745" name="adj"/>
            </a:avLst>
          </a:prstGeom>
          <a:solidFill>
            <a:srgbClr val="FFFFFF"/>
          </a:solidFill>
          <a:ln cap="flat" cmpd="sng" w="19050">
            <a:solidFill>
              <a:srgbClr val="1C21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8"/>
          <p:cNvSpPr txBox="1"/>
          <p:nvPr/>
        </p:nvSpPr>
        <p:spPr>
          <a:xfrm>
            <a:off x="8275320" y="1874520"/>
            <a:ext cx="32004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900"/>
              <a:buFont typeface="Consolas"/>
              <a:buNone/>
            </a:pPr>
            <a:r>
              <a:rPr b="0" i="0" lang="en-US" sz="900" u="none" cap="none" strike="noStrike">
                <a:solidFill>
                  <a:srgbClr val="1C212A"/>
                </a:solidFill>
                <a:latin typeface="Consolas"/>
                <a:ea typeface="Consolas"/>
                <a:cs typeface="Consolas"/>
                <a:sym typeface="Consolas"/>
              </a:rPr>
              <a:t>CLOCK 3</a:t>
            </a:r>
            <a:endParaRPr b="0" i="0" sz="900" u="none" cap="none" strike="noStrike">
              <a:solidFill>
                <a:schemeClr val="dk1"/>
              </a:solidFill>
              <a:latin typeface="Calibri"/>
              <a:ea typeface="Calibri"/>
              <a:cs typeface="Calibri"/>
              <a:sym typeface="Calibri"/>
            </a:endParaRPr>
          </a:p>
        </p:txBody>
      </p:sp>
      <p:sp>
        <p:nvSpPr>
          <p:cNvPr id="327" name="Google Shape;327;p18"/>
          <p:cNvSpPr txBox="1"/>
          <p:nvPr/>
        </p:nvSpPr>
        <p:spPr>
          <a:xfrm>
            <a:off x="8275320" y="2121408"/>
            <a:ext cx="3200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900"/>
              <a:buFont typeface="Roboto Condensed"/>
              <a:buNone/>
            </a:pPr>
            <a:r>
              <a:rPr b="1" i="0" lang="en-US" sz="1900" u="none" cap="none" strike="noStrike">
                <a:solidFill>
                  <a:srgbClr val="1C212A"/>
                </a:solidFill>
                <a:latin typeface="Roboto Condensed"/>
                <a:ea typeface="Roboto Condensed"/>
                <a:cs typeface="Roboto Condensed"/>
                <a:sym typeface="Roboto Condensed"/>
              </a:rPr>
              <a:t>Climate-adjusted</a:t>
            </a:r>
            <a:endParaRPr b="0" i="0" sz="1900" u="none" cap="none" strike="noStrike">
              <a:solidFill>
                <a:schemeClr val="dk1"/>
              </a:solidFill>
              <a:latin typeface="Calibri"/>
              <a:ea typeface="Calibri"/>
              <a:cs typeface="Calibri"/>
              <a:sym typeface="Calibri"/>
            </a:endParaRPr>
          </a:p>
        </p:txBody>
      </p:sp>
      <p:sp>
        <p:nvSpPr>
          <p:cNvPr id="328" name="Google Shape;328;p18"/>
          <p:cNvSpPr txBox="1"/>
          <p:nvPr/>
        </p:nvSpPr>
        <p:spPr>
          <a:xfrm>
            <a:off x="8275320" y="2514600"/>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00"/>
              <a:buFont typeface="Calibri"/>
              <a:buNone/>
            </a:pPr>
            <a:r>
              <a:rPr b="0" i="1" lang="en-US" sz="1200" u="none" cap="none" strike="noStrike">
                <a:solidFill>
                  <a:srgbClr val="1C212A"/>
                </a:solidFill>
                <a:latin typeface="Calibri"/>
                <a:ea typeface="Calibri"/>
                <a:cs typeface="Calibri"/>
                <a:sym typeface="Calibri"/>
              </a:rPr>
              <a:t>How does the baseline move?</a:t>
            </a:r>
            <a:endParaRPr b="0" i="0" sz="1200" u="none" cap="none" strike="noStrike">
              <a:solidFill>
                <a:schemeClr val="dk1"/>
              </a:solidFill>
              <a:latin typeface="Calibri"/>
              <a:ea typeface="Calibri"/>
              <a:cs typeface="Calibri"/>
              <a:sym typeface="Calibri"/>
            </a:endParaRPr>
          </a:p>
        </p:txBody>
      </p:sp>
      <p:sp>
        <p:nvSpPr>
          <p:cNvPr id="329" name="Google Shape;329;p18"/>
          <p:cNvSpPr txBox="1"/>
          <p:nvPr/>
        </p:nvSpPr>
        <p:spPr>
          <a:xfrm>
            <a:off x="8275320" y="2871216"/>
            <a:ext cx="32004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Clock 2, forced by CMIP6 / ISIMIP and tagged with a scenario and horizon. Not a third engine — a different forcing dataset.</a:t>
            </a:r>
            <a:endParaRPr b="0" i="0" sz="1050" u="none" cap="none" strike="noStrike">
              <a:solidFill>
                <a:schemeClr val="dk1"/>
              </a:solidFill>
              <a:latin typeface="Calibri"/>
              <a:ea typeface="Calibri"/>
              <a:cs typeface="Calibri"/>
              <a:sym typeface="Calibri"/>
            </a:endParaRPr>
          </a:p>
        </p:txBody>
      </p:sp>
      <p:sp>
        <p:nvSpPr>
          <p:cNvPr id="330" name="Google Shape;330;p18"/>
          <p:cNvSpPr/>
          <p:nvPr/>
        </p:nvSpPr>
        <p:spPr>
          <a:xfrm>
            <a:off x="502920" y="4251960"/>
            <a:ext cx="11155680" cy="822960"/>
          </a:xfrm>
          <a:prstGeom prst="roundRect">
            <a:avLst>
              <a:gd fmla="val 6667"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8"/>
          <p:cNvSpPr txBox="1"/>
          <p:nvPr/>
        </p:nvSpPr>
        <p:spPr>
          <a:xfrm>
            <a:off x="713232" y="4343400"/>
            <a:ext cx="10789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Why it matters structurally:  </a:t>
            </a:r>
            <a:r>
              <a:rPr b="0" i="0" lang="en-US" sz="1150" u="none" cap="none" strike="noStrike">
                <a:solidFill>
                  <a:srgbClr val="4D5763"/>
                </a:solidFill>
                <a:latin typeface="Calibri"/>
                <a:ea typeface="Calibri"/>
                <a:cs typeface="Calibri"/>
                <a:sym typeface="Calibri"/>
              </a:rPr>
              <a:t>near-real-time and annualized risk are different computations that must share one data model. CLIMADA already shows the shape — Hazard / Exposure / Impact classes shared, with a separate Forecast class for the event path.</a:t>
            </a:r>
            <a:endParaRPr b="0" i="0" sz="1150" u="none" cap="none" strike="noStrike">
              <a:solidFill>
                <a:schemeClr val="dk1"/>
              </a:solidFill>
              <a:latin typeface="Calibri"/>
              <a:ea typeface="Calibri"/>
              <a:cs typeface="Calibri"/>
              <a:sym typeface="Calibri"/>
            </a:endParaRPr>
          </a:p>
        </p:txBody>
      </p:sp>
      <p:sp>
        <p:nvSpPr>
          <p:cNvPr id="332" name="Google Shape;332;p18"/>
          <p:cNvSpPr/>
          <p:nvPr/>
        </p:nvSpPr>
        <p:spPr>
          <a:xfrm>
            <a:off x="502920" y="5212080"/>
            <a:ext cx="11155680" cy="731520"/>
          </a:xfrm>
          <a:prstGeom prst="roundRect">
            <a:avLst>
              <a:gd fmla="val 7500"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8"/>
          <p:cNvSpPr txBox="1"/>
          <p:nvPr/>
        </p:nvSpPr>
        <p:spPr>
          <a:xfrm>
            <a:off x="713232" y="5303520"/>
            <a:ext cx="10789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The practical test:  </a:t>
            </a:r>
            <a:r>
              <a:rPr b="0" i="0" lang="en-US" sz="1150" u="none" cap="none" strike="noStrike">
                <a:solidFill>
                  <a:srgbClr val="4D5763"/>
                </a:solidFill>
                <a:latin typeface="Calibri"/>
                <a:ea typeface="Calibri"/>
                <a:cs typeface="Calibri"/>
                <a:sym typeface="Calibri"/>
              </a:rPr>
              <a:t>adding a peril to Clock 3 should be a configuration and a dataset — not a new codebase. If it isn't, the HazardFootprint contract has been violated upstream.</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9"/>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Fig. 2 — The Global Risk build matrix</a:t>
            </a:r>
            <a:endParaRPr b="0" i="0" sz="3000" u="none" cap="none" strike="noStrike">
              <a:solidFill>
                <a:schemeClr val="dk1"/>
              </a:solidFill>
              <a:latin typeface="Calibri"/>
              <a:ea typeface="Calibri"/>
              <a:cs typeface="Calibri"/>
              <a:sym typeface="Calibri"/>
            </a:endParaRPr>
          </a:p>
        </p:txBody>
      </p:sp>
      <p:sp>
        <p:nvSpPr>
          <p:cNvPr id="340" name="Google Shape;340;p19"/>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341" name="Google Shape;341;p19"/>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§04</a:t>
            </a:r>
            <a:endParaRPr b="0" i="0" sz="800" u="none" cap="none" strike="noStrike">
              <a:solidFill>
                <a:schemeClr val="dk1"/>
              </a:solidFill>
              <a:latin typeface="Calibri"/>
              <a:ea typeface="Calibri"/>
              <a:cs typeface="Calibri"/>
              <a:sym typeface="Calibri"/>
            </a:endParaRPr>
          </a:p>
        </p:txBody>
      </p:sp>
      <p:sp>
        <p:nvSpPr>
          <p:cNvPr id="342" name="Google Shape;342;p19"/>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15</a:t>
            </a:r>
            <a:endParaRPr b="0" i="0" sz="800" u="none" cap="none" strike="noStrike">
              <a:solidFill>
                <a:schemeClr val="dk1"/>
              </a:solidFill>
              <a:latin typeface="Calibri"/>
              <a:ea typeface="Calibri"/>
              <a:cs typeface="Calibri"/>
              <a:sym typeface="Calibri"/>
            </a:endParaRPr>
          </a:p>
        </p:txBody>
      </p:sp>
      <p:sp>
        <p:nvSpPr>
          <p:cNvPr id="343" name="Google Shape;343;p19"/>
          <p:cNvSpPr txBox="1"/>
          <p:nvPr/>
        </p:nvSpPr>
        <p:spPr>
          <a:xfrm>
            <a:off x="2898648" y="1097280"/>
            <a:ext cx="2825496" cy="34747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6389"/>
              </a:buClr>
              <a:buSzPts val="900"/>
              <a:buFont typeface="Consolas"/>
              <a:buNone/>
            </a:pPr>
            <a:r>
              <a:rPr b="0" i="0" lang="en-US" sz="900" u="none" cap="none" strike="noStrike">
                <a:solidFill>
                  <a:srgbClr val="1A6389"/>
                </a:solidFill>
                <a:latin typeface="Consolas"/>
                <a:ea typeface="Consolas"/>
                <a:cs typeface="Consolas"/>
                <a:sym typeface="Consolas"/>
              </a:rPr>
              <a:t>CLOCK 1 · NEAR-REAL-TIME</a:t>
            </a:r>
            <a:endParaRPr b="0" i="0" sz="900" u="none" cap="none" strike="noStrike">
              <a:solidFill>
                <a:schemeClr val="dk1"/>
              </a:solidFill>
              <a:latin typeface="Calibri"/>
              <a:ea typeface="Calibri"/>
              <a:cs typeface="Calibri"/>
              <a:sym typeface="Calibri"/>
            </a:endParaRPr>
          </a:p>
        </p:txBody>
      </p:sp>
      <p:sp>
        <p:nvSpPr>
          <p:cNvPr id="344" name="Google Shape;344;p19"/>
          <p:cNvSpPr txBox="1"/>
          <p:nvPr/>
        </p:nvSpPr>
        <p:spPr>
          <a:xfrm>
            <a:off x="5792724" y="1097280"/>
            <a:ext cx="2825496" cy="34747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6389"/>
              </a:buClr>
              <a:buSzPts val="900"/>
              <a:buFont typeface="Consolas"/>
              <a:buNone/>
            </a:pPr>
            <a:r>
              <a:rPr b="0" i="0" lang="en-US" sz="900" u="none" cap="none" strike="noStrike">
                <a:solidFill>
                  <a:srgbClr val="1A6389"/>
                </a:solidFill>
                <a:latin typeface="Consolas"/>
                <a:ea typeface="Consolas"/>
                <a:cs typeface="Consolas"/>
                <a:sym typeface="Consolas"/>
              </a:rPr>
              <a:t>CLOCK 2 · ANNUALIZED BASELINE</a:t>
            </a:r>
            <a:endParaRPr b="0" i="0" sz="900" u="none" cap="none" strike="noStrike">
              <a:solidFill>
                <a:schemeClr val="dk1"/>
              </a:solidFill>
              <a:latin typeface="Calibri"/>
              <a:ea typeface="Calibri"/>
              <a:cs typeface="Calibri"/>
              <a:sym typeface="Calibri"/>
            </a:endParaRPr>
          </a:p>
        </p:txBody>
      </p:sp>
      <p:sp>
        <p:nvSpPr>
          <p:cNvPr id="345" name="Google Shape;345;p19"/>
          <p:cNvSpPr txBox="1"/>
          <p:nvPr/>
        </p:nvSpPr>
        <p:spPr>
          <a:xfrm>
            <a:off x="8686800" y="1097280"/>
            <a:ext cx="2825496" cy="34747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6389"/>
              </a:buClr>
              <a:buSzPts val="900"/>
              <a:buFont typeface="Consolas"/>
              <a:buNone/>
            </a:pPr>
            <a:r>
              <a:rPr b="0" i="0" lang="en-US" sz="900" u="none" cap="none" strike="noStrike">
                <a:solidFill>
                  <a:srgbClr val="1A6389"/>
                </a:solidFill>
                <a:latin typeface="Consolas"/>
                <a:ea typeface="Consolas"/>
                <a:cs typeface="Consolas"/>
                <a:sym typeface="Consolas"/>
              </a:rPr>
              <a:t>CLOCK 3 · CLIMATE-ADJUSTED</a:t>
            </a:r>
            <a:endParaRPr b="0" i="0" sz="900" u="none" cap="none" strike="noStrike">
              <a:solidFill>
                <a:schemeClr val="dk1"/>
              </a:solidFill>
              <a:latin typeface="Calibri"/>
              <a:ea typeface="Calibri"/>
              <a:cs typeface="Calibri"/>
              <a:sym typeface="Calibri"/>
            </a:endParaRPr>
          </a:p>
        </p:txBody>
      </p:sp>
      <p:sp>
        <p:nvSpPr>
          <p:cNvPr id="346" name="Google Shape;346;p19"/>
          <p:cNvSpPr txBox="1"/>
          <p:nvPr/>
        </p:nvSpPr>
        <p:spPr>
          <a:xfrm>
            <a:off x="502920" y="1481328"/>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Earthquake</a:t>
            </a:r>
            <a:endParaRPr b="0" i="0" sz="1000" u="none" cap="none" strike="noStrike">
              <a:solidFill>
                <a:schemeClr val="dk1"/>
              </a:solidFill>
              <a:latin typeface="Calibri"/>
              <a:ea typeface="Calibri"/>
              <a:cs typeface="Calibri"/>
              <a:sym typeface="Calibri"/>
            </a:endParaRPr>
          </a:p>
        </p:txBody>
      </p:sp>
      <p:sp>
        <p:nvSpPr>
          <p:cNvPr id="347" name="Google Shape;347;p19"/>
          <p:cNvSpPr/>
          <p:nvPr/>
        </p:nvSpPr>
        <p:spPr>
          <a:xfrm>
            <a:off x="2898648" y="1481328"/>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9"/>
          <p:cNvSpPr txBox="1"/>
          <p:nvPr/>
        </p:nvSpPr>
        <p:spPr>
          <a:xfrm>
            <a:off x="2990088" y="148132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USGS ShakeMap / PAGER</a:t>
            </a:r>
            <a:endParaRPr b="0" i="0" sz="850" u="none" cap="none" strike="noStrike">
              <a:solidFill>
                <a:schemeClr val="dk1"/>
              </a:solidFill>
              <a:latin typeface="Calibri"/>
              <a:ea typeface="Calibri"/>
              <a:cs typeface="Calibri"/>
              <a:sym typeface="Calibri"/>
            </a:endParaRPr>
          </a:p>
        </p:txBody>
      </p:sp>
      <p:sp>
        <p:nvSpPr>
          <p:cNvPr id="349" name="Google Shape;349;p19"/>
          <p:cNvSpPr/>
          <p:nvPr/>
        </p:nvSpPr>
        <p:spPr>
          <a:xfrm>
            <a:off x="5792724" y="1481328"/>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9"/>
          <p:cNvSpPr txBox="1"/>
          <p:nvPr/>
        </p:nvSpPr>
        <p:spPr>
          <a:xfrm>
            <a:off x="5884164" y="148132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OpenQuake (GEM) → AAL</a:t>
            </a:r>
            <a:endParaRPr b="0" i="0" sz="850" u="none" cap="none" strike="noStrike">
              <a:solidFill>
                <a:schemeClr val="dk1"/>
              </a:solidFill>
              <a:latin typeface="Calibri"/>
              <a:ea typeface="Calibri"/>
              <a:cs typeface="Calibri"/>
              <a:sym typeface="Calibri"/>
            </a:endParaRPr>
          </a:p>
        </p:txBody>
      </p:sp>
      <p:sp>
        <p:nvSpPr>
          <p:cNvPr id="351" name="Google Shape;351;p19"/>
          <p:cNvSpPr/>
          <p:nvPr/>
        </p:nvSpPr>
        <p:spPr>
          <a:xfrm>
            <a:off x="8686800" y="1481328"/>
            <a:ext cx="2825496" cy="297180"/>
          </a:xfrm>
          <a:prstGeom prst="roundRect">
            <a:avLst>
              <a:gd fmla="val 15385" name="adj"/>
            </a:avLst>
          </a:prstGeom>
          <a:solidFill>
            <a:srgbClr val="EEF1F4"/>
          </a:solidFill>
          <a:ln cap="flat" cmpd="sng" w="9525">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9"/>
          <p:cNvSpPr txBox="1"/>
          <p:nvPr/>
        </p:nvSpPr>
        <p:spPr>
          <a:xfrm>
            <a:off x="8778240" y="148132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50"/>
              <a:buFont typeface="Calibri"/>
              <a:buNone/>
            </a:pPr>
            <a:r>
              <a:rPr b="0" i="0" lang="en-US" sz="850" u="none" cap="none" strike="noStrike">
                <a:solidFill>
                  <a:srgbClr val="6D6E71"/>
                </a:solidFill>
                <a:latin typeface="Calibri"/>
                <a:ea typeface="Calibri"/>
                <a:cs typeface="Calibri"/>
                <a:sym typeface="Calibri"/>
              </a:rPr>
              <a:t>Not climate-forced</a:t>
            </a:r>
            <a:endParaRPr b="0" i="0" sz="850" u="none" cap="none" strike="noStrike">
              <a:solidFill>
                <a:schemeClr val="dk1"/>
              </a:solidFill>
              <a:latin typeface="Calibri"/>
              <a:ea typeface="Calibri"/>
              <a:cs typeface="Calibri"/>
              <a:sym typeface="Calibri"/>
            </a:endParaRPr>
          </a:p>
        </p:txBody>
      </p:sp>
      <p:sp>
        <p:nvSpPr>
          <p:cNvPr id="353" name="Google Shape;353;p19"/>
          <p:cNvSpPr txBox="1"/>
          <p:nvPr/>
        </p:nvSpPr>
        <p:spPr>
          <a:xfrm>
            <a:off x="502920" y="1828800"/>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Flood</a:t>
            </a:r>
            <a:endParaRPr b="0" i="0" sz="1000" u="none" cap="none" strike="noStrike">
              <a:solidFill>
                <a:schemeClr val="dk1"/>
              </a:solidFill>
              <a:latin typeface="Calibri"/>
              <a:ea typeface="Calibri"/>
              <a:cs typeface="Calibri"/>
              <a:sym typeface="Calibri"/>
            </a:endParaRPr>
          </a:p>
        </p:txBody>
      </p:sp>
      <p:sp>
        <p:nvSpPr>
          <p:cNvPr id="354" name="Google Shape;354;p19"/>
          <p:cNvSpPr/>
          <p:nvPr/>
        </p:nvSpPr>
        <p:spPr>
          <a:xfrm>
            <a:off x="2898648" y="1828800"/>
            <a:ext cx="2825496" cy="297180"/>
          </a:xfrm>
          <a:prstGeom prst="roundRect">
            <a:avLst>
              <a:gd fmla="val 153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9"/>
          <p:cNvSpPr txBox="1"/>
          <p:nvPr/>
        </p:nvSpPr>
        <p:spPr>
          <a:xfrm>
            <a:off x="2990088" y="182880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HydraFloods + GEOGloWS</a:t>
            </a:r>
            <a:endParaRPr b="0" i="0" sz="850" u="none" cap="none" strike="noStrike">
              <a:solidFill>
                <a:schemeClr val="dk1"/>
              </a:solidFill>
              <a:latin typeface="Calibri"/>
              <a:ea typeface="Calibri"/>
              <a:cs typeface="Calibri"/>
              <a:sym typeface="Calibri"/>
            </a:endParaRPr>
          </a:p>
        </p:txBody>
      </p:sp>
      <p:sp>
        <p:nvSpPr>
          <p:cNvPr id="356" name="Google Shape;356;p19"/>
          <p:cNvSpPr/>
          <p:nvPr/>
        </p:nvSpPr>
        <p:spPr>
          <a:xfrm>
            <a:off x="5792724" y="1828800"/>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9"/>
          <p:cNvSpPr txBox="1"/>
          <p:nvPr/>
        </p:nvSpPr>
        <p:spPr>
          <a:xfrm>
            <a:off x="5884164" y="182880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CLIMADA river-flood</a:t>
            </a:r>
            <a:endParaRPr b="0" i="0" sz="850" u="none" cap="none" strike="noStrike">
              <a:solidFill>
                <a:schemeClr val="dk1"/>
              </a:solidFill>
              <a:latin typeface="Calibri"/>
              <a:ea typeface="Calibri"/>
              <a:cs typeface="Calibri"/>
              <a:sym typeface="Calibri"/>
            </a:endParaRPr>
          </a:p>
        </p:txBody>
      </p:sp>
      <p:sp>
        <p:nvSpPr>
          <p:cNvPr id="358" name="Google Shape;358;p19"/>
          <p:cNvSpPr/>
          <p:nvPr/>
        </p:nvSpPr>
        <p:spPr>
          <a:xfrm>
            <a:off x="8686800" y="1828800"/>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9"/>
          <p:cNvSpPr txBox="1"/>
          <p:nvPr/>
        </p:nvSpPr>
        <p:spPr>
          <a:xfrm>
            <a:off x="8778240" y="182880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ISIMIP-forced discharge</a:t>
            </a:r>
            <a:endParaRPr b="0" i="0" sz="850" u="none" cap="none" strike="noStrike">
              <a:solidFill>
                <a:schemeClr val="dk1"/>
              </a:solidFill>
              <a:latin typeface="Calibri"/>
              <a:ea typeface="Calibri"/>
              <a:cs typeface="Calibri"/>
              <a:sym typeface="Calibri"/>
            </a:endParaRPr>
          </a:p>
        </p:txBody>
      </p:sp>
      <p:sp>
        <p:nvSpPr>
          <p:cNvPr id="360" name="Google Shape;360;p19"/>
          <p:cNvSpPr txBox="1"/>
          <p:nvPr/>
        </p:nvSpPr>
        <p:spPr>
          <a:xfrm>
            <a:off x="502920" y="2176272"/>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Drought</a:t>
            </a:r>
            <a:endParaRPr b="0" i="0" sz="1000" u="none" cap="none" strike="noStrike">
              <a:solidFill>
                <a:schemeClr val="dk1"/>
              </a:solidFill>
              <a:latin typeface="Calibri"/>
              <a:ea typeface="Calibri"/>
              <a:cs typeface="Calibri"/>
              <a:sym typeface="Calibri"/>
            </a:endParaRPr>
          </a:p>
        </p:txBody>
      </p:sp>
      <p:sp>
        <p:nvSpPr>
          <p:cNvPr id="361" name="Google Shape;361;p19"/>
          <p:cNvSpPr/>
          <p:nvPr/>
        </p:nvSpPr>
        <p:spPr>
          <a:xfrm>
            <a:off x="2898648" y="2176272"/>
            <a:ext cx="2825496" cy="297180"/>
          </a:xfrm>
          <a:prstGeom prst="roundRect">
            <a:avLst>
              <a:gd fmla="val 153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9"/>
          <p:cNvSpPr txBox="1"/>
          <p:nvPr/>
        </p:nvSpPr>
        <p:spPr>
          <a:xfrm>
            <a:off x="2990088" y="2176272"/>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ClimateSERV SPI + VHI/ESI</a:t>
            </a:r>
            <a:endParaRPr b="0" i="0" sz="850" u="none" cap="none" strike="noStrike">
              <a:solidFill>
                <a:schemeClr val="dk1"/>
              </a:solidFill>
              <a:latin typeface="Calibri"/>
              <a:ea typeface="Calibri"/>
              <a:cs typeface="Calibri"/>
              <a:sym typeface="Calibri"/>
            </a:endParaRPr>
          </a:p>
        </p:txBody>
      </p:sp>
      <p:sp>
        <p:nvSpPr>
          <p:cNvPr id="363" name="Google Shape;363;p19"/>
          <p:cNvSpPr/>
          <p:nvPr/>
        </p:nvSpPr>
        <p:spPr>
          <a:xfrm>
            <a:off x="5792724" y="2176272"/>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9"/>
          <p:cNvSpPr txBox="1"/>
          <p:nvPr/>
        </p:nvSpPr>
        <p:spPr>
          <a:xfrm>
            <a:off x="5884164" y="2176272"/>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SPI/SPEI return periods</a:t>
            </a:r>
            <a:endParaRPr b="0" i="0" sz="850" u="none" cap="none" strike="noStrike">
              <a:solidFill>
                <a:schemeClr val="dk1"/>
              </a:solidFill>
              <a:latin typeface="Calibri"/>
              <a:ea typeface="Calibri"/>
              <a:cs typeface="Calibri"/>
              <a:sym typeface="Calibri"/>
            </a:endParaRPr>
          </a:p>
        </p:txBody>
      </p:sp>
      <p:sp>
        <p:nvSpPr>
          <p:cNvPr id="365" name="Google Shape;365;p19"/>
          <p:cNvSpPr/>
          <p:nvPr/>
        </p:nvSpPr>
        <p:spPr>
          <a:xfrm>
            <a:off x="8686800" y="2176272"/>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9"/>
          <p:cNvSpPr txBox="1"/>
          <p:nvPr/>
        </p:nvSpPr>
        <p:spPr>
          <a:xfrm>
            <a:off x="8778240" y="2176272"/>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CMIP6 SPEI / ISIMIP</a:t>
            </a:r>
            <a:endParaRPr b="0" i="0" sz="850" u="none" cap="none" strike="noStrike">
              <a:solidFill>
                <a:schemeClr val="dk1"/>
              </a:solidFill>
              <a:latin typeface="Calibri"/>
              <a:ea typeface="Calibri"/>
              <a:cs typeface="Calibri"/>
              <a:sym typeface="Calibri"/>
            </a:endParaRPr>
          </a:p>
        </p:txBody>
      </p:sp>
      <p:sp>
        <p:nvSpPr>
          <p:cNvPr id="367" name="Google Shape;367;p19"/>
          <p:cNvSpPr txBox="1"/>
          <p:nvPr/>
        </p:nvSpPr>
        <p:spPr>
          <a:xfrm>
            <a:off x="502920" y="2523744"/>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Wildfire</a:t>
            </a:r>
            <a:endParaRPr b="0" i="0" sz="1000" u="none" cap="none" strike="noStrike">
              <a:solidFill>
                <a:schemeClr val="dk1"/>
              </a:solidFill>
              <a:latin typeface="Calibri"/>
              <a:ea typeface="Calibri"/>
              <a:cs typeface="Calibri"/>
              <a:sym typeface="Calibri"/>
            </a:endParaRPr>
          </a:p>
        </p:txBody>
      </p:sp>
      <p:sp>
        <p:nvSpPr>
          <p:cNvPr id="368" name="Google Shape;368;p19"/>
          <p:cNvSpPr/>
          <p:nvPr/>
        </p:nvSpPr>
        <p:spPr>
          <a:xfrm>
            <a:off x="2898648" y="2523744"/>
            <a:ext cx="2825496" cy="297180"/>
          </a:xfrm>
          <a:prstGeom prst="roundRect">
            <a:avLst>
              <a:gd fmla="val 153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9"/>
          <p:cNvSpPr txBox="1"/>
          <p:nvPr/>
        </p:nvSpPr>
        <p:spPr>
          <a:xfrm>
            <a:off x="2990088" y="2523744"/>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FIRMS + Pyregence spread</a:t>
            </a:r>
            <a:endParaRPr b="0" i="0" sz="850" u="none" cap="none" strike="noStrike">
              <a:solidFill>
                <a:schemeClr val="dk1"/>
              </a:solidFill>
              <a:latin typeface="Calibri"/>
              <a:ea typeface="Calibri"/>
              <a:cs typeface="Calibri"/>
              <a:sym typeface="Calibri"/>
            </a:endParaRPr>
          </a:p>
        </p:txBody>
      </p:sp>
      <p:sp>
        <p:nvSpPr>
          <p:cNvPr id="370" name="Google Shape;370;p19"/>
          <p:cNvSpPr/>
          <p:nvPr/>
        </p:nvSpPr>
        <p:spPr>
          <a:xfrm>
            <a:off x="5792724" y="2523744"/>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9"/>
          <p:cNvSpPr txBox="1"/>
          <p:nvPr/>
        </p:nvSpPr>
        <p:spPr>
          <a:xfrm>
            <a:off x="5884164" y="2523744"/>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Burn probability</a:t>
            </a:r>
            <a:endParaRPr b="0" i="0" sz="850" u="none" cap="none" strike="noStrike">
              <a:solidFill>
                <a:schemeClr val="dk1"/>
              </a:solidFill>
              <a:latin typeface="Calibri"/>
              <a:ea typeface="Calibri"/>
              <a:cs typeface="Calibri"/>
              <a:sym typeface="Calibri"/>
            </a:endParaRPr>
          </a:p>
        </p:txBody>
      </p:sp>
      <p:sp>
        <p:nvSpPr>
          <p:cNvPr id="372" name="Google Shape;372;p19"/>
          <p:cNvSpPr/>
          <p:nvPr/>
        </p:nvSpPr>
        <p:spPr>
          <a:xfrm>
            <a:off x="8686800" y="2523744"/>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9"/>
          <p:cNvSpPr txBox="1"/>
          <p:nvPr/>
        </p:nvSpPr>
        <p:spPr>
          <a:xfrm>
            <a:off x="8778240" y="2523744"/>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Fire Weather Index, CMIP6</a:t>
            </a:r>
            <a:endParaRPr b="0" i="0" sz="850" u="none" cap="none" strike="noStrike">
              <a:solidFill>
                <a:schemeClr val="dk1"/>
              </a:solidFill>
              <a:latin typeface="Calibri"/>
              <a:ea typeface="Calibri"/>
              <a:cs typeface="Calibri"/>
              <a:sym typeface="Calibri"/>
            </a:endParaRPr>
          </a:p>
        </p:txBody>
      </p:sp>
      <p:sp>
        <p:nvSpPr>
          <p:cNvPr id="374" name="Google Shape;374;p19"/>
          <p:cNvSpPr txBox="1"/>
          <p:nvPr/>
        </p:nvSpPr>
        <p:spPr>
          <a:xfrm>
            <a:off x="502920" y="2871216"/>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Storm / cyclone</a:t>
            </a:r>
            <a:endParaRPr b="0" i="0" sz="1000" u="none" cap="none" strike="noStrike">
              <a:solidFill>
                <a:schemeClr val="dk1"/>
              </a:solidFill>
              <a:latin typeface="Calibri"/>
              <a:ea typeface="Calibri"/>
              <a:cs typeface="Calibri"/>
              <a:sym typeface="Calibri"/>
            </a:endParaRPr>
          </a:p>
        </p:txBody>
      </p:sp>
      <p:sp>
        <p:nvSpPr>
          <p:cNvPr id="375" name="Google Shape;375;p19"/>
          <p:cNvSpPr/>
          <p:nvPr/>
        </p:nvSpPr>
        <p:spPr>
          <a:xfrm>
            <a:off x="2898648" y="2871216"/>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9"/>
          <p:cNvSpPr txBox="1"/>
          <p:nvPr/>
        </p:nvSpPr>
        <p:spPr>
          <a:xfrm>
            <a:off x="2990088" y="2871216"/>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NHC / JTWC · IBTrACS</a:t>
            </a:r>
            <a:endParaRPr b="0" i="0" sz="850" u="none" cap="none" strike="noStrike">
              <a:solidFill>
                <a:schemeClr val="dk1"/>
              </a:solidFill>
              <a:latin typeface="Calibri"/>
              <a:ea typeface="Calibri"/>
              <a:cs typeface="Calibri"/>
              <a:sym typeface="Calibri"/>
            </a:endParaRPr>
          </a:p>
        </p:txBody>
      </p:sp>
      <p:sp>
        <p:nvSpPr>
          <p:cNvPr id="377" name="Google Shape;377;p19"/>
          <p:cNvSpPr/>
          <p:nvPr/>
        </p:nvSpPr>
        <p:spPr>
          <a:xfrm>
            <a:off x="5792724" y="2871216"/>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9"/>
          <p:cNvSpPr txBox="1"/>
          <p:nvPr/>
        </p:nvSpPr>
        <p:spPr>
          <a:xfrm>
            <a:off x="5884164" y="2871216"/>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CLIMADA TC module</a:t>
            </a:r>
            <a:endParaRPr b="0" i="0" sz="850" u="none" cap="none" strike="noStrike">
              <a:solidFill>
                <a:schemeClr val="dk1"/>
              </a:solidFill>
              <a:latin typeface="Calibri"/>
              <a:ea typeface="Calibri"/>
              <a:cs typeface="Calibri"/>
              <a:sym typeface="Calibri"/>
            </a:endParaRPr>
          </a:p>
        </p:txBody>
      </p:sp>
      <p:sp>
        <p:nvSpPr>
          <p:cNvPr id="379" name="Google Shape;379;p19"/>
          <p:cNvSpPr/>
          <p:nvPr/>
        </p:nvSpPr>
        <p:spPr>
          <a:xfrm>
            <a:off x="8686800" y="2871216"/>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txBox="1"/>
          <p:nvPr/>
        </p:nvSpPr>
        <p:spPr>
          <a:xfrm>
            <a:off x="8778240" y="2871216"/>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CLIMADA TC, CMIP6 SST</a:t>
            </a:r>
            <a:endParaRPr b="0" i="0" sz="850" u="none" cap="none" strike="noStrike">
              <a:solidFill>
                <a:schemeClr val="dk1"/>
              </a:solidFill>
              <a:latin typeface="Calibri"/>
              <a:ea typeface="Calibri"/>
              <a:cs typeface="Calibri"/>
              <a:sym typeface="Calibri"/>
            </a:endParaRPr>
          </a:p>
        </p:txBody>
      </p:sp>
      <p:sp>
        <p:nvSpPr>
          <p:cNvPr id="381" name="Google Shape;381;p19"/>
          <p:cNvSpPr txBox="1"/>
          <p:nvPr/>
        </p:nvSpPr>
        <p:spPr>
          <a:xfrm>
            <a:off x="502920" y="3218688"/>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Heatwave</a:t>
            </a:r>
            <a:endParaRPr b="0" i="0" sz="1000" u="none" cap="none" strike="noStrike">
              <a:solidFill>
                <a:schemeClr val="dk1"/>
              </a:solidFill>
              <a:latin typeface="Calibri"/>
              <a:ea typeface="Calibri"/>
              <a:cs typeface="Calibri"/>
              <a:sym typeface="Calibri"/>
            </a:endParaRPr>
          </a:p>
        </p:txBody>
      </p:sp>
      <p:sp>
        <p:nvSpPr>
          <p:cNvPr id="382" name="Google Shape;382;p19"/>
          <p:cNvSpPr/>
          <p:nvPr/>
        </p:nvSpPr>
        <p:spPr>
          <a:xfrm>
            <a:off x="2898648" y="3218688"/>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txBox="1"/>
          <p:nvPr/>
        </p:nvSpPr>
        <p:spPr>
          <a:xfrm>
            <a:off x="2990088" y="321868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ERA5 + GFS heat index</a:t>
            </a:r>
            <a:endParaRPr b="0" i="0" sz="850" u="none" cap="none" strike="noStrike">
              <a:solidFill>
                <a:schemeClr val="dk1"/>
              </a:solidFill>
              <a:latin typeface="Calibri"/>
              <a:ea typeface="Calibri"/>
              <a:cs typeface="Calibri"/>
              <a:sym typeface="Calibri"/>
            </a:endParaRPr>
          </a:p>
        </p:txBody>
      </p:sp>
      <p:sp>
        <p:nvSpPr>
          <p:cNvPr id="384" name="Google Shape;384;p19"/>
          <p:cNvSpPr/>
          <p:nvPr/>
        </p:nvSpPr>
        <p:spPr>
          <a:xfrm>
            <a:off x="5792724" y="3218688"/>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9"/>
          <p:cNvSpPr txBox="1"/>
          <p:nvPr/>
        </p:nvSpPr>
        <p:spPr>
          <a:xfrm>
            <a:off x="5884164" y="321868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Exceedance return periods</a:t>
            </a:r>
            <a:endParaRPr b="0" i="0" sz="850" u="none" cap="none" strike="noStrike">
              <a:solidFill>
                <a:schemeClr val="dk1"/>
              </a:solidFill>
              <a:latin typeface="Calibri"/>
              <a:ea typeface="Calibri"/>
              <a:cs typeface="Calibri"/>
              <a:sym typeface="Calibri"/>
            </a:endParaRPr>
          </a:p>
        </p:txBody>
      </p:sp>
      <p:sp>
        <p:nvSpPr>
          <p:cNvPr id="386" name="Google Shape;386;p19"/>
          <p:cNvSpPr/>
          <p:nvPr/>
        </p:nvSpPr>
        <p:spPr>
          <a:xfrm>
            <a:off x="8686800" y="3218688"/>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
          <p:cNvSpPr txBox="1"/>
          <p:nvPr/>
        </p:nvSpPr>
        <p:spPr>
          <a:xfrm>
            <a:off x="8778240" y="321868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CMIP6 WBGT</a:t>
            </a:r>
            <a:endParaRPr b="0" i="0" sz="850" u="none" cap="none" strike="noStrike">
              <a:solidFill>
                <a:schemeClr val="dk1"/>
              </a:solidFill>
              <a:latin typeface="Calibri"/>
              <a:ea typeface="Calibri"/>
              <a:cs typeface="Calibri"/>
              <a:sym typeface="Calibri"/>
            </a:endParaRPr>
          </a:p>
        </p:txBody>
      </p:sp>
      <p:sp>
        <p:nvSpPr>
          <p:cNvPr id="388" name="Google Shape;388;p19"/>
          <p:cNvSpPr txBox="1"/>
          <p:nvPr/>
        </p:nvSpPr>
        <p:spPr>
          <a:xfrm>
            <a:off x="502920" y="3566160"/>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Air pollution</a:t>
            </a:r>
            <a:endParaRPr b="0" i="0" sz="1000" u="none" cap="none" strike="noStrike">
              <a:solidFill>
                <a:schemeClr val="dk1"/>
              </a:solidFill>
              <a:latin typeface="Calibri"/>
              <a:ea typeface="Calibri"/>
              <a:cs typeface="Calibri"/>
              <a:sym typeface="Calibri"/>
            </a:endParaRPr>
          </a:p>
        </p:txBody>
      </p:sp>
      <p:sp>
        <p:nvSpPr>
          <p:cNvPr id="389" name="Google Shape;389;p19"/>
          <p:cNvSpPr/>
          <p:nvPr/>
        </p:nvSpPr>
        <p:spPr>
          <a:xfrm>
            <a:off x="2898648" y="3566160"/>
            <a:ext cx="2825496" cy="297180"/>
          </a:xfrm>
          <a:prstGeom prst="roundRect">
            <a:avLst>
              <a:gd fmla="val 153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9"/>
          <p:cNvSpPr txBox="1"/>
          <p:nvPr/>
        </p:nvSpPr>
        <p:spPr>
          <a:xfrm>
            <a:off x="2990088" y="356616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AQ Explorer + Sentinel-5P</a:t>
            </a:r>
            <a:endParaRPr b="0" i="0" sz="850" u="none" cap="none" strike="noStrike">
              <a:solidFill>
                <a:schemeClr val="dk1"/>
              </a:solidFill>
              <a:latin typeface="Calibri"/>
              <a:ea typeface="Calibri"/>
              <a:cs typeface="Calibri"/>
              <a:sym typeface="Calibri"/>
            </a:endParaRPr>
          </a:p>
        </p:txBody>
      </p:sp>
      <p:sp>
        <p:nvSpPr>
          <p:cNvPr id="391" name="Google Shape;391;p19"/>
          <p:cNvSpPr/>
          <p:nvPr/>
        </p:nvSpPr>
        <p:spPr>
          <a:xfrm>
            <a:off x="5792724" y="3566160"/>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9"/>
          <p:cNvSpPr txBox="1"/>
          <p:nvPr/>
        </p:nvSpPr>
        <p:spPr>
          <a:xfrm>
            <a:off x="5884164" y="356616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PM2.5 exposure-days</a:t>
            </a:r>
            <a:endParaRPr b="0" i="0" sz="850" u="none" cap="none" strike="noStrike">
              <a:solidFill>
                <a:schemeClr val="dk1"/>
              </a:solidFill>
              <a:latin typeface="Calibri"/>
              <a:ea typeface="Calibri"/>
              <a:cs typeface="Calibri"/>
              <a:sym typeface="Calibri"/>
            </a:endParaRPr>
          </a:p>
        </p:txBody>
      </p:sp>
      <p:sp>
        <p:nvSpPr>
          <p:cNvPr id="393" name="Google Shape;393;p19"/>
          <p:cNvSpPr/>
          <p:nvPr/>
        </p:nvSpPr>
        <p:spPr>
          <a:xfrm>
            <a:off x="8686800" y="3566160"/>
            <a:ext cx="2825496" cy="297180"/>
          </a:xfrm>
          <a:prstGeom prst="roundRect">
            <a:avLst>
              <a:gd fmla="val 15385" name="adj"/>
            </a:avLst>
          </a:prstGeom>
          <a:solidFill>
            <a:srgbClr val="F7E8E8"/>
          </a:solidFill>
          <a:ln cap="flat" cmpd="sng" w="952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9"/>
          <p:cNvSpPr txBox="1"/>
          <p:nvPr/>
        </p:nvSpPr>
        <p:spPr>
          <a:xfrm>
            <a:off x="8778240" y="356616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No accepted method</a:t>
            </a:r>
            <a:endParaRPr b="0" i="0" sz="850" u="none" cap="none" strike="noStrike">
              <a:solidFill>
                <a:schemeClr val="dk1"/>
              </a:solidFill>
              <a:latin typeface="Calibri"/>
              <a:ea typeface="Calibri"/>
              <a:cs typeface="Calibri"/>
              <a:sym typeface="Calibri"/>
            </a:endParaRPr>
          </a:p>
        </p:txBody>
      </p:sp>
      <p:sp>
        <p:nvSpPr>
          <p:cNvPr id="395" name="Google Shape;395;p19"/>
          <p:cNvSpPr txBox="1"/>
          <p:nvPr/>
        </p:nvSpPr>
        <p:spPr>
          <a:xfrm>
            <a:off x="502920" y="3913632"/>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Storm surge</a:t>
            </a:r>
            <a:endParaRPr b="0" i="0" sz="1000" u="none" cap="none" strike="noStrike">
              <a:solidFill>
                <a:schemeClr val="dk1"/>
              </a:solidFill>
              <a:latin typeface="Calibri"/>
              <a:ea typeface="Calibri"/>
              <a:cs typeface="Calibri"/>
              <a:sym typeface="Calibri"/>
            </a:endParaRPr>
          </a:p>
        </p:txBody>
      </p:sp>
      <p:sp>
        <p:nvSpPr>
          <p:cNvPr id="396" name="Google Shape;396;p19"/>
          <p:cNvSpPr/>
          <p:nvPr/>
        </p:nvSpPr>
        <p:spPr>
          <a:xfrm>
            <a:off x="2898648" y="3913632"/>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9"/>
          <p:cNvSpPr txBox="1"/>
          <p:nvPr/>
        </p:nvSpPr>
        <p:spPr>
          <a:xfrm>
            <a:off x="2990088" y="3913632"/>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NOAA STOFS-2D</a:t>
            </a:r>
            <a:endParaRPr b="0" i="0" sz="850" u="none" cap="none" strike="noStrike">
              <a:solidFill>
                <a:schemeClr val="dk1"/>
              </a:solidFill>
              <a:latin typeface="Calibri"/>
              <a:ea typeface="Calibri"/>
              <a:cs typeface="Calibri"/>
              <a:sym typeface="Calibri"/>
            </a:endParaRPr>
          </a:p>
        </p:txBody>
      </p:sp>
      <p:sp>
        <p:nvSpPr>
          <p:cNvPr id="398" name="Google Shape;398;p19"/>
          <p:cNvSpPr/>
          <p:nvPr/>
        </p:nvSpPr>
        <p:spPr>
          <a:xfrm>
            <a:off x="5792724" y="3913632"/>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9"/>
          <p:cNvSpPr txBox="1"/>
          <p:nvPr/>
        </p:nvSpPr>
        <p:spPr>
          <a:xfrm>
            <a:off x="5884164" y="3913632"/>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climada_petals surge</a:t>
            </a:r>
            <a:endParaRPr b="0" i="0" sz="850" u="none" cap="none" strike="noStrike">
              <a:solidFill>
                <a:schemeClr val="dk1"/>
              </a:solidFill>
              <a:latin typeface="Calibri"/>
              <a:ea typeface="Calibri"/>
              <a:cs typeface="Calibri"/>
              <a:sym typeface="Calibri"/>
            </a:endParaRPr>
          </a:p>
        </p:txBody>
      </p:sp>
      <p:sp>
        <p:nvSpPr>
          <p:cNvPr id="400" name="Google Shape;400;p19"/>
          <p:cNvSpPr/>
          <p:nvPr/>
        </p:nvSpPr>
        <p:spPr>
          <a:xfrm>
            <a:off x="8686800" y="3913632"/>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9"/>
          <p:cNvSpPr txBox="1"/>
          <p:nvPr/>
        </p:nvSpPr>
        <p:spPr>
          <a:xfrm>
            <a:off x="8778240" y="3913632"/>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Compound surge + SLR</a:t>
            </a:r>
            <a:endParaRPr b="0" i="0" sz="850" u="none" cap="none" strike="noStrike">
              <a:solidFill>
                <a:schemeClr val="dk1"/>
              </a:solidFill>
              <a:latin typeface="Calibri"/>
              <a:ea typeface="Calibri"/>
              <a:cs typeface="Calibri"/>
              <a:sym typeface="Calibri"/>
            </a:endParaRPr>
          </a:p>
        </p:txBody>
      </p:sp>
      <p:sp>
        <p:nvSpPr>
          <p:cNvPr id="402" name="Google Shape;402;p19"/>
          <p:cNvSpPr txBox="1"/>
          <p:nvPr/>
        </p:nvSpPr>
        <p:spPr>
          <a:xfrm>
            <a:off x="502920" y="4261104"/>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Sea level rise</a:t>
            </a:r>
            <a:endParaRPr b="0" i="0" sz="1000" u="none" cap="none" strike="noStrike">
              <a:solidFill>
                <a:schemeClr val="dk1"/>
              </a:solidFill>
              <a:latin typeface="Calibri"/>
              <a:ea typeface="Calibri"/>
              <a:cs typeface="Calibri"/>
              <a:sym typeface="Calibri"/>
            </a:endParaRPr>
          </a:p>
        </p:txBody>
      </p:sp>
      <p:sp>
        <p:nvSpPr>
          <p:cNvPr id="403" name="Google Shape;403;p19"/>
          <p:cNvSpPr/>
          <p:nvPr/>
        </p:nvSpPr>
        <p:spPr>
          <a:xfrm>
            <a:off x="2898648" y="4261104"/>
            <a:ext cx="2825496" cy="297180"/>
          </a:xfrm>
          <a:prstGeom prst="roundRect">
            <a:avLst>
              <a:gd fmla="val 15385" name="adj"/>
            </a:avLst>
          </a:prstGeom>
          <a:solidFill>
            <a:srgbClr val="EEF1F4"/>
          </a:solidFill>
          <a:ln cap="flat" cmpd="sng" w="9525">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9"/>
          <p:cNvSpPr txBox="1"/>
          <p:nvPr/>
        </p:nvSpPr>
        <p:spPr>
          <a:xfrm>
            <a:off x="2990088" y="4261104"/>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50"/>
              <a:buFont typeface="Calibri"/>
              <a:buNone/>
            </a:pPr>
            <a:r>
              <a:rPr b="0" i="0" lang="en-US" sz="850" u="none" cap="none" strike="noStrike">
                <a:solidFill>
                  <a:srgbClr val="6D6E71"/>
                </a:solidFill>
                <a:latin typeface="Calibri"/>
                <a:ea typeface="Calibri"/>
                <a:cs typeface="Calibri"/>
                <a:sym typeface="Calibri"/>
              </a:rPr>
              <a:t>Trend, not event</a:t>
            </a:r>
            <a:endParaRPr b="0" i="0" sz="850" u="none" cap="none" strike="noStrike">
              <a:solidFill>
                <a:schemeClr val="dk1"/>
              </a:solidFill>
              <a:latin typeface="Calibri"/>
              <a:ea typeface="Calibri"/>
              <a:cs typeface="Calibri"/>
              <a:sym typeface="Calibri"/>
            </a:endParaRPr>
          </a:p>
        </p:txBody>
      </p:sp>
      <p:sp>
        <p:nvSpPr>
          <p:cNvPr id="405" name="Google Shape;405;p19"/>
          <p:cNvSpPr/>
          <p:nvPr/>
        </p:nvSpPr>
        <p:spPr>
          <a:xfrm>
            <a:off x="5792724" y="4261104"/>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9"/>
          <p:cNvSpPr txBox="1"/>
          <p:nvPr/>
        </p:nvSpPr>
        <p:spPr>
          <a:xfrm>
            <a:off x="5884164" y="4261104"/>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Altimetry × coastal DEM</a:t>
            </a:r>
            <a:endParaRPr b="0" i="0" sz="850" u="none" cap="none" strike="noStrike">
              <a:solidFill>
                <a:schemeClr val="dk1"/>
              </a:solidFill>
              <a:latin typeface="Calibri"/>
              <a:ea typeface="Calibri"/>
              <a:cs typeface="Calibri"/>
              <a:sym typeface="Calibri"/>
            </a:endParaRPr>
          </a:p>
        </p:txBody>
      </p:sp>
      <p:sp>
        <p:nvSpPr>
          <p:cNvPr id="407" name="Google Shape;407;p19"/>
          <p:cNvSpPr/>
          <p:nvPr/>
        </p:nvSpPr>
        <p:spPr>
          <a:xfrm>
            <a:off x="8686800" y="4261104"/>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9"/>
          <p:cNvSpPr txBox="1"/>
          <p:nvPr/>
        </p:nvSpPr>
        <p:spPr>
          <a:xfrm>
            <a:off x="8778240" y="4261104"/>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IPCC AR6 projections</a:t>
            </a:r>
            <a:endParaRPr b="0" i="0" sz="850" u="none" cap="none" strike="noStrike">
              <a:solidFill>
                <a:schemeClr val="dk1"/>
              </a:solidFill>
              <a:latin typeface="Calibri"/>
              <a:ea typeface="Calibri"/>
              <a:cs typeface="Calibri"/>
              <a:sym typeface="Calibri"/>
            </a:endParaRPr>
          </a:p>
        </p:txBody>
      </p:sp>
      <p:sp>
        <p:nvSpPr>
          <p:cNvPr id="409" name="Google Shape;409;p19"/>
          <p:cNvSpPr txBox="1"/>
          <p:nvPr/>
        </p:nvSpPr>
        <p:spPr>
          <a:xfrm>
            <a:off x="502920" y="4608576"/>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Tornado</a:t>
            </a:r>
            <a:endParaRPr b="0" i="0" sz="1000" u="none" cap="none" strike="noStrike">
              <a:solidFill>
                <a:schemeClr val="dk1"/>
              </a:solidFill>
              <a:latin typeface="Calibri"/>
              <a:ea typeface="Calibri"/>
              <a:cs typeface="Calibri"/>
              <a:sym typeface="Calibri"/>
            </a:endParaRPr>
          </a:p>
        </p:txBody>
      </p:sp>
      <p:sp>
        <p:nvSpPr>
          <p:cNvPr id="410" name="Google Shape;410;p19"/>
          <p:cNvSpPr/>
          <p:nvPr/>
        </p:nvSpPr>
        <p:spPr>
          <a:xfrm>
            <a:off x="2898648" y="4608576"/>
            <a:ext cx="2825496" cy="297180"/>
          </a:xfrm>
          <a:prstGeom prst="roundRect">
            <a:avLst>
              <a:gd fmla="val 15385" name="adj"/>
            </a:avLst>
          </a:prstGeom>
          <a:solidFill>
            <a:srgbClr val="F7E8E8"/>
          </a:solidFill>
          <a:ln cap="flat" cmpd="sng" w="952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9"/>
          <p:cNvSpPr txBox="1"/>
          <p:nvPr/>
        </p:nvSpPr>
        <p:spPr>
          <a:xfrm>
            <a:off x="2990088" y="4608576"/>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US / EU only</a:t>
            </a:r>
            <a:endParaRPr b="0" i="0" sz="850" u="none" cap="none" strike="noStrike">
              <a:solidFill>
                <a:schemeClr val="dk1"/>
              </a:solidFill>
              <a:latin typeface="Calibri"/>
              <a:ea typeface="Calibri"/>
              <a:cs typeface="Calibri"/>
              <a:sym typeface="Calibri"/>
            </a:endParaRPr>
          </a:p>
        </p:txBody>
      </p:sp>
      <p:sp>
        <p:nvSpPr>
          <p:cNvPr id="412" name="Google Shape;412;p19"/>
          <p:cNvSpPr/>
          <p:nvPr/>
        </p:nvSpPr>
        <p:spPr>
          <a:xfrm>
            <a:off x="5792724" y="4608576"/>
            <a:ext cx="2825496" cy="297180"/>
          </a:xfrm>
          <a:prstGeom prst="roundRect">
            <a:avLst>
              <a:gd fmla="val 15385" name="adj"/>
            </a:avLst>
          </a:prstGeom>
          <a:solidFill>
            <a:srgbClr val="F7E8E8"/>
          </a:solidFill>
          <a:ln cap="flat" cmpd="sng" w="952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9"/>
          <p:cNvSpPr txBox="1"/>
          <p:nvPr/>
        </p:nvSpPr>
        <p:spPr>
          <a:xfrm>
            <a:off x="5884164" y="4608576"/>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No global catalogue</a:t>
            </a:r>
            <a:endParaRPr b="0" i="0" sz="850" u="none" cap="none" strike="noStrike">
              <a:solidFill>
                <a:schemeClr val="dk1"/>
              </a:solidFill>
              <a:latin typeface="Calibri"/>
              <a:ea typeface="Calibri"/>
              <a:cs typeface="Calibri"/>
              <a:sym typeface="Calibri"/>
            </a:endParaRPr>
          </a:p>
        </p:txBody>
      </p:sp>
      <p:sp>
        <p:nvSpPr>
          <p:cNvPr id="414" name="Google Shape;414;p19"/>
          <p:cNvSpPr/>
          <p:nvPr/>
        </p:nvSpPr>
        <p:spPr>
          <a:xfrm>
            <a:off x="8686800" y="4608576"/>
            <a:ext cx="2825496" cy="297180"/>
          </a:xfrm>
          <a:prstGeom prst="roundRect">
            <a:avLst>
              <a:gd fmla="val 15385" name="adj"/>
            </a:avLst>
          </a:prstGeom>
          <a:solidFill>
            <a:srgbClr val="F7E8E8"/>
          </a:solidFill>
          <a:ln cap="flat" cmpd="sng" w="952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9"/>
          <p:cNvSpPr txBox="1"/>
          <p:nvPr/>
        </p:nvSpPr>
        <p:spPr>
          <a:xfrm>
            <a:off x="8778240" y="4608576"/>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Research-stage proxies</a:t>
            </a:r>
            <a:endParaRPr b="0" i="0" sz="850" u="none" cap="none" strike="noStrike">
              <a:solidFill>
                <a:schemeClr val="dk1"/>
              </a:solidFill>
              <a:latin typeface="Calibri"/>
              <a:ea typeface="Calibri"/>
              <a:cs typeface="Calibri"/>
              <a:sym typeface="Calibri"/>
            </a:endParaRPr>
          </a:p>
        </p:txBody>
      </p:sp>
      <p:sp>
        <p:nvSpPr>
          <p:cNvPr id="416" name="Google Shape;416;p19"/>
          <p:cNvSpPr txBox="1"/>
          <p:nvPr/>
        </p:nvSpPr>
        <p:spPr>
          <a:xfrm>
            <a:off x="502920" y="4956048"/>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Wind gust</a:t>
            </a:r>
            <a:endParaRPr b="0" i="0" sz="1000" u="none" cap="none" strike="noStrike">
              <a:solidFill>
                <a:schemeClr val="dk1"/>
              </a:solidFill>
              <a:latin typeface="Calibri"/>
              <a:ea typeface="Calibri"/>
              <a:cs typeface="Calibri"/>
              <a:sym typeface="Calibri"/>
            </a:endParaRPr>
          </a:p>
        </p:txBody>
      </p:sp>
      <p:sp>
        <p:nvSpPr>
          <p:cNvPr id="417" name="Google Shape;417;p19"/>
          <p:cNvSpPr/>
          <p:nvPr/>
        </p:nvSpPr>
        <p:spPr>
          <a:xfrm>
            <a:off x="2898648" y="4956048"/>
            <a:ext cx="2825496" cy="297180"/>
          </a:xfrm>
          <a:prstGeom prst="roundRect">
            <a:avLst>
              <a:gd fmla="val 15385" name="adj"/>
            </a:avLst>
          </a:prstGeom>
          <a:solidFill>
            <a:srgbClr val="F7E8E8"/>
          </a:solidFill>
          <a:ln cap="flat" cmpd="sng" w="952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9"/>
          <p:cNvSpPr txBox="1"/>
          <p:nvPr/>
        </p:nvSpPr>
        <p:spPr>
          <a:xfrm>
            <a:off x="2990088" y="495604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Forecast proxy only</a:t>
            </a:r>
            <a:endParaRPr b="0" i="0" sz="850" u="none" cap="none" strike="noStrike">
              <a:solidFill>
                <a:schemeClr val="dk1"/>
              </a:solidFill>
              <a:latin typeface="Calibri"/>
              <a:ea typeface="Calibri"/>
              <a:cs typeface="Calibri"/>
              <a:sym typeface="Calibri"/>
            </a:endParaRPr>
          </a:p>
        </p:txBody>
      </p:sp>
      <p:sp>
        <p:nvSpPr>
          <p:cNvPr id="419" name="Google Shape;419;p19"/>
          <p:cNvSpPr/>
          <p:nvPr/>
        </p:nvSpPr>
        <p:spPr>
          <a:xfrm>
            <a:off x="5792724" y="4956048"/>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9"/>
          <p:cNvSpPr txBox="1"/>
          <p:nvPr/>
        </p:nvSpPr>
        <p:spPr>
          <a:xfrm>
            <a:off x="5884164" y="495604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ERA5 gust return periods</a:t>
            </a:r>
            <a:endParaRPr b="0" i="0" sz="850" u="none" cap="none" strike="noStrike">
              <a:solidFill>
                <a:schemeClr val="dk1"/>
              </a:solidFill>
              <a:latin typeface="Calibri"/>
              <a:ea typeface="Calibri"/>
              <a:cs typeface="Calibri"/>
              <a:sym typeface="Calibri"/>
            </a:endParaRPr>
          </a:p>
        </p:txBody>
      </p:sp>
      <p:sp>
        <p:nvSpPr>
          <p:cNvPr id="421" name="Google Shape;421;p19"/>
          <p:cNvSpPr/>
          <p:nvPr/>
        </p:nvSpPr>
        <p:spPr>
          <a:xfrm>
            <a:off x="8686800" y="4956048"/>
            <a:ext cx="2825496" cy="297180"/>
          </a:xfrm>
          <a:prstGeom prst="roundRect">
            <a:avLst>
              <a:gd fmla="val 15385" name="adj"/>
            </a:avLst>
          </a:prstGeom>
          <a:solidFill>
            <a:srgbClr val="F7E8E8"/>
          </a:solidFill>
          <a:ln cap="flat" cmpd="sng" w="952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9"/>
          <p:cNvSpPr txBox="1"/>
          <p:nvPr/>
        </p:nvSpPr>
        <p:spPr>
          <a:xfrm>
            <a:off x="8778240" y="495604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Wide model spread</a:t>
            </a:r>
            <a:endParaRPr b="0" i="0" sz="850" u="none" cap="none" strike="noStrike">
              <a:solidFill>
                <a:schemeClr val="dk1"/>
              </a:solidFill>
              <a:latin typeface="Calibri"/>
              <a:ea typeface="Calibri"/>
              <a:cs typeface="Calibri"/>
              <a:sym typeface="Calibri"/>
            </a:endParaRPr>
          </a:p>
        </p:txBody>
      </p:sp>
      <p:sp>
        <p:nvSpPr>
          <p:cNvPr id="423" name="Google Shape;423;p19"/>
          <p:cNvSpPr txBox="1"/>
          <p:nvPr/>
        </p:nvSpPr>
        <p:spPr>
          <a:xfrm>
            <a:off x="502920" y="5303520"/>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Extreme cold</a:t>
            </a:r>
            <a:endParaRPr b="0" i="0" sz="1000" u="none" cap="none" strike="noStrike">
              <a:solidFill>
                <a:schemeClr val="dk1"/>
              </a:solidFill>
              <a:latin typeface="Calibri"/>
              <a:ea typeface="Calibri"/>
              <a:cs typeface="Calibri"/>
              <a:sym typeface="Calibri"/>
            </a:endParaRPr>
          </a:p>
        </p:txBody>
      </p:sp>
      <p:sp>
        <p:nvSpPr>
          <p:cNvPr id="424" name="Google Shape;424;p19"/>
          <p:cNvSpPr/>
          <p:nvPr/>
        </p:nvSpPr>
        <p:spPr>
          <a:xfrm>
            <a:off x="2898648" y="5303520"/>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9"/>
          <p:cNvSpPr txBox="1"/>
          <p:nvPr/>
        </p:nvSpPr>
        <p:spPr>
          <a:xfrm>
            <a:off x="2990088" y="530352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ERA5 + GFS cold index</a:t>
            </a:r>
            <a:endParaRPr b="0" i="0" sz="850" u="none" cap="none" strike="noStrike">
              <a:solidFill>
                <a:schemeClr val="dk1"/>
              </a:solidFill>
              <a:latin typeface="Calibri"/>
              <a:ea typeface="Calibri"/>
              <a:cs typeface="Calibri"/>
              <a:sym typeface="Calibri"/>
            </a:endParaRPr>
          </a:p>
        </p:txBody>
      </p:sp>
      <p:sp>
        <p:nvSpPr>
          <p:cNvPr id="426" name="Google Shape;426;p19"/>
          <p:cNvSpPr/>
          <p:nvPr/>
        </p:nvSpPr>
        <p:spPr>
          <a:xfrm>
            <a:off x="5792724" y="5303520"/>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9"/>
          <p:cNvSpPr txBox="1"/>
          <p:nvPr/>
        </p:nvSpPr>
        <p:spPr>
          <a:xfrm>
            <a:off x="5884164" y="530352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Cold-spell return periods</a:t>
            </a:r>
            <a:endParaRPr b="0" i="0" sz="850" u="none" cap="none" strike="noStrike">
              <a:solidFill>
                <a:schemeClr val="dk1"/>
              </a:solidFill>
              <a:latin typeface="Calibri"/>
              <a:ea typeface="Calibri"/>
              <a:cs typeface="Calibri"/>
              <a:sym typeface="Calibri"/>
            </a:endParaRPr>
          </a:p>
        </p:txBody>
      </p:sp>
      <p:sp>
        <p:nvSpPr>
          <p:cNvPr id="428" name="Google Shape;428;p19"/>
          <p:cNvSpPr/>
          <p:nvPr/>
        </p:nvSpPr>
        <p:spPr>
          <a:xfrm>
            <a:off x="8686800" y="5303520"/>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9"/>
          <p:cNvSpPr txBox="1"/>
          <p:nvPr/>
        </p:nvSpPr>
        <p:spPr>
          <a:xfrm>
            <a:off x="8778240" y="530352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CMIP6 cold extremes</a:t>
            </a:r>
            <a:endParaRPr b="0" i="0" sz="850" u="none" cap="none" strike="noStrike">
              <a:solidFill>
                <a:schemeClr val="dk1"/>
              </a:solidFill>
              <a:latin typeface="Calibri"/>
              <a:ea typeface="Calibri"/>
              <a:cs typeface="Calibri"/>
              <a:sym typeface="Calibri"/>
            </a:endParaRPr>
          </a:p>
        </p:txBody>
      </p:sp>
      <p:sp>
        <p:nvSpPr>
          <p:cNvPr id="430" name="Google Shape;430;p19"/>
          <p:cNvSpPr/>
          <p:nvPr/>
        </p:nvSpPr>
        <p:spPr>
          <a:xfrm>
            <a:off x="548640" y="5943600"/>
            <a:ext cx="146304" cy="146304"/>
          </a:xfrm>
          <a:prstGeom prst="roundRect">
            <a:avLst>
              <a:gd fmla="val 25000"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txBox="1"/>
          <p:nvPr/>
        </p:nvSpPr>
        <p:spPr>
          <a:xfrm>
            <a:off x="749808" y="589788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Built — reuse</a:t>
            </a:r>
            <a:endParaRPr b="0" i="0" sz="950" u="none" cap="none" strike="noStrike">
              <a:solidFill>
                <a:schemeClr val="dk1"/>
              </a:solidFill>
              <a:latin typeface="Calibri"/>
              <a:ea typeface="Calibri"/>
              <a:cs typeface="Calibri"/>
              <a:sym typeface="Calibri"/>
            </a:endParaRPr>
          </a:p>
        </p:txBody>
      </p:sp>
      <p:sp>
        <p:nvSpPr>
          <p:cNvPr id="432" name="Google Shape;432;p19"/>
          <p:cNvSpPr/>
          <p:nvPr/>
        </p:nvSpPr>
        <p:spPr>
          <a:xfrm>
            <a:off x="2880360" y="5943600"/>
            <a:ext cx="146304" cy="146304"/>
          </a:xfrm>
          <a:prstGeom prst="roundRect">
            <a:avLst>
              <a:gd fmla="val 25000"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9"/>
          <p:cNvSpPr txBox="1"/>
          <p:nvPr/>
        </p:nvSpPr>
        <p:spPr>
          <a:xfrm>
            <a:off x="3081528" y="589788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Adopt a partner</a:t>
            </a:r>
            <a:endParaRPr b="0" i="0" sz="950" u="none" cap="none" strike="noStrike">
              <a:solidFill>
                <a:schemeClr val="dk1"/>
              </a:solidFill>
              <a:latin typeface="Calibri"/>
              <a:ea typeface="Calibri"/>
              <a:cs typeface="Calibri"/>
              <a:sym typeface="Calibri"/>
            </a:endParaRPr>
          </a:p>
        </p:txBody>
      </p:sp>
      <p:sp>
        <p:nvSpPr>
          <p:cNvPr id="434" name="Google Shape;434;p19"/>
          <p:cNvSpPr/>
          <p:nvPr/>
        </p:nvSpPr>
        <p:spPr>
          <a:xfrm>
            <a:off x="5212080" y="5943600"/>
            <a:ext cx="146304" cy="146304"/>
          </a:xfrm>
          <a:prstGeom prst="roundRect">
            <a:avLst>
              <a:gd fmla="val 25000"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9"/>
          <p:cNvSpPr txBox="1"/>
          <p:nvPr/>
        </p:nvSpPr>
        <p:spPr>
          <a:xfrm>
            <a:off x="5413248" y="589788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New build work</a:t>
            </a:r>
            <a:endParaRPr b="0" i="0" sz="950" u="none" cap="none" strike="noStrike">
              <a:solidFill>
                <a:schemeClr val="dk1"/>
              </a:solidFill>
              <a:latin typeface="Calibri"/>
              <a:ea typeface="Calibri"/>
              <a:cs typeface="Calibri"/>
              <a:sym typeface="Calibri"/>
            </a:endParaRPr>
          </a:p>
        </p:txBody>
      </p:sp>
      <p:sp>
        <p:nvSpPr>
          <p:cNvPr id="436" name="Google Shape;436;p19"/>
          <p:cNvSpPr/>
          <p:nvPr/>
        </p:nvSpPr>
        <p:spPr>
          <a:xfrm>
            <a:off x="7543800" y="5943600"/>
            <a:ext cx="146304" cy="146304"/>
          </a:xfrm>
          <a:prstGeom prst="roundRect">
            <a:avLst>
              <a:gd fmla="val 25000" name="adj"/>
            </a:avLst>
          </a:prstGeom>
          <a:solidFill>
            <a:srgbClr val="F7E8E8"/>
          </a:solidFill>
          <a:ln cap="flat" cmpd="sng" w="952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9"/>
          <p:cNvSpPr txBox="1"/>
          <p:nvPr/>
        </p:nvSpPr>
        <p:spPr>
          <a:xfrm>
            <a:off x="7744968" y="589788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Gap — flag it</a:t>
            </a:r>
            <a:endParaRPr b="0" i="0" sz="950" u="none" cap="none" strike="noStrike">
              <a:solidFill>
                <a:schemeClr val="dk1"/>
              </a:solidFill>
              <a:latin typeface="Calibri"/>
              <a:ea typeface="Calibri"/>
              <a:cs typeface="Calibri"/>
              <a:sym typeface="Calibri"/>
            </a:endParaRPr>
          </a:p>
        </p:txBody>
      </p:sp>
      <p:sp>
        <p:nvSpPr>
          <p:cNvPr id="438" name="Google Shape;438;p19"/>
          <p:cNvSpPr/>
          <p:nvPr/>
        </p:nvSpPr>
        <p:spPr>
          <a:xfrm>
            <a:off x="9875520" y="5943600"/>
            <a:ext cx="146304" cy="146304"/>
          </a:xfrm>
          <a:prstGeom prst="roundRect">
            <a:avLst>
              <a:gd fmla="val 25000" name="adj"/>
            </a:avLst>
          </a:prstGeom>
          <a:solidFill>
            <a:srgbClr val="EEF1F4"/>
          </a:solidFill>
          <a:ln cap="flat" cmpd="sng" w="9525">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9"/>
          <p:cNvSpPr txBox="1"/>
          <p:nvPr/>
        </p:nvSpPr>
        <p:spPr>
          <a:xfrm>
            <a:off x="10076688" y="589788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Out of scope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20"/>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What the Global Risk matrix says</a:t>
            </a:r>
            <a:endParaRPr b="0" i="0" sz="3000" u="none" cap="none" strike="noStrike">
              <a:solidFill>
                <a:schemeClr val="dk1"/>
              </a:solidFill>
              <a:latin typeface="Calibri"/>
              <a:ea typeface="Calibri"/>
              <a:cs typeface="Calibri"/>
              <a:sym typeface="Calibri"/>
            </a:endParaRPr>
          </a:p>
        </p:txBody>
      </p:sp>
      <p:sp>
        <p:nvSpPr>
          <p:cNvPr id="446" name="Google Shape;446;p20"/>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447" name="Google Shape;447;p20"/>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§04</a:t>
            </a:r>
            <a:endParaRPr b="0" i="0" sz="800" u="none" cap="none" strike="noStrike">
              <a:solidFill>
                <a:schemeClr val="dk1"/>
              </a:solidFill>
              <a:latin typeface="Calibri"/>
              <a:ea typeface="Calibri"/>
              <a:cs typeface="Calibri"/>
              <a:sym typeface="Calibri"/>
            </a:endParaRPr>
          </a:p>
        </p:txBody>
      </p:sp>
      <p:sp>
        <p:nvSpPr>
          <p:cNvPr id="448" name="Google Shape;448;p20"/>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16</a:t>
            </a:r>
            <a:endParaRPr b="0" i="0" sz="800" u="none" cap="none" strike="noStrike">
              <a:solidFill>
                <a:schemeClr val="dk1"/>
              </a:solidFill>
              <a:latin typeface="Calibri"/>
              <a:ea typeface="Calibri"/>
              <a:cs typeface="Calibri"/>
              <a:sym typeface="Calibri"/>
            </a:endParaRPr>
          </a:p>
        </p:txBody>
      </p:sp>
      <p:sp>
        <p:nvSpPr>
          <p:cNvPr id="449" name="Google Shape;449;p20"/>
          <p:cNvSpPr/>
          <p:nvPr/>
        </p:nvSpPr>
        <p:spPr>
          <a:xfrm>
            <a:off x="502920" y="1600200"/>
            <a:ext cx="2084832" cy="1280160"/>
          </a:xfrm>
          <a:prstGeom prst="roundRect">
            <a:avLst>
              <a:gd fmla="val 5000"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0"/>
          <p:cNvSpPr txBox="1"/>
          <p:nvPr/>
        </p:nvSpPr>
        <p:spPr>
          <a:xfrm>
            <a:off x="685800" y="1737360"/>
            <a:ext cx="1737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B52"/>
              </a:buClr>
              <a:buSzPts val="3200"/>
              <a:buFont typeface="Roboto Condensed"/>
              <a:buNone/>
            </a:pPr>
            <a:r>
              <a:rPr b="1" i="0" lang="en-US" sz="3200" u="none" cap="none" strike="noStrike">
                <a:solidFill>
                  <a:srgbClr val="1F6B52"/>
                </a:solidFill>
                <a:latin typeface="Roboto Condensed"/>
                <a:ea typeface="Roboto Condensed"/>
                <a:cs typeface="Roboto Condensed"/>
                <a:sym typeface="Roboto Condensed"/>
              </a:rPr>
              <a:t>4</a:t>
            </a:r>
            <a:endParaRPr b="0" i="0" sz="3200" u="none" cap="none" strike="noStrike">
              <a:solidFill>
                <a:schemeClr val="dk1"/>
              </a:solidFill>
              <a:latin typeface="Calibri"/>
              <a:ea typeface="Calibri"/>
              <a:cs typeface="Calibri"/>
              <a:sym typeface="Calibri"/>
            </a:endParaRPr>
          </a:p>
        </p:txBody>
      </p:sp>
      <p:sp>
        <p:nvSpPr>
          <p:cNvPr id="451" name="Google Shape;451;p20"/>
          <p:cNvSpPr txBox="1"/>
          <p:nvPr/>
        </p:nvSpPr>
        <p:spPr>
          <a:xfrm>
            <a:off x="685800" y="2286000"/>
            <a:ext cx="1783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ALREADY BUILT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only need wrapping</a:t>
            </a:r>
            <a:endParaRPr b="0" i="0" sz="750" u="none" cap="none" strike="noStrike">
              <a:solidFill>
                <a:schemeClr val="dk1"/>
              </a:solidFill>
              <a:latin typeface="Calibri"/>
              <a:ea typeface="Calibri"/>
              <a:cs typeface="Calibri"/>
              <a:sym typeface="Calibri"/>
            </a:endParaRPr>
          </a:p>
        </p:txBody>
      </p:sp>
      <p:sp>
        <p:nvSpPr>
          <p:cNvPr id="452" name="Google Shape;452;p20"/>
          <p:cNvSpPr/>
          <p:nvPr/>
        </p:nvSpPr>
        <p:spPr>
          <a:xfrm>
            <a:off x="2761488" y="1600200"/>
            <a:ext cx="2084832" cy="1280160"/>
          </a:xfrm>
          <a:prstGeom prst="roundRect">
            <a:avLst>
              <a:gd fmla="val 5000"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0"/>
          <p:cNvSpPr txBox="1"/>
          <p:nvPr/>
        </p:nvSpPr>
        <p:spPr>
          <a:xfrm>
            <a:off x="2944368" y="1737360"/>
            <a:ext cx="1737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E88"/>
              </a:buClr>
              <a:buSzPts val="3200"/>
              <a:buFont typeface="Roboto Condensed"/>
              <a:buNone/>
            </a:pPr>
            <a:r>
              <a:rPr b="1" i="0" lang="en-US" sz="3200" u="none" cap="none" strike="noStrike">
                <a:solidFill>
                  <a:srgbClr val="485E88"/>
                </a:solidFill>
                <a:latin typeface="Roboto Condensed"/>
                <a:ea typeface="Roboto Condensed"/>
                <a:cs typeface="Roboto Condensed"/>
                <a:sym typeface="Roboto Condensed"/>
              </a:rPr>
              <a:t>12</a:t>
            </a:r>
            <a:endParaRPr b="0" i="0" sz="3200" u="none" cap="none" strike="noStrike">
              <a:solidFill>
                <a:schemeClr val="dk1"/>
              </a:solidFill>
              <a:latin typeface="Calibri"/>
              <a:ea typeface="Calibri"/>
              <a:cs typeface="Calibri"/>
              <a:sym typeface="Calibri"/>
            </a:endParaRPr>
          </a:p>
        </p:txBody>
      </p:sp>
      <p:sp>
        <p:nvSpPr>
          <p:cNvPr id="454" name="Google Shape;454;p20"/>
          <p:cNvSpPr txBox="1"/>
          <p:nvPr/>
        </p:nvSpPr>
        <p:spPr>
          <a:xfrm>
            <a:off x="2944368" y="2286000"/>
            <a:ext cx="1783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ADOPT A PARTNER</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no new modelling</a:t>
            </a:r>
            <a:endParaRPr b="0" i="0" sz="750" u="none" cap="none" strike="noStrike">
              <a:solidFill>
                <a:schemeClr val="dk1"/>
              </a:solidFill>
              <a:latin typeface="Calibri"/>
              <a:ea typeface="Calibri"/>
              <a:cs typeface="Calibri"/>
              <a:sym typeface="Calibri"/>
            </a:endParaRPr>
          </a:p>
        </p:txBody>
      </p:sp>
      <p:sp>
        <p:nvSpPr>
          <p:cNvPr id="455" name="Google Shape;455;p20"/>
          <p:cNvSpPr/>
          <p:nvPr/>
        </p:nvSpPr>
        <p:spPr>
          <a:xfrm>
            <a:off x="5020056" y="1600200"/>
            <a:ext cx="2084832" cy="1280160"/>
          </a:xfrm>
          <a:prstGeom prst="roundRect">
            <a:avLst>
              <a:gd fmla="val 5000"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0"/>
          <p:cNvSpPr txBox="1"/>
          <p:nvPr/>
        </p:nvSpPr>
        <p:spPr>
          <a:xfrm>
            <a:off x="5202936" y="1737360"/>
            <a:ext cx="1737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5E06"/>
              </a:buClr>
              <a:buSzPts val="3200"/>
              <a:buFont typeface="Roboto Condensed"/>
              <a:buNone/>
            </a:pPr>
            <a:r>
              <a:rPr b="1" i="0" lang="en-US" sz="3200" u="none" cap="none" strike="noStrike">
                <a:solidFill>
                  <a:srgbClr val="8F5E06"/>
                </a:solidFill>
                <a:latin typeface="Roboto Condensed"/>
                <a:ea typeface="Roboto Condensed"/>
                <a:cs typeface="Roboto Condensed"/>
                <a:sym typeface="Roboto Condensed"/>
              </a:rPr>
              <a:t>11</a:t>
            </a:r>
            <a:endParaRPr b="0" i="0" sz="3200" u="none" cap="none" strike="noStrike">
              <a:solidFill>
                <a:schemeClr val="dk1"/>
              </a:solidFill>
              <a:latin typeface="Calibri"/>
              <a:ea typeface="Calibri"/>
              <a:cs typeface="Calibri"/>
              <a:sym typeface="Calibri"/>
            </a:endParaRPr>
          </a:p>
        </p:txBody>
      </p:sp>
      <p:sp>
        <p:nvSpPr>
          <p:cNvPr id="457" name="Google Shape;457;p20"/>
          <p:cNvSpPr txBox="1"/>
          <p:nvPr/>
        </p:nvSpPr>
        <p:spPr>
          <a:xfrm>
            <a:off x="5202936" y="2286000"/>
            <a:ext cx="1783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REAL BUILD WORK</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on open foundations</a:t>
            </a:r>
            <a:endParaRPr b="0" i="0" sz="750" u="none" cap="none" strike="noStrike">
              <a:solidFill>
                <a:schemeClr val="dk1"/>
              </a:solidFill>
              <a:latin typeface="Calibri"/>
              <a:ea typeface="Calibri"/>
              <a:cs typeface="Calibri"/>
              <a:sym typeface="Calibri"/>
            </a:endParaRPr>
          </a:p>
        </p:txBody>
      </p:sp>
      <p:sp>
        <p:nvSpPr>
          <p:cNvPr id="458" name="Google Shape;458;p20"/>
          <p:cNvSpPr/>
          <p:nvPr/>
        </p:nvSpPr>
        <p:spPr>
          <a:xfrm>
            <a:off x="7278624" y="1600200"/>
            <a:ext cx="2084832" cy="1280160"/>
          </a:xfrm>
          <a:prstGeom prst="roundRect">
            <a:avLst>
              <a:gd fmla="val 5000"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0"/>
          <p:cNvSpPr txBox="1"/>
          <p:nvPr/>
        </p:nvSpPr>
        <p:spPr>
          <a:xfrm>
            <a:off x="7461504" y="1737360"/>
            <a:ext cx="1737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2C2C"/>
              </a:buClr>
              <a:buSzPts val="3200"/>
              <a:buFont typeface="Roboto Condensed"/>
              <a:buNone/>
            </a:pPr>
            <a:r>
              <a:rPr b="1" i="0" lang="en-US" sz="3200" u="none" cap="none" strike="noStrike">
                <a:solidFill>
                  <a:srgbClr val="9B2C2C"/>
                </a:solidFill>
                <a:latin typeface="Roboto Condensed"/>
                <a:ea typeface="Roboto Condensed"/>
                <a:cs typeface="Roboto Condensed"/>
                <a:sym typeface="Roboto Condensed"/>
              </a:rPr>
              <a:t>6</a:t>
            </a:r>
            <a:endParaRPr b="0" i="0" sz="3200" u="none" cap="none" strike="noStrike">
              <a:solidFill>
                <a:schemeClr val="dk1"/>
              </a:solidFill>
              <a:latin typeface="Calibri"/>
              <a:ea typeface="Calibri"/>
              <a:cs typeface="Calibri"/>
              <a:sym typeface="Calibri"/>
            </a:endParaRPr>
          </a:p>
        </p:txBody>
      </p:sp>
      <p:sp>
        <p:nvSpPr>
          <p:cNvPr id="460" name="Google Shape;460;p20"/>
          <p:cNvSpPr txBox="1"/>
          <p:nvPr/>
        </p:nvSpPr>
        <p:spPr>
          <a:xfrm>
            <a:off x="7461504" y="2286000"/>
            <a:ext cx="1783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GAPS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ship them labelled</a:t>
            </a:r>
            <a:endParaRPr b="0" i="0" sz="750" u="none" cap="none" strike="noStrike">
              <a:solidFill>
                <a:schemeClr val="dk1"/>
              </a:solidFill>
              <a:latin typeface="Calibri"/>
              <a:ea typeface="Calibri"/>
              <a:cs typeface="Calibri"/>
              <a:sym typeface="Calibri"/>
            </a:endParaRPr>
          </a:p>
        </p:txBody>
      </p:sp>
      <p:sp>
        <p:nvSpPr>
          <p:cNvPr id="461" name="Google Shape;461;p20"/>
          <p:cNvSpPr/>
          <p:nvPr/>
        </p:nvSpPr>
        <p:spPr>
          <a:xfrm>
            <a:off x="9537192" y="1600200"/>
            <a:ext cx="2084832" cy="1280160"/>
          </a:xfrm>
          <a:prstGeom prst="roundRect">
            <a:avLst>
              <a:gd fmla="val 5000"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0"/>
          <p:cNvSpPr txBox="1"/>
          <p:nvPr/>
        </p:nvSpPr>
        <p:spPr>
          <a:xfrm>
            <a:off x="9720072" y="1737360"/>
            <a:ext cx="1737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3200"/>
              <a:buFont typeface="Roboto Condensed"/>
              <a:buNone/>
            </a:pPr>
            <a:r>
              <a:rPr b="1" i="0" lang="en-US" sz="3200" u="none" cap="none" strike="noStrike">
                <a:solidFill>
                  <a:srgbClr val="6D6E71"/>
                </a:solidFill>
                <a:latin typeface="Roboto Condensed"/>
                <a:ea typeface="Roboto Condensed"/>
                <a:cs typeface="Roboto Condensed"/>
                <a:sym typeface="Roboto Condensed"/>
              </a:rPr>
              <a:t>3</a:t>
            </a:r>
            <a:endParaRPr b="0" i="0" sz="3200" u="none" cap="none" strike="noStrike">
              <a:solidFill>
                <a:schemeClr val="dk1"/>
              </a:solidFill>
              <a:latin typeface="Calibri"/>
              <a:ea typeface="Calibri"/>
              <a:cs typeface="Calibri"/>
              <a:sym typeface="Calibri"/>
            </a:endParaRPr>
          </a:p>
        </p:txBody>
      </p:sp>
      <p:sp>
        <p:nvSpPr>
          <p:cNvPr id="463" name="Google Shape;463;p20"/>
          <p:cNvSpPr txBox="1"/>
          <p:nvPr/>
        </p:nvSpPr>
        <p:spPr>
          <a:xfrm>
            <a:off x="9720072" y="2286000"/>
            <a:ext cx="1783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DELIBERATELY EMPTY</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not a gap</a:t>
            </a:r>
            <a:endParaRPr b="0" i="0" sz="750" u="none" cap="none" strike="noStrike">
              <a:solidFill>
                <a:schemeClr val="dk1"/>
              </a:solidFill>
              <a:latin typeface="Calibri"/>
              <a:ea typeface="Calibri"/>
              <a:cs typeface="Calibri"/>
              <a:sym typeface="Calibri"/>
            </a:endParaRPr>
          </a:p>
        </p:txBody>
      </p:sp>
      <p:sp>
        <p:nvSpPr>
          <p:cNvPr id="464" name="Google Shape;464;p20"/>
          <p:cNvSpPr/>
          <p:nvPr/>
        </p:nvSpPr>
        <p:spPr>
          <a:xfrm>
            <a:off x="502920" y="3108960"/>
            <a:ext cx="11155680" cy="1143000"/>
          </a:xfrm>
          <a:prstGeom prst="roundRect">
            <a:avLst>
              <a:gd fmla="val 4800" name="adj"/>
            </a:avLst>
          </a:prstGeom>
          <a:solidFill>
            <a:srgbClr val="F7E8E8"/>
          </a:solidFill>
          <a:ln cap="flat" cmpd="sng" w="12700">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0"/>
          <p:cNvSpPr txBox="1"/>
          <p:nvPr/>
        </p:nvSpPr>
        <p:spPr>
          <a:xfrm>
            <a:off x="713232" y="3200400"/>
            <a:ext cx="1078992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The bottom-left corner is the risk.  </a:t>
            </a:r>
            <a:r>
              <a:rPr b="0" i="0" lang="en-US" sz="1150" u="none" cap="none" strike="noStrike">
                <a:solidFill>
                  <a:srgbClr val="4D5763"/>
                </a:solidFill>
                <a:latin typeface="Calibri"/>
                <a:ea typeface="Calibri"/>
                <a:cs typeface="Calibri"/>
                <a:sym typeface="Calibri"/>
              </a:rPr>
              <a:t>Tornado and wind gust are weak on every clock — and they were added to scope by Decision #1 with that risk explicitly accepted. This matrix is the picture that decision was accepting. The engineering answer is the confidence enum: a CAPE-shear proxy enters the system labelled 'proxy', renders differently, and can never be averaged into a number labelled 'observed'.</a:t>
            </a:r>
            <a:endParaRPr b="0" i="0" sz="1150" u="none" cap="none" strike="noStrike">
              <a:solidFill>
                <a:schemeClr val="dk1"/>
              </a:solidFill>
              <a:latin typeface="Calibri"/>
              <a:ea typeface="Calibri"/>
              <a:cs typeface="Calibri"/>
              <a:sym typeface="Calibri"/>
            </a:endParaRPr>
          </a:p>
        </p:txBody>
      </p:sp>
      <p:sp>
        <p:nvSpPr>
          <p:cNvPr id="466" name="Google Shape;466;p20"/>
          <p:cNvSpPr/>
          <p:nvPr/>
        </p:nvSpPr>
        <p:spPr>
          <a:xfrm>
            <a:off x="502920" y="4434840"/>
            <a:ext cx="11155680" cy="822960"/>
          </a:xfrm>
          <a:prstGeom prst="roundRect">
            <a:avLst>
              <a:gd fmla="val 6667"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0"/>
          <p:cNvSpPr txBox="1"/>
          <p:nvPr/>
        </p:nvSpPr>
        <p:spPr>
          <a:xfrm>
            <a:off x="713232" y="4526280"/>
            <a:ext cx="10789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The heaviest single build is heat and cold.  </a:t>
            </a:r>
            <a:r>
              <a:rPr b="0" i="0" lang="en-US" sz="1150" u="none" cap="none" strike="noStrike">
                <a:solidFill>
                  <a:srgbClr val="4D5763"/>
                </a:solidFill>
                <a:latin typeface="Calibri"/>
                <a:ea typeface="Calibri"/>
                <a:cs typeface="Calibri"/>
                <a:sym typeface="Calibri"/>
              </a:rPr>
              <a:t>Nine of the thirty-six cells depend on one new ERA5 + CMIP6 index that has no reusable SERVIR asset behind it — and humid heat is the highest-signal climate peril of the twelve.</a:t>
            </a:r>
            <a:endParaRPr b="0" i="0" sz="1150" u="none" cap="none" strike="noStrike">
              <a:solidFill>
                <a:schemeClr val="dk1"/>
              </a:solidFill>
              <a:latin typeface="Calibri"/>
              <a:ea typeface="Calibri"/>
              <a:cs typeface="Calibri"/>
              <a:sym typeface="Calibri"/>
            </a:endParaRPr>
          </a:p>
        </p:txBody>
      </p:sp>
      <p:sp>
        <p:nvSpPr>
          <p:cNvPr id="468" name="Google Shape;468;p20"/>
          <p:cNvSpPr/>
          <p:nvPr/>
        </p:nvSpPr>
        <p:spPr>
          <a:xfrm>
            <a:off x="502920" y="5394960"/>
            <a:ext cx="11155680" cy="868680"/>
          </a:xfrm>
          <a:prstGeom prst="roundRect">
            <a:avLst>
              <a:gd fmla="val 6316"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0"/>
          <p:cNvSpPr txBox="1"/>
          <p:nvPr/>
        </p:nvSpPr>
        <p:spPr>
          <a:xfrm>
            <a:off x="713232" y="5486400"/>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Landscape differentiation:  </a:t>
            </a:r>
            <a:r>
              <a:rPr b="0" i="0" lang="en-US" sz="1150" u="none" cap="none" strike="noStrike">
                <a:solidFill>
                  <a:srgbClr val="4D5763"/>
                </a:solidFill>
                <a:latin typeface="Calibri"/>
                <a:ea typeface="Calibri"/>
                <a:cs typeface="Calibri"/>
                <a:sym typeface="Calibri"/>
              </a:rPr>
              <a:t>no existing platform combines near-real-time multi-hazard monitoring with annualized, climate-adjusted risk across 12 perils. GDACS alerts without a baseline; ThinkHazard and INFORM are static; Copernicus EMS is activation-based. Today an analyst stitches these by hand.</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21"/>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The companion exposure layer</a:t>
            </a:r>
            <a:endParaRPr b="0" i="0" sz="3000" u="none" cap="none" strike="noStrike">
              <a:solidFill>
                <a:schemeClr val="dk1"/>
              </a:solidFill>
              <a:latin typeface="Calibri"/>
              <a:ea typeface="Calibri"/>
              <a:cs typeface="Calibri"/>
              <a:sym typeface="Calibri"/>
            </a:endParaRPr>
          </a:p>
        </p:txBody>
      </p:sp>
      <p:sp>
        <p:nvSpPr>
          <p:cNvPr id="476" name="Google Shape;476;p21"/>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The matrix answers what hazard, on what clock. Exposure is not a per-peril question — it is joined against all thirty-six cells.</a:t>
            </a:r>
            <a:endParaRPr b="0" i="0" sz="1350" u="none" cap="none" strike="noStrike">
              <a:solidFill>
                <a:schemeClr val="dk1"/>
              </a:solidFill>
              <a:latin typeface="Calibri"/>
              <a:ea typeface="Calibri"/>
              <a:cs typeface="Calibri"/>
              <a:sym typeface="Calibri"/>
            </a:endParaRPr>
          </a:p>
        </p:txBody>
      </p:sp>
      <p:sp>
        <p:nvSpPr>
          <p:cNvPr id="477" name="Google Shape;477;p21"/>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478" name="Google Shape;478;p21"/>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§04</a:t>
            </a:r>
            <a:endParaRPr b="0" i="0" sz="800" u="none" cap="none" strike="noStrike">
              <a:solidFill>
                <a:schemeClr val="dk1"/>
              </a:solidFill>
              <a:latin typeface="Calibri"/>
              <a:ea typeface="Calibri"/>
              <a:cs typeface="Calibri"/>
              <a:sym typeface="Calibri"/>
            </a:endParaRPr>
          </a:p>
        </p:txBody>
      </p:sp>
      <p:sp>
        <p:nvSpPr>
          <p:cNvPr id="479" name="Google Shape;479;p21"/>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17</a:t>
            </a:r>
            <a:endParaRPr b="0" i="0" sz="800" u="none" cap="none" strike="noStrike">
              <a:solidFill>
                <a:schemeClr val="dk1"/>
              </a:solidFill>
              <a:latin typeface="Calibri"/>
              <a:ea typeface="Calibri"/>
              <a:cs typeface="Calibri"/>
              <a:sym typeface="Calibri"/>
            </a:endParaRPr>
          </a:p>
        </p:txBody>
      </p:sp>
      <p:graphicFrame>
        <p:nvGraphicFramePr>
          <p:cNvPr id="480" name="Google Shape;480;p21"/>
          <p:cNvGraphicFramePr/>
          <p:nvPr/>
        </p:nvGraphicFramePr>
        <p:xfrm>
          <a:off x="502920" y="1627632"/>
          <a:ext cx="3000000" cy="3000000"/>
        </p:xfrm>
        <a:graphic>
          <a:graphicData uri="http://schemas.openxmlformats.org/drawingml/2006/table">
            <a:tbl>
              <a:tblPr>
                <a:noFill/>
                <a:tableStyleId>{0B7ADE64-2C2D-4D68-BEA2-7A829558A485}</a:tableStyleId>
              </a:tblPr>
              <a:tblGrid>
                <a:gridCol w="960125"/>
                <a:gridCol w="2057400"/>
                <a:gridCol w="3749050"/>
                <a:gridCol w="1463050"/>
                <a:gridCol w="2926075"/>
              </a:tblGrid>
              <a:tr h="420625">
                <a:tc>
                  <a:txBody>
                    <a:bodyPr/>
                    <a:lstStyle/>
                    <a:p>
                      <a:pPr indent="0" lvl="0" marL="0" marR="0" rtl="0" algn="l">
                        <a:spcBef>
                          <a:spcPts val="0"/>
                        </a:spcBef>
                        <a:spcAft>
                          <a:spcPts val="0"/>
                        </a:spcAft>
                        <a:buClr>
                          <a:srgbClr val="FFFFFF"/>
                        </a:buClr>
                        <a:buSzPts val="950"/>
                        <a:buFont typeface="Consolas"/>
                        <a:buNone/>
                      </a:pPr>
                      <a:r>
                        <a:rPr b="1" lang="en-US" sz="950" u="none" cap="none" strike="noStrike">
                          <a:solidFill>
                            <a:srgbClr val="FFFFFF"/>
                          </a:solidFill>
                          <a:latin typeface="Consolas"/>
                          <a:ea typeface="Consolas"/>
                          <a:cs typeface="Consolas"/>
                          <a:sym typeface="Consolas"/>
                        </a:rPr>
                        <a:t>Stack</a:t>
                      </a:r>
                      <a:endParaRPr sz="9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950"/>
                        <a:buFont typeface="Consolas"/>
                        <a:buNone/>
                      </a:pPr>
                      <a:r>
                        <a:rPr b="1" lang="en-US" sz="950" u="none" cap="none" strike="noStrike">
                          <a:solidFill>
                            <a:srgbClr val="FFFFFF"/>
                          </a:solidFill>
                          <a:latin typeface="Consolas"/>
                          <a:ea typeface="Consolas"/>
                          <a:cs typeface="Consolas"/>
                          <a:sym typeface="Consolas"/>
                        </a:rPr>
                        <a:t>Layer</a:t>
                      </a:r>
                      <a:endParaRPr sz="9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950"/>
                        <a:buFont typeface="Consolas"/>
                        <a:buNone/>
                      </a:pPr>
                      <a:r>
                        <a:rPr b="1" lang="en-US" sz="950" u="none" cap="none" strike="noStrike">
                          <a:solidFill>
                            <a:srgbClr val="FFFFFF"/>
                          </a:solidFill>
                          <a:latin typeface="Consolas"/>
                          <a:ea typeface="Consolas"/>
                          <a:cs typeface="Consolas"/>
                          <a:sym typeface="Consolas"/>
                        </a:rPr>
                        <a:t>Source &amp; licence</a:t>
                      </a:r>
                      <a:endParaRPr sz="9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950"/>
                        <a:buFont typeface="Consolas"/>
                        <a:buNone/>
                      </a:pPr>
                      <a:r>
                        <a:rPr b="1" lang="en-US" sz="950" u="none" cap="none" strike="noStrike">
                          <a:solidFill>
                            <a:srgbClr val="FFFFFF"/>
                          </a:solidFill>
                          <a:latin typeface="Consolas"/>
                          <a:ea typeface="Consolas"/>
                          <a:cs typeface="Consolas"/>
                          <a:sym typeface="Consolas"/>
                        </a:rPr>
                        <a:t>Currency</a:t>
                      </a:r>
                      <a:endParaRPr sz="9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950"/>
                        <a:buFont typeface="Consolas"/>
                        <a:buNone/>
                      </a:pPr>
                      <a:r>
                        <a:rPr b="1" lang="en-US" sz="950" u="none" cap="none" strike="noStrike">
                          <a:solidFill>
                            <a:srgbClr val="FFFFFF"/>
                          </a:solidFill>
                          <a:latin typeface="Consolas"/>
                          <a:ea typeface="Consolas"/>
                          <a:cs typeface="Consolas"/>
                          <a:sym typeface="Consolas"/>
                        </a:rPr>
                        <a:t>Open question</a:t>
                      </a:r>
                      <a:endParaRPr sz="9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r>
              <a:tr h="420625">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People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Population count &amp; density</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WorldPop — CC BY 4.0</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100 m, annual</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Refresh cadence not agreed (Decision #17)</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chemeClr val="dk1"/>
                        </a:buClr>
                        <a:buSzPts val="950"/>
                        <a:buFont typeface="Calibri"/>
                        <a:buNone/>
                      </a:pPr>
                      <a:r>
                        <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Social vulnerability</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WorldPop age/sex + Meta Relative Wealth Index</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100 m – 2.4 km</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Which index is authoritative — unresolved</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420625">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Nature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Protected areas &amp; species range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WDPA / IUCN via IBAT (paid) or open GBIF + Planetary Computer</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Vector, quarterly</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Genuine licence-vs-build decision</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chemeClr val="dk1"/>
                        </a:buClr>
                        <a:buSzPts val="950"/>
                        <a:buFont typeface="Calibri"/>
                        <a:buNone/>
                      </a:pPr>
                      <a:r>
                        <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Ecosystem extent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RLCMS + ESA CCI — shared straight from §06</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10–30 m, annual</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None — NRM owns this pipeline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420625">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Assets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Building footprints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Google Open Buildings + Microsoft GlobalML</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Footprint-level</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Dedup where both cover an area</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chemeClr val="dk1"/>
                        </a:buClr>
                        <a:buSzPts val="950"/>
                        <a:buFont typeface="Calibri"/>
                        <a:buNone/>
                      </a:pPr>
                      <a:r>
                        <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Economic value proxy</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LitPop — nightlights × population, CLIMADA-native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~1 km, periodic</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None — comes free with Clock 2</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420625">
                <a:tc>
                  <a:txBody>
                    <a:bodyPr/>
                    <a:lstStyle/>
                    <a:p>
                      <a:pPr indent="0" lvl="0" marL="0" marR="0" rtl="0" algn="l">
                        <a:spcBef>
                          <a:spcPts val="0"/>
                        </a:spcBef>
                        <a:spcAft>
                          <a:spcPts val="0"/>
                        </a:spcAft>
                        <a:buClr>
                          <a:schemeClr val="dk1"/>
                        </a:buClr>
                        <a:buSzPts val="950"/>
                        <a:buFont typeface="Calibri"/>
                        <a:buNone/>
                      </a:pPr>
                      <a:r>
                        <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Critical infrastructure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OpenStreetMap — roads, health, schools, power</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Vector, continuous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Completeness varies; needs a coverage flag</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bl>
          </a:graphicData>
        </a:graphic>
      </p:graphicFrame>
      <p:sp>
        <p:nvSpPr>
          <p:cNvPr id="481" name="Google Shape;481;p21"/>
          <p:cNvSpPr/>
          <p:nvPr/>
        </p:nvSpPr>
        <p:spPr>
          <a:xfrm>
            <a:off x="502920" y="4937760"/>
            <a:ext cx="11155680" cy="1005840"/>
          </a:xfrm>
          <a:prstGeom prst="roundRect">
            <a:avLst>
              <a:gd fmla="val 5455"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1"/>
          <p:cNvSpPr txBox="1"/>
          <p:nvPr/>
        </p:nvSpPr>
        <p:spPr>
          <a:xfrm>
            <a:off x="713232" y="5029200"/>
            <a:ext cx="10789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The exposure layer is the reuse point, not the hazard layer.  </a:t>
            </a:r>
            <a:r>
              <a:rPr b="0" i="0" lang="en-US" sz="1150" u="none" cap="none" strike="noStrike">
                <a:solidFill>
                  <a:srgbClr val="4D5763"/>
                </a:solidFill>
                <a:latin typeface="Calibri"/>
                <a:ea typeface="Calibri"/>
                <a:cs typeface="Calibri"/>
                <a:sym typeface="Calibri"/>
              </a:rPr>
              <a:t>SERVIR-AI/global-platform already overlays OpenStreetMap exposure against hazard rasters under the guarantee that 'every number is computed from real data, never generated by the model.' That element is already running for one region — the build is generalising it, not inventing it.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22"/>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The six seams that make thirty-six elements interoperate</a:t>
            </a:r>
            <a:endParaRPr b="0" i="0" sz="3000" u="none" cap="none" strike="noStrike">
              <a:solidFill>
                <a:schemeClr val="dk1"/>
              </a:solidFill>
              <a:latin typeface="Calibri"/>
              <a:ea typeface="Calibri"/>
              <a:cs typeface="Calibri"/>
              <a:sym typeface="Calibri"/>
            </a:endParaRPr>
          </a:p>
        </p:txBody>
      </p:sp>
      <p:sp>
        <p:nvSpPr>
          <p:cNvPr id="489" name="Google Shape;489;p22"/>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Everything else is a peril specialist's business.</a:t>
            </a:r>
            <a:endParaRPr b="0" i="0" sz="1350" u="none" cap="none" strike="noStrike">
              <a:solidFill>
                <a:schemeClr val="dk1"/>
              </a:solidFill>
              <a:latin typeface="Calibri"/>
              <a:ea typeface="Calibri"/>
              <a:cs typeface="Calibri"/>
              <a:sym typeface="Calibri"/>
            </a:endParaRPr>
          </a:p>
        </p:txBody>
      </p:sp>
      <p:sp>
        <p:nvSpPr>
          <p:cNvPr id="490" name="Google Shape;490;p22"/>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491" name="Google Shape;491;p22"/>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§04</a:t>
            </a:r>
            <a:endParaRPr b="0" i="0" sz="800" u="none" cap="none" strike="noStrike">
              <a:solidFill>
                <a:schemeClr val="dk1"/>
              </a:solidFill>
              <a:latin typeface="Calibri"/>
              <a:ea typeface="Calibri"/>
              <a:cs typeface="Calibri"/>
              <a:sym typeface="Calibri"/>
            </a:endParaRPr>
          </a:p>
        </p:txBody>
      </p:sp>
      <p:sp>
        <p:nvSpPr>
          <p:cNvPr id="492" name="Google Shape;492;p22"/>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18</a:t>
            </a:r>
            <a:endParaRPr b="0" i="0" sz="800" u="none" cap="none" strike="noStrike">
              <a:solidFill>
                <a:schemeClr val="dk1"/>
              </a:solidFill>
              <a:latin typeface="Calibri"/>
              <a:ea typeface="Calibri"/>
              <a:cs typeface="Calibri"/>
              <a:sym typeface="Calibri"/>
            </a:endParaRPr>
          </a:p>
        </p:txBody>
      </p:sp>
      <p:sp>
        <p:nvSpPr>
          <p:cNvPr id="493" name="Google Shape;493;p22"/>
          <p:cNvSpPr/>
          <p:nvPr/>
        </p:nvSpPr>
        <p:spPr>
          <a:xfrm>
            <a:off x="594360" y="1609344"/>
            <a:ext cx="310896" cy="310896"/>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2"/>
          <p:cNvSpPr txBox="1"/>
          <p:nvPr/>
        </p:nvSpPr>
        <p:spPr>
          <a:xfrm>
            <a:off x="594360" y="160934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100"/>
              <a:buFont typeface="Consolas"/>
              <a:buNone/>
            </a:pPr>
            <a:r>
              <a:rPr b="1" i="0" lang="en-US" sz="1100" u="none" cap="none" strike="noStrike">
                <a:solidFill>
                  <a:srgbClr val="1A6389"/>
                </a:solidFill>
                <a:latin typeface="Consolas"/>
                <a:ea typeface="Consolas"/>
                <a:cs typeface="Consolas"/>
                <a:sym typeface="Consolas"/>
              </a:rPr>
              <a:t>E1</a:t>
            </a:r>
            <a:endParaRPr b="0" i="0" sz="1100" u="none" cap="none" strike="noStrike">
              <a:solidFill>
                <a:schemeClr val="dk1"/>
              </a:solidFill>
              <a:latin typeface="Calibri"/>
              <a:ea typeface="Calibri"/>
              <a:cs typeface="Calibri"/>
              <a:sym typeface="Calibri"/>
            </a:endParaRPr>
          </a:p>
        </p:txBody>
      </p:sp>
      <p:sp>
        <p:nvSpPr>
          <p:cNvPr id="495" name="Google Shape;495;p22"/>
          <p:cNvSpPr txBox="1"/>
          <p:nvPr/>
        </p:nvSpPr>
        <p:spPr>
          <a:xfrm>
            <a:off x="1069848" y="1572768"/>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The HazardFootprint contract</a:t>
            </a:r>
            <a:endParaRPr b="0" i="0" sz="1400" u="none" cap="none" strike="noStrike">
              <a:solidFill>
                <a:schemeClr val="dk1"/>
              </a:solidFill>
              <a:latin typeface="Calibri"/>
              <a:ea typeface="Calibri"/>
              <a:cs typeface="Calibri"/>
              <a:sym typeface="Calibri"/>
            </a:endParaRPr>
          </a:p>
        </p:txBody>
      </p:sp>
      <p:sp>
        <p:nvSpPr>
          <p:cNvPr id="496" name="Google Shape;496;p22"/>
          <p:cNvSpPr txBox="1"/>
          <p:nvPr/>
        </p:nvSpPr>
        <p:spPr>
          <a:xfrm>
            <a:off x="1069848" y="1828800"/>
            <a:ext cx="1033272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Every cell emits the same object: peril, clock, geometry, intensity + unit, time, provenance, confidence. The single most load-bearing decision — it is what lets the join, the engine and the agents be written once instead of twelve times.</a:t>
            </a:r>
            <a:endParaRPr b="0" i="0" sz="1150" u="none" cap="none" strike="noStrike">
              <a:solidFill>
                <a:schemeClr val="dk1"/>
              </a:solidFill>
              <a:latin typeface="Calibri"/>
              <a:ea typeface="Calibri"/>
              <a:cs typeface="Calibri"/>
              <a:sym typeface="Calibri"/>
            </a:endParaRPr>
          </a:p>
        </p:txBody>
      </p:sp>
      <p:sp>
        <p:nvSpPr>
          <p:cNvPr id="497" name="Google Shape;497;p22"/>
          <p:cNvSpPr/>
          <p:nvPr/>
        </p:nvSpPr>
        <p:spPr>
          <a:xfrm>
            <a:off x="594360" y="2395728"/>
            <a:ext cx="310896" cy="310896"/>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2"/>
          <p:cNvSpPr txBox="1"/>
          <p:nvPr/>
        </p:nvSpPr>
        <p:spPr>
          <a:xfrm>
            <a:off x="594360" y="2395728"/>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100"/>
              <a:buFont typeface="Consolas"/>
              <a:buNone/>
            </a:pPr>
            <a:r>
              <a:rPr b="1" i="0" lang="en-US" sz="1100" u="none" cap="none" strike="noStrike">
                <a:solidFill>
                  <a:srgbClr val="1A6389"/>
                </a:solidFill>
                <a:latin typeface="Consolas"/>
                <a:ea typeface="Consolas"/>
                <a:cs typeface="Consolas"/>
                <a:sym typeface="Consolas"/>
              </a:rPr>
              <a:t>E2</a:t>
            </a:r>
            <a:endParaRPr b="0" i="0" sz="1100" u="none" cap="none" strike="noStrike">
              <a:solidFill>
                <a:schemeClr val="dk1"/>
              </a:solidFill>
              <a:latin typeface="Calibri"/>
              <a:ea typeface="Calibri"/>
              <a:cs typeface="Calibri"/>
              <a:sym typeface="Calibri"/>
            </a:endParaRPr>
          </a:p>
        </p:txBody>
      </p:sp>
      <p:sp>
        <p:nvSpPr>
          <p:cNvPr id="499" name="Google Shape;499;p22"/>
          <p:cNvSpPr txBox="1"/>
          <p:nvPr/>
        </p:nvSpPr>
        <p:spPr>
          <a:xfrm>
            <a:off x="1069848" y="2359152"/>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Two-clock risk engine, one data model</a:t>
            </a:r>
            <a:endParaRPr b="0" i="0" sz="1400" u="none" cap="none" strike="noStrike">
              <a:solidFill>
                <a:schemeClr val="dk1"/>
              </a:solidFill>
              <a:latin typeface="Calibri"/>
              <a:ea typeface="Calibri"/>
              <a:cs typeface="Calibri"/>
              <a:sym typeface="Calibri"/>
            </a:endParaRPr>
          </a:p>
        </p:txBody>
      </p:sp>
      <p:sp>
        <p:nvSpPr>
          <p:cNvPr id="500" name="Google Shape;500;p22"/>
          <p:cNvSpPr txBox="1"/>
          <p:nvPr/>
        </p:nvSpPr>
        <p:spPr>
          <a:xfrm>
            <a:off x="1069848" y="2615184"/>
            <a:ext cx="1033272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impact = f(HazardFootprint, ExposureBundle, VulnerabilityCurve). Clock 1 = one footprint now; Clock 2 = event set + frequencies; Clock 3 = Clock 2 under CMIP6 forcing with a scenario tag.</a:t>
            </a:r>
            <a:endParaRPr b="0" i="0" sz="1150" u="none" cap="none" strike="noStrike">
              <a:solidFill>
                <a:schemeClr val="dk1"/>
              </a:solidFill>
              <a:latin typeface="Calibri"/>
              <a:ea typeface="Calibri"/>
              <a:cs typeface="Calibri"/>
              <a:sym typeface="Calibri"/>
            </a:endParaRPr>
          </a:p>
        </p:txBody>
      </p:sp>
      <p:sp>
        <p:nvSpPr>
          <p:cNvPr id="501" name="Google Shape;501;p22"/>
          <p:cNvSpPr/>
          <p:nvPr/>
        </p:nvSpPr>
        <p:spPr>
          <a:xfrm>
            <a:off x="594360" y="3182112"/>
            <a:ext cx="310896" cy="310896"/>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2"/>
          <p:cNvSpPr txBox="1"/>
          <p:nvPr/>
        </p:nvSpPr>
        <p:spPr>
          <a:xfrm>
            <a:off x="594360" y="318211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100"/>
              <a:buFont typeface="Consolas"/>
              <a:buNone/>
            </a:pPr>
            <a:r>
              <a:rPr b="1" i="0" lang="en-US" sz="1100" u="none" cap="none" strike="noStrike">
                <a:solidFill>
                  <a:srgbClr val="1A6389"/>
                </a:solidFill>
                <a:latin typeface="Consolas"/>
                <a:ea typeface="Consolas"/>
                <a:cs typeface="Consolas"/>
                <a:sym typeface="Consolas"/>
              </a:rPr>
              <a:t>E3</a:t>
            </a:r>
            <a:endParaRPr b="0" i="0" sz="1100" u="none" cap="none" strike="noStrike">
              <a:solidFill>
                <a:schemeClr val="dk1"/>
              </a:solidFill>
              <a:latin typeface="Calibri"/>
              <a:ea typeface="Calibri"/>
              <a:cs typeface="Calibri"/>
              <a:sym typeface="Calibri"/>
            </a:endParaRPr>
          </a:p>
        </p:txBody>
      </p:sp>
      <p:sp>
        <p:nvSpPr>
          <p:cNvPr id="503" name="Google Shape;503;p22"/>
          <p:cNvSpPr txBox="1"/>
          <p:nvPr/>
        </p:nvSpPr>
        <p:spPr>
          <a:xfrm>
            <a:off x="1069848" y="3145536"/>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The exposure join service</a:t>
            </a:r>
            <a:endParaRPr b="0" i="0" sz="1400" u="none" cap="none" strike="noStrike">
              <a:solidFill>
                <a:schemeClr val="dk1"/>
              </a:solidFill>
              <a:latin typeface="Calibri"/>
              <a:ea typeface="Calibri"/>
              <a:cs typeface="Calibri"/>
              <a:sym typeface="Calibri"/>
            </a:endParaRPr>
          </a:p>
        </p:txBody>
      </p:sp>
      <p:sp>
        <p:nvSpPr>
          <p:cNvPr id="504" name="Google Shape;504;p22"/>
          <p:cNvSpPr txBox="1"/>
          <p:nvPr/>
        </p:nvSpPr>
        <p:spPr>
          <a:xfrm>
            <a:off x="1069848" y="3401568"/>
            <a:ext cx="1033272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A service, not a table. Returns the intersection with provenance and currency attached — so an agent says '1.2 M people, WorldPop 2024, 100 m' rather than an unsourced number. Shared with §05 and §06.</a:t>
            </a:r>
            <a:endParaRPr b="0" i="0" sz="1150" u="none" cap="none" strike="noStrike">
              <a:solidFill>
                <a:schemeClr val="dk1"/>
              </a:solidFill>
              <a:latin typeface="Calibri"/>
              <a:ea typeface="Calibri"/>
              <a:cs typeface="Calibri"/>
              <a:sym typeface="Calibri"/>
            </a:endParaRPr>
          </a:p>
        </p:txBody>
      </p:sp>
      <p:sp>
        <p:nvSpPr>
          <p:cNvPr id="505" name="Google Shape;505;p22"/>
          <p:cNvSpPr/>
          <p:nvPr/>
        </p:nvSpPr>
        <p:spPr>
          <a:xfrm>
            <a:off x="594360" y="3968496"/>
            <a:ext cx="310896" cy="310896"/>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2"/>
          <p:cNvSpPr txBox="1"/>
          <p:nvPr/>
        </p:nvSpPr>
        <p:spPr>
          <a:xfrm>
            <a:off x="594360" y="396849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100"/>
              <a:buFont typeface="Consolas"/>
              <a:buNone/>
            </a:pPr>
            <a:r>
              <a:rPr b="1" i="0" lang="en-US" sz="1100" u="none" cap="none" strike="noStrike">
                <a:solidFill>
                  <a:srgbClr val="1A6389"/>
                </a:solidFill>
                <a:latin typeface="Consolas"/>
                <a:ea typeface="Consolas"/>
                <a:cs typeface="Consolas"/>
                <a:sym typeface="Consolas"/>
              </a:rPr>
              <a:t>E4</a:t>
            </a:r>
            <a:endParaRPr b="0" i="0" sz="1100" u="none" cap="none" strike="noStrike">
              <a:solidFill>
                <a:schemeClr val="dk1"/>
              </a:solidFill>
              <a:latin typeface="Calibri"/>
              <a:ea typeface="Calibri"/>
              <a:cs typeface="Calibri"/>
              <a:sym typeface="Calibri"/>
            </a:endParaRPr>
          </a:p>
        </p:txBody>
      </p:sp>
      <p:sp>
        <p:nvSpPr>
          <p:cNvPr id="507" name="Google Shape;507;p22"/>
          <p:cNvSpPr txBox="1"/>
          <p:nvPr/>
        </p:nvSpPr>
        <p:spPr>
          <a:xfrm>
            <a:off x="1069848" y="3931920"/>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The peril-agent contract</a:t>
            </a:r>
            <a:endParaRPr b="0" i="0" sz="1400" u="none" cap="none" strike="noStrike">
              <a:solidFill>
                <a:schemeClr val="dk1"/>
              </a:solidFill>
              <a:latin typeface="Calibri"/>
              <a:ea typeface="Calibri"/>
              <a:cs typeface="Calibri"/>
              <a:sym typeface="Calibri"/>
            </a:endParaRPr>
          </a:p>
        </p:txBody>
      </p:sp>
      <p:sp>
        <p:nvSpPr>
          <p:cNvPr id="508" name="Google Shape;508;p22"/>
          <p:cNvSpPr txBox="1"/>
          <p:nvPr/>
        </p:nvSpPr>
        <p:spPr>
          <a:xfrm>
            <a:off x="1069848" y="4187952"/>
            <a:ext cx="1033272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Tools, resources, an agent card (peril, clocks served, data currency, limitations) and a groundedness gate. The Flood Agent reconciles forecast against observed extent and flags divergence — that logic is the domain expertise.</a:t>
            </a:r>
            <a:endParaRPr b="0" i="0" sz="1150" u="none" cap="none" strike="noStrike">
              <a:solidFill>
                <a:schemeClr val="dk1"/>
              </a:solidFill>
              <a:latin typeface="Calibri"/>
              <a:ea typeface="Calibri"/>
              <a:cs typeface="Calibri"/>
              <a:sym typeface="Calibri"/>
            </a:endParaRPr>
          </a:p>
        </p:txBody>
      </p:sp>
      <p:sp>
        <p:nvSpPr>
          <p:cNvPr id="509" name="Google Shape;509;p22"/>
          <p:cNvSpPr/>
          <p:nvPr/>
        </p:nvSpPr>
        <p:spPr>
          <a:xfrm>
            <a:off x="594360" y="4754880"/>
            <a:ext cx="310896" cy="310896"/>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2"/>
          <p:cNvSpPr txBox="1"/>
          <p:nvPr/>
        </p:nvSpPr>
        <p:spPr>
          <a:xfrm>
            <a:off x="594360" y="4754880"/>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100"/>
              <a:buFont typeface="Consolas"/>
              <a:buNone/>
            </a:pPr>
            <a:r>
              <a:rPr b="1" i="0" lang="en-US" sz="1100" u="none" cap="none" strike="noStrike">
                <a:solidFill>
                  <a:srgbClr val="1A6389"/>
                </a:solidFill>
                <a:latin typeface="Consolas"/>
                <a:ea typeface="Consolas"/>
                <a:cs typeface="Consolas"/>
                <a:sym typeface="Consolas"/>
              </a:rPr>
              <a:t>E5</a:t>
            </a:r>
            <a:endParaRPr b="0" i="0" sz="1100" u="none" cap="none" strike="noStrike">
              <a:solidFill>
                <a:schemeClr val="dk1"/>
              </a:solidFill>
              <a:latin typeface="Calibri"/>
              <a:ea typeface="Calibri"/>
              <a:cs typeface="Calibri"/>
              <a:sym typeface="Calibri"/>
            </a:endParaRPr>
          </a:p>
        </p:txBody>
      </p:sp>
      <p:sp>
        <p:nvSpPr>
          <p:cNvPr id="511" name="Google Shape;511;p22"/>
          <p:cNvSpPr txBox="1"/>
          <p:nvPr/>
        </p:nvSpPr>
        <p:spPr>
          <a:xfrm>
            <a:off x="1069848" y="4718304"/>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Confidence and provenance envelope</a:t>
            </a:r>
            <a:endParaRPr b="0" i="0" sz="1400" u="none" cap="none" strike="noStrike">
              <a:solidFill>
                <a:schemeClr val="dk1"/>
              </a:solidFill>
              <a:latin typeface="Calibri"/>
              <a:ea typeface="Calibri"/>
              <a:cs typeface="Calibri"/>
              <a:sym typeface="Calibri"/>
            </a:endParaRPr>
          </a:p>
        </p:txBody>
      </p:sp>
      <p:sp>
        <p:nvSpPr>
          <p:cNvPr id="512" name="Google Shape;512;p22"/>
          <p:cNvSpPr txBox="1"/>
          <p:nvPr/>
        </p:nvSpPr>
        <p:spPr>
          <a:xfrm>
            <a:off x="1069848" y="4974336"/>
            <a:ext cx="1033272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Six of thirty-six cells are gaps. Credibility depends on those six being visibly different all the way to the UI and API — generalising global-platform's replayable receipt, not reinventing it.</a:t>
            </a:r>
            <a:endParaRPr b="0" i="0" sz="1150" u="none" cap="none" strike="noStrike">
              <a:solidFill>
                <a:schemeClr val="dk1"/>
              </a:solidFill>
              <a:latin typeface="Calibri"/>
              <a:ea typeface="Calibri"/>
              <a:cs typeface="Calibri"/>
              <a:sym typeface="Calibri"/>
            </a:endParaRPr>
          </a:p>
        </p:txBody>
      </p:sp>
      <p:sp>
        <p:nvSpPr>
          <p:cNvPr id="513" name="Google Shape;513;p22"/>
          <p:cNvSpPr/>
          <p:nvPr/>
        </p:nvSpPr>
        <p:spPr>
          <a:xfrm>
            <a:off x="594360" y="5541264"/>
            <a:ext cx="310896" cy="310896"/>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2"/>
          <p:cNvSpPr txBox="1"/>
          <p:nvPr/>
        </p:nvSpPr>
        <p:spPr>
          <a:xfrm>
            <a:off x="594360" y="554126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100"/>
              <a:buFont typeface="Consolas"/>
              <a:buNone/>
            </a:pPr>
            <a:r>
              <a:rPr b="1" i="0" lang="en-US" sz="1100" u="none" cap="none" strike="noStrike">
                <a:solidFill>
                  <a:srgbClr val="1A6389"/>
                </a:solidFill>
                <a:latin typeface="Consolas"/>
                <a:ea typeface="Consolas"/>
                <a:cs typeface="Consolas"/>
                <a:sym typeface="Consolas"/>
              </a:rPr>
              <a:t>E6</a:t>
            </a:r>
            <a:endParaRPr b="0" i="0" sz="1100" u="none" cap="none" strike="noStrike">
              <a:solidFill>
                <a:schemeClr val="dk1"/>
              </a:solidFill>
              <a:latin typeface="Calibri"/>
              <a:ea typeface="Calibri"/>
              <a:cs typeface="Calibri"/>
              <a:sym typeface="Calibri"/>
            </a:endParaRPr>
          </a:p>
        </p:txBody>
      </p:sp>
      <p:sp>
        <p:nvSpPr>
          <p:cNvPr id="515" name="Google Shape;515;p22"/>
          <p:cNvSpPr txBox="1"/>
          <p:nvPr/>
        </p:nvSpPr>
        <p:spPr>
          <a:xfrm>
            <a:off x="1069848" y="5504688"/>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The access layer</a:t>
            </a:r>
            <a:endParaRPr b="0" i="0" sz="1400" u="none" cap="none" strike="noStrike">
              <a:solidFill>
                <a:schemeClr val="dk1"/>
              </a:solidFill>
              <a:latin typeface="Calibri"/>
              <a:ea typeface="Calibri"/>
              <a:cs typeface="Calibri"/>
              <a:sym typeface="Calibri"/>
            </a:endParaRPr>
          </a:p>
        </p:txBody>
      </p:sp>
      <p:sp>
        <p:nvSpPr>
          <p:cNvPr id="516" name="Google Shape;516;p22"/>
          <p:cNvSpPr txBox="1"/>
          <p:nvPr/>
        </p:nvSpPr>
        <p:spPr>
          <a:xfrm>
            <a:off x="1069848" y="5760720"/>
            <a:ext cx="1033272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MCP for agents; curated APIs for dashboards and national systems. CAP is the format that carries an alert into a national warning channel — the difference between a risk platform and a warning system.</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23"/>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Global Risk domain agents</a:t>
            </a:r>
            <a:endParaRPr b="0" i="0" sz="3000" u="none" cap="none" strike="noStrike">
              <a:solidFill>
                <a:schemeClr val="dk1"/>
              </a:solidFill>
              <a:latin typeface="Calibri"/>
              <a:ea typeface="Calibri"/>
              <a:cs typeface="Calibri"/>
              <a:sym typeface="Calibri"/>
            </a:endParaRPr>
          </a:p>
        </p:txBody>
      </p:sp>
      <p:sp>
        <p:nvSpPr>
          <p:cNvPr id="523" name="Google Shape;523;p23"/>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Five agents. Each MCP-wrapped, each registered with the gateway, each callable by the other platforms.</a:t>
            </a:r>
            <a:endParaRPr b="0" i="0" sz="1350" u="none" cap="none" strike="noStrike">
              <a:solidFill>
                <a:schemeClr val="dk1"/>
              </a:solidFill>
              <a:latin typeface="Calibri"/>
              <a:ea typeface="Calibri"/>
              <a:cs typeface="Calibri"/>
              <a:sym typeface="Calibri"/>
            </a:endParaRPr>
          </a:p>
        </p:txBody>
      </p:sp>
      <p:sp>
        <p:nvSpPr>
          <p:cNvPr id="524" name="Google Shape;524;p23"/>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525" name="Google Shape;525;p23"/>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§04</a:t>
            </a:r>
            <a:endParaRPr b="0" i="0" sz="800" u="none" cap="none" strike="noStrike">
              <a:solidFill>
                <a:schemeClr val="dk1"/>
              </a:solidFill>
              <a:latin typeface="Calibri"/>
              <a:ea typeface="Calibri"/>
              <a:cs typeface="Calibri"/>
              <a:sym typeface="Calibri"/>
            </a:endParaRPr>
          </a:p>
        </p:txBody>
      </p:sp>
      <p:sp>
        <p:nvSpPr>
          <p:cNvPr id="526" name="Google Shape;526;p23"/>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19</a:t>
            </a:r>
            <a:endParaRPr b="0" i="0" sz="800" u="none" cap="none" strike="noStrike">
              <a:solidFill>
                <a:schemeClr val="dk1"/>
              </a:solidFill>
              <a:latin typeface="Calibri"/>
              <a:ea typeface="Calibri"/>
              <a:cs typeface="Calibri"/>
              <a:sym typeface="Calibri"/>
            </a:endParaRPr>
          </a:p>
        </p:txBody>
      </p:sp>
      <p:graphicFrame>
        <p:nvGraphicFramePr>
          <p:cNvPr id="527" name="Google Shape;527;p23"/>
          <p:cNvGraphicFramePr/>
          <p:nvPr/>
        </p:nvGraphicFramePr>
        <p:xfrm>
          <a:off x="502920" y="1645920"/>
          <a:ext cx="3000000" cy="3000000"/>
        </p:xfrm>
        <a:graphic>
          <a:graphicData uri="http://schemas.openxmlformats.org/drawingml/2006/table">
            <a:tbl>
              <a:tblPr>
                <a:noFill/>
                <a:tableStyleId>{0B7ADE64-2C2D-4D68-BEA2-7A829558A485}</a:tableStyleId>
              </a:tblPr>
              <a:tblGrid>
                <a:gridCol w="2514600"/>
                <a:gridCol w="3657600"/>
                <a:gridCol w="4983475"/>
              </a:tblGrid>
              <a:tr h="658375">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Agent</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MCP-wrapped tools</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Workflow it encodes</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r>
              <a:tr h="658375">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Flood Risk Agent</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HydraFloods (extent) + GEOGloWS (discharge)</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Forecast → observed extent → reconcile → overlay exposure → flag divergence for review</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658375">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Wildfire Risk Agent</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Pyregence / Pyrecast</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Fuel and weather inputs → spread forecast → overlay exposure → escalate past threshold</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658375">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Probabilistic Loss Agent</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RiskLayer + CLIMADA (same interface contract)</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Take H-E-V bundle → run RiskLayer → cross-check CLIMADA → surface material disagreement</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658375">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Global Alert Watch Agent</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GDACS feed</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Poll → dedupe against native hazard agents → surface only new signals</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658375">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Global Risk Orchestrator</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OpenQuake + CLIMADA + IBF-system (RiskMap's NL interface)</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Parse query → call peril agents via A2A → fuse → route through IBF triggers → cite sources and limitations → human-approval checkpoint, never autonomous</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bl>
          </a:graphicData>
        </a:graphic>
      </p:graphicFrame>
      <p:sp>
        <p:nvSpPr>
          <p:cNvPr id="528" name="Google Shape;528;p23"/>
          <p:cNvSpPr/>
          <p:nvPr/>
        </p:nvSpPr>
        <p:spPr>
          <a:xfrm>
            <a:off x="502920" y="5120640"/>
            <a:ext cx="11155680" cy="731520"/>
          </a:xfrm>
          <a:prstGeom prst="roundRect">
            <a:avLst>
              <a:gd fmla="val 7500"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3"/>
          <p:cNvSpPr txBox="1"/>
          <p:nvPr/>
        </p:nvSpPr>
        <p:spPr>
          <a:xfrm>
            <a:off x="713232" y="5212080"/>
            <a:ext cx="10789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Note the last row.  </a:t>
            </a:r>
            <a:r>
              <a:rPr b="0" i="0" lang="en-US" sz="1150" u="none" cap="none" strike="noStrike">
                <a:solidFill>
                  <a:srgbClr val="4D5763"/>
                </a:solidFill>
                <a:latin typeface="Calibri"/>
                <a:ea typeface="Calibri"/>
                <a:cs typeface="Calibri"/>
                <a:sym typeface="Calibri"/>
              </a:rPr>
              <a:t>The orchestrator never publishes autonomously. Every answer stops at a human-approval checkpoint — the governance mechanism from §03 made concrete in the agent's own workflow.</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24"/>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Global Risk — documented use cases from the SERVIR archive</a:t>
            </a:r>
            <a:endParaRPr b="0" i="0" sz="3000" u="none" cap="none" strike="noStrike">
              <a:solidFill>
                <a:schemeClr val="dk1"/>
              </a:solidFill>
              <a:latin typeface="Calibri"/>
              <a:ea typeface="Calibri"/>
              <a:cs typeface="Calibri"/>
              <a:sym typeface="Calibri"/>
            </a:endParaRPr>
          </a:p>
        </p:txBody>
      </p:sp>
      <p:sp>
        <p:nvSpPr>
          <p:cNvPr id="536" name="Google Shape;536;p24"/>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Named institution, named decision. These are the acceptance tests for the matrix.</a:t>
            </a:r>
            <a:endParaRPr b="0" i="0" sz="1350" u="none" cap="none" strike="noStrike">
              <a:solidFill>
                <a:schemeClr val="dk1"/>
              </a:solidFill>
              <a:latin typeface="Calibri"/>
              <a:ea typeface="Calibri"/>
              <a:cs typeface="Calibri"/>
              <a:sym typeface="Calibri"/>
            </a:endParaRPr>
          </a:p>
        </p:txBody>
      </p:sp>
      <p:sp>
        <p:nvSpPr>
          <p:cNvPr id="537" name="Google Shape;537;p24"/>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538" name="Google Shape;538;p24"/>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§04</a:t>
            </a:r>
            <a:endParaRPr b="0" i="0" sz="800" u="none" cap="none" strike="noStrike">
              <a:solidFill>
                <a:schemeClr val="dk1"/>
              </a:solidFill>
              <a:latin typeface="Calibri"/>
              <a:ea typeface="Calibri"/>
              <a:cs typeface="Calibri"/>
              <a:sym typeface="Calibri"/>
            </a:endParaRPr>
          </a:p>
        </p:txBody>
      </p:sp>
      <p:sp>
        <p:nvSpPr>
          <p:cNvPr id="539" name="Google Shape;539;p24"/>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20</a:t>
            </a:r>
            <a:endParaRPr b="0" i="0" sz="800" u="none" cap="none" strike="noStrike">
              <a:solidFill>
                <a:schemeClr val="dk1"/>
              </a:solidFill>
              <a:latin typeface="Calibri"/>
              <a:ea typeface="Calibri"/>
              <a:cs typeface="Calibri"/>
              <a:sym typeface="Calibri"/>
            </a:endParaRPr>
          </a:p>
        </p:txBody>
      </p:sp>
      <p:sp>
        <p:nvSpPr>
          <p:cNvPr id="540" name="Google Shape;540;p24"/>
          <p:cNvSpPr/>
          <p:nvPr/>
        </p:nvSpPr>
        <p:spPr>
          <a:xfrm>
            <a:off x="502920" y="148132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4"/>
          <p:cNvSpPr txBox="1"/>
          <p:nvPr/>
        </p:nvSpPr>
        <p:spPr>
          <a:xfrm>
            <a:off x="685800" y="160020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MEKONG · SE ASIA</a:t>
            </a:r>
            <a:endParaRPr b="0" i="0" sz="800" u="none" cap="none" strike="noStrike">
              <a:solidFill>
                <a:schemeClr val="dk1"/>
              </a:solidFill>
              <a:latin typeface="Calibri"/>
              <a:ea typeface="Calibri"/>
              <a:cs typeface="Calibri"/>
              <a:sym typeface="Calibri"/>
            </a:endParaRPr>
          </a:p>
        </p:txBody>
      </p:sp>
      <p:sp>
        <p:nvSpPr>
          <p:cNvPr id="542" name="Google Shape;542;p24"/>
          <p:cNvSpPr txBox="1"/>
          <p:nvPr/>
        </p:nvSpPr>
        <p:spPr>
          <a:xfrm>
            <a:off x="685800" y="179222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Flood emergency preparedness — Myanmar</a:t>
            </a:r>
            <a:endParaRPr b="0" i="0" sz="1250" u="none" cap="none" strike="noStrike">
              <a:solidFill>
                <a:schemeClr val="dk1"/>
              </a:solidFill>
              <a:latin typeface="Calibri"/>
              <a:ea typeface="Calibri"/>
              <a:cs typeface="Calibri"/>
              <a:sym typeface="Calibri"/>
            </a:endParaRPr>
          </a:p>
        </p:txBody>
      </p:sp>
      <p:sp>
        <p:nvSpPr>
          <p:cNvPr id="543" name="Google Shape;543;p24"/>
          <p:cNvSpPr txBox="1"/>
          <p:nvPr/>
        </p:nvSpPr>
        <p:spPr>
          <a:xfrm>
            <a:off x="685800" y="224942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Dept of Disaster Management, Min. of Social Welfare</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Where to pre-position supplies, shelters and personnel</a:t>
            </a:r>
            <a:endParaRPr b="0" i="0" sz="800" u="none" cap="none" strike="noStrike">
              <a:solidFill>
                <a:schemeClr val="dk1"/>
              </a:solidFill>
              <a:latin typeface="Calibri"/>
              <a:ea typeface="Calibri"/>
              <a:cs typeface="Calibri"/>
              <a:sym typeface="Calibri"/>
            </a:endParaRPr>
          </a:p>
        </p:txBody>
      </p:sp>
      <p:sp>
        <p:nvSpPr>
          <p:cNvPr id="544" name="Google Shape;544;p24"/>
          <p:cNvSpPr txBox="1"/>
          <p:nvPr/>
        </p:nvSpPr>
        <p:spPr>
          <a:xfrm>
            <a:off x="685800" y="318211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FLOOD × CLOCK 2 · PEOPLE + ASSETS</a:t>
            </a:r>
            <a:endParaRPr b="0" i="0" sz="800" u="none" cap="none" strike="noStrike">
              <a:solidFill>
                <a:schemeClr val="dk1"/>
              </a:solidFill>
              <a:latin typeface="Calibri"/>
              <a:ea typeface="Calibri"/>
              <a:cs typeface="Calibri"/>
              <a:sym typeface="Calibri"/>
            </a:endParaRPr>
          </a:p>
        </p:txBody>
      </p:sp>
      <p:sp>
        <p:nvSpPr>
          <p:cNvPr id="545" name="Google Shape;545;p24"/>
          <p:cNvSpPr/>
          <p:nvPr/>
        </p:nvSpPr>
        <p:spPr>
          <a:xfrm>
            <a:off x="4282440" y="148132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4"/>
          <p:cNvSpPr txBox="1"/>
          <p:nvPr/>
        </p:nvSpPr>
        <p:spPr>
          <a:xfrm>
            <a:off x="4465320" y="160020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HKH · ICIMOD</a:t>
            </a:r>
            <a:endParaRPr b="0" i="0" sz="800" u="none" cap="none" strike="noStrike">
              <a:solidFill>
                <a:schemeClr val="dk1"/>
              </a:solidFill>
              <a:latin typeface="Calibri"/>
              <a:ea typeface="Calibri"/>
              <a:cs typeface="Calibri"/>
              <a:sym typeface="Calibri"/>
            </a:endParaRPr>
          </a:p>
        </p:txBody>
      </p:sp>
      <p:sp>
        <p:nvSpPr>
          <p:cNvPr id="547" name="Google Shape;547;p24"/>
          <p:cNvSpPr txBox="1"/>
          <p:nvPr/>
        </p:nvSpPr>
        <p:spPr>
          <a:xfrm>
            <a:off x="4465320" y="179222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HIWAT severe weather — Bangladesh</a:t>
            </a:r>
            <a:endParaRPr b="0" i="0" sz="1250" u="none" cap="none" strike="noStrike">
              <a:solidFill>
                <a:schemeClr val="dk1"/>
              </a:solidFill>
              <a:latin typeface="Calibri"/>
              <a:ea typeface="Calibri"/>
              <a:cs typeface="Calibri"/>
              <a:sym typeface="Calibri"/>
            </a:endParaRPr>
          </a:p>
        </p:txBody>
      </p:sp>
      <p:sp>
        <p:nvSpPr>
          <p:cNvPr id="548" name="Google Shape;548;p24"/>
          <p:cNvSpPr txBox="1"/>
          <p:nvPr/>
        </p:nvSpPr>
        <p:spPr>
          <a:xfrm>
            <a:off x="4465320" y="224942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Bangladesh Meteorological Department</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Whether and when to issue severe-weather warnings in monsoon season</a:t>
            </a:r>
            <a:endParaRPr b="0" i="0" sz="800" u="none" cap="none" strike="noStrike">
              <a:solidFill>
                <a:schemeClr val="dk1"/>
              </a:solidFill>
              <a:latin typeface="Calibri"/>
              <a:ea typeface="Calibri"/>
              <a:cs typeface="Calibri"/>
              <a:sym typeface="Calibri"/>
            </a:endParaRPr>
          </a:p>
        </p:txBody>
      </p:sp>
      <p:sp>
        <p:nvSpPr>
          <p:cNvPr id="549" name="Google Shape;549;p24"/>
          <p:cNvSpPr txBox="1"/>
          <p:nvPr/>
        </p:nvSpPr>
        <p:spPr>
          <a:xfrm>
            <a:off x="4465320" y="318211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STORM × CLOCK 1 · PEOPLE</a:t>
            </a:r>
            <a:endParaRPr b="0" i="0" sz="800" u="none" cap="none" strike="noStrike">
              <a:solidFill>
                <a:schemeClr val="dk1"/>
              </a:solidFill>
              <a:latin typeface="Calibri"/>
              <a:ea typeface="Calibri"/>
              <a:cs typeface="Calibri"/>
              <a:sym typeface="Calibri"/>
            </a:endParaRPr>
          </a:p>
        </p:txBody>
      </p:sp>
      <p:sp>
        <p:nvSpPr>
          <p:cNvPr id="550" name="Google Shape;550;p24"/>
          <p:cNvSpPr/>
          <p:nvPr/>
        </p:nvSpPr>
        <p:spPr>
          <a:xfrm>
            <a:off x="8061960" y="148132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4"/>
          <p:cNvSpPr txBox="1"/>
          <p:nvPr/>
        </p:nvSpPr>
        <p:spPr>
          <a:xfrm>
            <a:off x="8244840" y="160020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HKH · ICIMOD</a:t>
            </a:r>
            <a:endParaRPr b="0" i="0" sz="800" u="none" cap="none" strike="noStrike">
              <a:solidFill>
                <a:schemeClr val="dk1"/>
              </a:solidFill>
              <a:latin typeface="Calibri"/>
              <a:ea typeface="Calibri"/>
              <a:cs typeface="Calibri"/>
              <a:sym typeface="Calibri"/>
            </a:endParaRPr>
          </a:p>
        </p:txBody>
      </p:sp>
      <p:sp>
        <p:nvSpPr>
          <p:cNvPr id="552" name="Google Shape;552;p24"/>
          <p:cNvSpPr txBox="1"/>
          <p:nvPr/>
        </p:nvSpPr>
        <p:spPr>
          <a:xfrm>
            <a:off x="8244840" y="179222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Streamflow + flash flood — Nepal</a:t>
            </a:r>
            <a:endParaRPr b="0" i="0" sz="1250" u="none" cap="none" strike="noStrike">
              <a:solidFill>
                <a:schemeClr val="dk1"/>
              </a:solidFill>
              <a:latin typeface="Calibri"/>
              <a:ea typeface="Calibri"/>
              <a:cs typeface="Calibri"/>
              <a:sym typeface="Calibri"/>
            </a:endParaRPr>
          </a:p>
        </p:txBody>
      </p:sp>
      <p:sp>
        <p:nvSpPr>
          <p:cNvPr id="553" name="Google Shape;553;p24"/>
          <p:cNvSpPr txBox="1"/>
          <p:nvPr/>
        </p:nvSpPr>
        <p:spPr>
          <a:xfrm>
            <a:off x="8244840" y="224942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Dept of Hydrology and Meteorology</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What goes into DHM's daily monsoon flood bulletin and its forecast-based financing</a:t>
            </a:r>
            <a:endParaRPr b="0" i="0" sz="800" u="none" cap="none" strike="noStrike">
              <a:solidFill>
                <a:schemeClr val="dk1"/>
              </a:solidFill>
              <a:latin typeface="Calibri"/>
              <a:ea typeface="Calibri"/>
              <a:cs typeface="Calibri"/>
              <a:sym typeface="Calibri"/>
            </a:endParaRPr>
          </a:p>
        </p:txBody>
      </p:sp>
      <p:sp>
        <p:nvSpPr>
          <p:cNvPr id="554" name="Google Shape;554;p24"/>
          <p:cNvSpPr txBox="1"/>
          <p:nvPr/>
        </p:nvSpPr>
        <p:spPr>
          <a:xfrm>
            <a:off x="8244840" y="318211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FLOOD × CLOCK 1 · PEOPLE</a:t>
            </a:r>
            <a:endParaRPr b="0" i="0" sz="800" u="none" cap="none" strike="noStrike">
              <a:solidFill>
                <a:schemeClr val="dk1"/>
              </a:solidFill>
              <a:latin typeface="Calibri"/>
              <a:ea typeface="Calibri"/>
              <a:cs typeface="Calibri"/>
              <a:sym typeface="Calibri"/>
            </a:endParaRPr>
          </a:p>
        </p:txBody>
      </p:sp>
      <p:sp>
        <p:nvSpPr>
          <p:cNvPr id="555" name="Google Shape;555;p24"/>
          <p:cNvSpPr/>
          <p:nvPr/>
        </p:nvSpPr>
        <p:spPr>
          <a:xfrm>
            <a:off x="502920" y="367588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4"/>
          <p:cNvSpPr txBox="1"/>
          <p:nvPr/>
        </p:nvSpPr>
        <p:spPr>
          <a:xfrm>
            <a:off x="685800" y="379476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SOUTH ASIA</a:t>
            </a:r>
            <a:endParaRPr b="0" i="0" sz="800" u="none" cap="none" strike="noStrike">
              <a:solidFill>
                <a:schemeClr val="dk1"/>
              </a:solidFill>
              <a:latin typeface="Calibri"/>
              <a:ea typeface="Calibri"/>
              <a:cs typeface="Calibri"/>
              <a:sym typeface="Calibri"/>
            </a:endParaRPr>
          </a:p>
        </p:txBody>
      </p:sp>
      <p:sp>
        <p:nvSpPr>
          <p:cNvPr id="557" name="Google Shape;557;p24"/>
          <p:cNvSpPr txBox="1"/>
          <p:nvPr/>
        </p:nvSpPr>
        <p:spPr>
          <a:xfrm>
            <a:off x="685800" y="398678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Satellite flood forecasting — Bangladesh</a:t>
            </a:r>
            <a:endParaRPr b="0" i="0" sz="1250" u="none" cap="none" strike="noStrike">
              <a:solidFill>
                <a:schemeClr val="dk1"/>
              </a:solidFill>
              <a:latin typeface="Calibri"/>
              <a:ea typeface="Calibri"/>
              <a:cs typeface="Calibri"/>
              <a:sym typeface="Calibri"/>
            </a:endParaRPr>
          </a:p>
        </p:txBody>
      </p:sp>
      <p:sp>
        <p:nvSpPr>
          <p:cNvPr id="558" name="Google Shape;558;p24"/>
          <p:cNvSpPr txBox="1"/>
          <p:nvPr/>
        </p:nvSpPr>
        <p:spPr>
          <a:xfrm>
            <a:off x="685800" y="444398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BWDB Flood Forecasting &amp; Warning Centre</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Warning lead time — extended from 3–5 days to 8 days for ~80 M people</a:t>
            </a:r>
            <a:endParaRPr b="0" i="0" sz="800" u="none" cap="none" strike="noStrike">
              <a:solidFill>
                <a:schemeClr val="dk1"/>
              </a:solidFill>
              <a:latin typeface="Calibri"/>
              <a:ea typeface="Calibri"/>
              <a:cs typeface="Calibri"/>
              <a:sym typeface="Calibri"/>
            </a:endParaRPr>
          </a:p>
        </p:txBody>
      </p:sp>
      <p:sp>
        <p:nvSpPr>
          <p:cNvPr id="559" name="Google Shape;559;p24"/>
          <p:cNvSpPr txBox="1"/>
          <p:nvPr/>
        </p:nvSpPr>
        <p:spPr>
          <a:xfrm>
            <a:off x="685800" y="537667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FLOOD × CLOCK 1 · PEOPLE</a:t>
            </a:r>
            <a:endParaRPr b="0" i="0" sz="800" u="none" cap="none" strike="noStrike">
              <a:solidFill>
                <a:schemeClr val="dk1"/>
              </a:solidFill>
              <a:latin typeface="Calibri"/>
              <a:ea typeface="Calibri"/>
              <a:cs typeface="Calibri"/>
              <a:sym typeface="Calibri"/>
            </a:endParaRPr>
          </a:p>
        </p:txBody>
      </p:sp>
      <p:sp>
        <p:nvSpPr>
          <p:cNvPr id="560" name="Google Shape;560;p24"/>
          <p:cNvSpPr/>
          <p:nvPr/>
        </p:nvSpPr>
        <p:spPr>
          <a:xfrm>
            <a:off x="4282440" y="367588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4"/>
          <p:cNvSpPr txBox="1"/>
          <p:nvPr/>
        </p:nvSpPr>
        <p:spPr>
          <a:xfrm>
            <a:off x="4465320" y="379476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E&amp;S AFRICA · RCMRD</a:t>
            </a:r>
            <a:endParaRPr b="0" i="0" sz="800" u="none" cap="none" strike="noStrike">
              <a:solidFill>
                <a:schemeClr val="dk1"/>
              </a:solidFill>
              <a:latin typeface="Calibri"/>
              <a:ea typeface="Calibri"/>
              <a:cs typeface="Calibri"/>
              <a:sym typeface="Calibri"/>
            </a:endParaRPr>
          </a:p>
        </p:txBody>
      </p:sp>
      <p:sp>
        <p:nvSpPr>
          <p:cNvPr id="562" name="Google Shape;562;p24"/>
          <p:cNvSpPr txBox="1"/>
          <p:nvPr/>
        </p:nvSpPr>
        <p:spPr>
          <a:xfrm>
            <a:off x="4465320" y="398678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Community flood early warning — Malawi</a:t>
            </a:r>
            <a:endParaRPr b="0" i="0" sz="1250" u="none" cap="none" strike="noStrike">
              <a:solidFill>
                <a:schemeClr val="dk1"/>
              </a:solidFill>
              <a:latin typeface="Calibri"/>
              <a:ea typeface="Calibri"/>
              <a:cs typeface="Calibri"/>
              <a:sym typeface="Calibri"/>
            </a:endParaRPr>
          </a:p>
        </p:txBody>
      </p:sp>
      <p:sp>
        <p:nvSpPr>
          <p:cNvPr id="563" name="Google Shape;563;p24"/>
          <p:cNvSpPr txBox="1"/>
          <p:nvPr/>
        </p:nvSpPr>
        <p:spPr>
          <a:xfrm>
            <a:off x="4465320" y="444398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DoDMA, DWR, DCCMS, Malawi Red Cross</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When to activate warnings — Cyclone Ana lead time went from hours to days</a:t>
            </a:r>
            <a:endParaRPr b="0" i="0" sz="800" u="none" cap="none" strike="noStrike">
              <a:solidFill>
                <a:schemeClr val="dk1"/>
              </a:solidFill>
              <a:latin typeface="Calibri"/>
              <a:ea typeface="Calibri"/>
              <a:cs typeface="Calibri"/>
              <a:sym typeface="Calibri"/>
            </a:endParaRPr>
          </a:p>
        </p:txBody>
      </p:sp>
      <p:sp>
        <p:nvSpPr>
          <p:cNvPr id="564" name="Google Shape;564;p24"/>
          <p:cNvSpPr txBox="1"/>
          <p:nvPr/>
        </p:nvSpPr>
        <p:spPr>
          <a:xfrm>
            <a:off x="4465320" y="537667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FLOOD × CLOCK 1 · PEOPLE</a:t>
            </a:r>
            <a:endParaRPr b="0" i="0" sz="800" u="none" cap="none" strike="noStrike">
              <a:solidFill>
                <a:schemeClr val="dk1"/>
              </a:solidFill>
              <a:latin typeface="Calibri"/>
              <a:ea typeface="Calibri"/>
              <a:cs typeface="Calibri"/>
              <a:sym typeface="Calibri"/>
            </a:endParaRPr>
          </a:p>
        </p:txBody>
      </p:sp>
      <p:sp>
        <p:nvSpPr>
          <p:cNvPr id="565" name="Google Shape;565;p24"/>
          <p:cNvSpPr/>
          <p:nvPr/>
        </p:nvSpPr>
        <p:spPr>
          <a:xfrm>
            <a:off x="8061960" y="367588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4"/>
          <p:cNvSpPr txBox="1"/>
          <p:nvPr/>
        </p:nvSpPr>
        <p:spPr>
          <a:xfrm>
            <a:off x="8244840" y="379476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SE ASIA · ADPC</a:t>
            </a:r>
            <a:endParaRPr b="0" i="0" sz="800" u="none" cap="none" strike="noStrike">
              <a:solidFill>
                <a:schemeClr val="dk1"/>
              </a:solidFill>
              <a:latin typeface="Calibri"/>
              <a:ea typeface="Calibri"/>
              <a:cs typeface="Calibri"/>
              <a:sym typeface="Calibri"/>
            </a:endParaRPr>
          </a:p>
        </p:txBody>
      </p:sp>
      <p:sp>
        <p:nvSpPr>
          <p:cNvPr id="567" name="Google Shape;567;p24"/>
          <p:cNvSpPr txBox="1"/>
          <p:nvPr/>
        </p:nvSpPr>
        <p:spPr>
          <a:xfrm>
            <a:off x="8244840" y="398678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Air Quality Explorer — Thailand, Laos</a:t>
            </a:r>
            <a:endParaRPr b="0" i="0" sz="1250" u="none" cap="none" strike="noStrike">
              <a:solidFill>
                <a:schemeClr val="dk1"/>
              </a:solidFill>
              <a:latin typeface="Calibri"/>
              <a:ea typeface="Calibri"/>
              <a:cs typeface="Calibri"/>
              <a:sym typeface="Calibri"/>
            </a:endParaRPr>
          </a:p>
        </p:txBody>
      </p:sp>
      <p:sp>
        <p:nvSpPr>
          <p:cNvPr id="568" name="Google Shape;568;p24"/>
          <p:cNvSpPr txBox="1"/>
          <p:nvPr/>
        </p:nvSpPr>
        <p:spPr>
          <a:xfrm>
            <a:off x="8244840" y="444398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Thai PCD, GISTDA, Laos MONRE, UN ESCAP</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How authorities regulate and time agricultural burning during haze episodes</a:t>
            </a:r>
            <a:endParaRPr b="0" i="0" sz="800" u="none" cap="none" strike="noStrike">
              <a:solidFill>
                <a:schemeClr val="dk1"/>
              </a:solidFill>
              <a:latin typeface="Calibri"/>
              <a:ea typeface="Calibri"/>
              <a:cs typeface="Calibri"/>
              <a:sym typeface="Calibri"/>
            </a:endParaRPr>
          </a:p>
        </p:txBody>
      </p:sp>
      <p:sp>
        <p:nvSpPr>
          <p:cNvPr id="569" name="Google Shape;569;p24"/>
          <p:cNvSpPr txBox="1"/>
          <p:nvPr/>
        </p:nvSpPr>
        <p:spPr>
          <a:xfrm>
            <a:off x="8244840" y="537667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AIR POLLUTION × CLOCK 1 · PEOPLE</a:t>
            </a:r>
            <a:endParaRPr b="0" i="0" sz="800" u="none" cap="none" strike="noStrike">
              <a:solidFill>
                <a:schemeClr val="dk1"/>
              </a:solidFill>
              <a:latin typeface="Calibri"/>
              <a:ea typeface="Calibri"/>
              <a:cs typeface="Calibri"/>
              <a:sym typeface="Calibri"/>
            </a:endParaRPr>
          </a:p>
        </p:txBody>
      </p:sp>
      <p:sp>
        <p:nvSpPr>
          <p:cNvPr id="570" name="Google Shape;570;p24"/>
          <p:cNvSpPr/>
          <p:nvPr/>
        </p:nvSpPr>
        <p:spPr>
          <a:xfrm>
            <a:off x="502920" y="5779008"/>
            <a:ext cx="11155680" cy="594360"/>
          </a:xfrm>
          <a:prstGeom prst="roundRect">
            <a:avLst>
              <a:gd fmla="val 9231"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4"/>
          <p:cNvSpPr txBox="1"/>
          <p:nvPr/>
        </p:nvSpPr>
        <p:spPr>
          <a:xfrm>
            <a:off x="713232" y="5870448"/>
            <a:ext cx="10789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Six further documented cases:  </a:t>
            </a:r>
            <a:r>
              <a:rPr b="0" i="0" lang="en-US" sz="1150" u="none" cap="none" strike="noStrike">
                <a:solidFill>
                  <a:srgbClr val="4D5763"/>
                </a:solidFill>
                <a:latin typeface="Calibri"/>
                <a:ea typeface="Calibri"/>
                <a:cs typeface="Calibri"/>
                <a:sym typeface="Calibri"/>
              </a:rPr>
              <a:t>forest fire monitoring (Nepal DoFSC) · air quality forecasting (MARN El Salvador, IMN Costa Rica) · anticipatory action (Mekong River Commission, ASEAN AHA Centre) · reservoir assessment (MRC) · hydromet monitoring (IDEAM/UNGRD Colombia) · national hydromet portals (SENAMHI, INAMHI, CEMADEN).</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25"/>
          <p:cNvSpPr/>
          <p:nvPr/>
        </p:nvSpPr>
        <p:spPr>
          <a:xfrm>
            <a:off x="0" y="0"/>
            <a:ext cx="12161520" cy="6858000"/>
          </a:xfrm>
          <a:prstGeom prst="rect">
            <a:avLst/>
          </a:prstGeom>
          <a:solidFill>
            <a:srgbClr val="1C21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5"/>
          <p:cNvSpPr/>
          <p:nvPr/>
        </p:nvSpPr>
        <p:spPr>
          <a:xfrm>
            <a:off x="9509760" y="-1280160"/>
            <a:ext cx="4754880" cy="4754880"/>
          </a:xfrm>
          <a:prstGeom prst="ellipse">
            <a:avLst/>
          </a:prstGeom>
          <a:solidFill>
            <a:srgbClr val="1A6389">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5"/>
          <p:cNvSpPr txBox="1"/>
          <p:nvPr/>
        </p:nvSpPr>
        <p:spPr>
          <a:xfrm>
            <a:off x="822960" y="228600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D8C8"/>
              </a:buClr>
              <a:buSzPts val="1500"/>
              <a:buFont typeface="Consolas"/>
              <a:buNone/>
            </a:pPr>
            <a:r>
              <a:rPr b="0" i="0" lang="en-US" sz="1500" u="none" cap="none" strike="noStrike">
                <a:solidFill>
                  <a:srgbClr val="7CD8C8"/>
                </a:solidFill>
                <a:latin typeface="Consolas"/>
                <a:ea typeface="Consolas"/>
                <a:cs typeface="Consolas"/>
                <a:sym typeface="Consolas"/>
              </a:rPr>
              <a:t>05</a:t>
            </a:r>
            <a:endParaRPr b="0" i="0" sz="1500" u="none" cap="none" strike="noStrike">
              <a:solidFill>
                <a:schemeClr val="dk1"/>
              </a:solidFill>
              <a:latin typeface="Calibri"/>
              <a:ea typeface="Calibri"/>
              <a:cs typeface="Calibri"/>
              <a:sym typeface="Calibri"/>
            </a:endParaRPr>
          </a:p>
        </p:txBody>
      </p:sp>
      <p:sp>
        <p:nvSpPr>
          <p:cNvPr id="580" name="Google Shape;580;p25"/>
          <p:cNvSpPr txBox="1"/>
          <p:nvPr/>
        </p:nvSpPr>
        <p:spPr>
          <a:xfrm>
            <a:off x="822960" y="2743200"/>
            <a:ext cx="96012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Roboto Condensed"/>
              <a:buNone/>
            </a:pPr>
            <a:r>
              <a:rPr b="1" i="0" lang="en-US" sz="4000" u="none" cap="none" strike="noStrike">
                <a:solidFill>
                  <a:srgbClr val="FFFFFF"/>
                </a:solidFill>
                <a:latin typeface="Roboto Condensed"/>
                <a:ea typeface="Roboto Condensed"/>
                <a:cs typeface="Roboto Condensed"/>
                <a:sym typeface="Roboto Condensed"/>
              </a:rPr>
              <a:t>Food Security Platform</a:t>
            </a:r>
            <a:endParaRPr b="0" i="0" sz="4000" u="none" cap="none" strike="noStrike">
              <a:solidFill>
                <a:schemeClr val="dk1"/>
              </a:solidFill>
              <a:latin typeface="Calibri"/>
              <a:ea typeface="Calibri"/>
              <a:cs typeface="Calibri"/>
              <a:sym typeface="Calibri"/>
            </a:endParaRPr>
          </a:p>
        </p:txBody>
      </p:sp>
      <p:sp>
        <p:nvSpPr>
          <p:cNvPr id="581" name="Google Shape;581;p25"/>
          <p:cNvSpPr txBox="1"/>
          <p:nvPr/>
        </p:nvSpPr>
        <p:spPr>
          <a:xfrm>
            <a:off x="822960" y="3840480"/>
            <a:ext cx="87782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D6E6"/>
              </a:buClr>
              <a:buSzPts val="1500"/>
              <a:buFont typeface="Calibri"/>
              <a:buNone/>
            </a:pPr>
            <a:r>
              <a:rPr b="0" i="0" lang="en-US" sz="1500" u="none" cap="none" strike="noStrike">
                <a:solidFill>
                  <a:srgbClr val="C4D6E6"/>
                </a:solidFill>
                <a:latin typeface="Calibri"/>
                <a:ea typeface="Calibri"/>
                <a:cs typeface="Calibri"/>
                <a:sym typeface="Calibri"/>
              </a:rPr>
              <a:t>GeoAI AgriNexus. Climate-driver-led — but the build list is commodity-shaped: a crop-type layer, a yield method and a calendar per commodity.</a:t>
            </a:r>
            <a:endParaRPr b="0" i="0" sz="1500" u="none" cap="none" strike="noStrike">
              <a:solidFill>
                <a:schemeClr val="dk1"/>
              </a:solidFill>
              <a:latin typeface="Calibri"/>
              <a:ea typeface="Calibri"/>
              <a:cs typeface="Calibri"/>
              <a:sym typeface="Calibri"/>
            </a:endParaRPr>
          </a:p>
        </p:txBody>
      </p:sp>
      <p:sp>
        <p:nvSpPr>
          <p:cNvPr id="582" name="Google Shape;582;p25"/>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8CA8"/>
              </a:buClr>
              <a:buSzPts val="800"/>
              <a:buFont typeface="Consolas"/>
              <a:buNone/>
            </a:pPr>
            <a:r>
              <a:rPr b="0" i="0" lang="en-US" sz="800" u="none" cap="none" strike="noStrike">
                <a:solidFill>
                  <a:srgbClr val="6E8CA8"/>
                </a:solidFill>
                <a:latin typeface="Consolas"/>
                <a:ea typeface="Consolas"/>
                <a:cs typeface="Consolas"/>
                <a:sym typeface="Consolas"/>
              </a:rPr>
              <a:t>21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26"/>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Fig. 4 — The Food Security build matrix</a:t>
            </a:r>
            <a:endParaRPr b="0" i="0" sz="3000" u="none" cap="none" strike="noStrike">
              <a:solidFill>
                <a:schemeClr val="dk1"/>
              </a:solidFill>
              <a:latin typeface="Calibri"/>
              <a:ea typeface="Calibri"/>
              <a:cs typeface="Calibri"/>
              <a:sym typeface="Calibri"/>
            </a:endParaRPr>
          </a:p>
        </p:txBody>
      </p:sp>
      <p:sp>
        <p:nvSpPr>
          <p:cNvPr id="589" name="Google Shape;589;p26"/>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590" name="Google Shape;590;p26"/>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§05</a:t>
            </a:r>
            <a:endParaRPr b="0" i="0" sz="800" u="none" cap="none" strike="noStrike">
              <a:solidFill>
                <a:schemeClr val="dk1"/>
              </a:solidFill>
              <a:latin typeface="Calibri"/>
              <a:ea typeface="Calibri"/>
              <a:cs typeface="Calibri"/>
              <a:sym typeface="Calibri"/>
            </a:endParaRPr>
          </a:p>
        </p:txBody>
      </p:sp>
      <p:sp>
        <p:nvSpPr>
          <p:cNvPr id="591" name="Google Shape;591;p26"/>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22</a:t>
            </a:r>
            <a:endParaRPr b="0" i="0" sz="800" u="none" cap="none" strike="noStrike">
              <a:solidFill>
                <a:schemeClr val="dk1"/>
              </a:solidFill>
              <a:latin typeface="Calibri"/>
              <a:ea typeface="Calibri"/>
              <a:cs typeface="Calibri"/>
              <a:sym typeface="Calibri"/>
            </a:endParaRPr>
          </a:p>
        </p:txBody>
      </p:sp>
      <p:sp>
        <p:nvSpPr>
          <p:cNvPr id="592" name="Google Shape;592;p26"/>
          <p:cNvSpPr txBox="1"/>
          <p:nvPr/>
        </p:nvSpPr>
        <p:spPr>
          <a:xfrm>
            <a:off x="2898648" y="1097280"/>
            <a:ext cx="2825496" cy="34747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6389"/>
              </a:buClr>
              <a:buSzPts val="900"/>
              <a:buFont typeface="Consolas"/>
              <a:buNone/>
            </a:pPr>
            <a:r>
              <a:rPr b="0" i="0" lang="en-US" sz="900" u="none" cap="none" strike="noStrike">
                <a:solidFill>
                  <a:srgbClr val="1A6389"/>
                </a:solidFill>
                <a:latin typeface="Consolas"/>
                <a:ea typeface="Consolas"/>
                <a:cs typeface="Consolas"/>
                <a:sym typeface="Consolas"/>
              </a:rPr>
              <a:t>CLOCK 1 · IN-SEASON</a:t>
            </a:r>
            <a:endParaRPr b="0" i="0" sz="900" u="none" cap="none" strike="noStrike">
              <a:solidFill>
                <a:schemeClr val="dk1"/>
              </a:solidFill>
              <a:latin typeface="Calibri"/>
              <a:ea typeface="Calibri"/>
              <a:cs typeface="Calibri"/>
              <a:sym typeface="Calibri"/>
            </a:endParaRPr>
          </a:p>
        </p:txBody>
      </p:sp>
      <p:sp>
        <p:nvSpPr>
          <p:cNvPr id="593" name="Google Shape;593;p26"/>
          <p:cNvSpPr txBox="1"/>
          <p:nvPr/>
        </p:nvSpPr>
        <p:spPr>
          <a:xfrm>
            <a:off x="5792724" y="1097280"/>
            <a:ext cx="2825496" cy="34747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6389"/>
              </a:buClr>
              <a:buSzPts val="900"/>
              <a:buFont typeface="Consolas"/>
              <a:buNone/>
            </a:pPr>
            <a:r>
              <a:rPr b="0" i="0" lang="en-US" sz="900" u="none" cap="none" strike="noStrike">
                <a:solidFill>
                  <a:srgbClr val="1A6389"/>
                </a:solidFill>
                <a:latin typeface="Consolas"/>
                <a:ea typeface="Consolas"/>
                <a:cs typeface="Consolas"/>
                <a:sym typeface="Consolas"/>
              </a:rPr>
              <a:t>CLOCK 2 · SEASONAL OUTLOOK</a:t>
            </a:r>
            <a:endParaRPr b="0" i="0" sz="900" u="none" cap="none" strike="noStrike">
              <a:solidFill>
                <a:schemeClr val="dk1"/>
              </a:solidFill>
              <a:latin typeface="Calibri"/>
              <a:ea typeface="Calibri"/>
              <a:cs typeface="Calibri"/>
              <a:sym typeface="Calibri"/>
            </a:endParaRPr>
          </a:p>
        </p:txBody>
      </p:sp>
      <p:sp>
        <p:nvSpPr>
          <p:cNvPr id="594" name="Google Shape;594;p26"/>
          <p:cNvSpPr txBox="1"/>
          <p:nvPr/>
        </p:nvSpPr>
        <p:spPr>
          <a:xfrm>
            <a:off x="8686800" y="1097280"/>
            <a:ext cx="2825496" cy="34747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6389"/>
              </a:buClr>
              <a:buSzPts val="900"/>
              <a:buFont typeface="Consolas"/>
              <a:buNone/>
            </a:pPr>
            <a:r>
              <a:rPr b="0" i="0" lang="en-US" sz="900" u="none" cap="none" strike="noStrike">
                <a:solidFill>
                  <a:srgbClr val="1A6389"/>
                </a:solidFill>
                <a:latin typeface="Consolas"/>
                <a:ea typeface="Consolas"/>
                <a:cs typeface="Consolas"/>
                <a:sym typeface="Consolas"/>
              </a:rPr>
              <a:t>CLOCK 3 · CLIMATE-ADJUSTED</a:t>
            </a:r>
            <a:endParaRPr b="0" i="0" sz="900" u="none" cap="none" strike="noStrike">
              <a:solidFill>
                <a:schemeClr val="dk1"/>
              </a:solidFill>
              <a:latin typeface="Calibri"/>
              <a:ea typeface="Calibri"/>
              <a:cs typeface="Calibri"/>
              <a:sym typeface="Calibri"/>
            </a:endParaRPr>
          </a:p>
        </p:txBody>
      </p:sp>
      <p:sp>
        <p:nvSpPr>
          <p:cNvPr id="595" name="Google Shape;595;p26"/>
          <p:cNvSpPr txBox="1"/>
          <p:nvPr/>
        </p:nvSpPr>
        <p:spPr>
          <a:xfrm>
            <a:off x="502920" y="1481328"/>
            <a:ext cx="2267712"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Maize</a:t>
            </a:r>
            <a:endParaRPr b="0" i="0" sz="1000" u="none" cap="none" strike="noStrike">
              <a:solidFill>
                <a:schemeClr val="dk1"/>
              </a:solidFill>
              <a:latin typeface="Calibri"/>
              <a:ea typeface="Calibri"/>
              <a:cs typeface="Calibri"/>
              <a:sym typeface="Calibri"/>
            </a:endParaRPr>
          </a:p>
        </p:txBody>
      </p:sp>
      <p:sp>
        <p:nvSpPr>
          <p:cNvPr id="596" name="Google Shape;596;p26"/>
          <p:cNvSpPr/>
          <p:nvPr/>
        </p:nvSpPr>
        <p:spPr>
          <a:xfrm>
            <a:off x="2898648" y="1481328"/>
            <a:ext cx="2825496" cy="324612"/>
          </a:xfrm>
          <a:prstGeom prst="roundRect">
            <a:avLst>
              <a:gd fmla="val 140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6"/>
          <p:cNvSpPr txBox="1"/>
          <p:nvPr/>
        </p:nvSpPr>
        <p:spPr>
          <a:xfrm>
            <a:off x="2990088" y="1481328"/>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WorldCereal + NDVI condition</a:t>
            </a:r>
            <a:endParaRPr b="0" i="0" sz="850" u="none" cap="none" strike="noStrike">
              <a:solidFill>
                <a:schemeClr val="dk1"/>
              </a:solidFill>
              <a:latin typeface="Calibri"/>
              <a:ea typeface="Calibri"/>
              <a:cs typeface="Calibri"/>
              <a:sym typeface="Calibri"/>
            </a:endParaRPr>
          </a:p>
        </p:txBody>
      </p:sp>
      <p:sp>
        <p:nvSpPr>
          <p:cNvPr id="598" name="Google Shape;598;p26"/>
          <p:cNvSpPr/>
          <p:nvPr/>
        </p:nvSpPr>
        <p:spPr>
          <a:xfrm>
            <a:off x="5792724" y="1481328"/>
            <a:ext cx="2825496" cy="324612"/>
          </a:xfrm>
          <a:prstGeom prst="roundRect">
            <a:avLst>
              <a:gd fmla="val 140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6"/>
          <p:cNvSpPr txBox="1"/>
          <p:nvPr/>
        </p:nvSpPr>
        <p:spPr>
          <a:xfrm>
            <a:off x="5884164" y="1481328"/>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NASA Harvest yield</a:t>
            </a:r>
            <a:endParaRPr b="0" i="0" sz="850" u="none" cap="none" strike="noStrike">
              <a:solidFill>
                <a:schemeClr val="dk1"/>
              </a:solidFill>
              <a:latin typeface="Calibri"/>
              <a:ea typeface="Calibri"/>
              <a:cs typeface="Calibri"/>
              <a:sym typeface="Calibri"/>
            </a:endParaRPr>
          </a:p>
        </p:txBody>
      </p:sp>
      <p:sp>
        <p:nvSpPr>
          <p:cNvPr id="600" name="Google Shape;600;p26"/>
          <p:cNvSpPr/>
          <p:nvPr/>
        </p:nvSpPr>
        <p:spPr>
          <a:xfrm>
            <a:off x="8686800" y="1481328"/>
            <a:ext cx="2825496" cy="324612"/>
          </a:xfrm>
          <a:prstGeom prst="roundRect">
            <a:avLst>
              <a:gd fmla="val 140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6"/>
          <p:cNvSpPr txBox="1"/>
          <p:nvPr/>
        </p:nvSpPr>
        <p:spPr>
          <a:xfrm>
            <a:off x="8778240" y="1481328"/>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DSSAT / PCSE calendar shift</a:t>
            </a:r>
            <a:endParaRPr b="0" i="0" sz="850" u="none" cap="none" strike="noStrike">
              <a:solidFill>
                <a:schemeClr val="dk1"/>
              </a:solidFill>
              <a:latin typeface="Calibri"/>
              <a:ea typeface="Calibri"/>
              <a:cs typeface="Calibri"/>
              <a:sym typeface="Calibri"/>
            </a:endParaRPr>
          </a:p>
        </p:txBody>
      </p:sp>
      <p:sp>
        <p:nvSpPr>
          <p:cNvPr id="602" name="Google Shape;602;p26"/>
          <p:cNvSpPr txBox="1"/>
          <p:nvPr/>
        </p:nvSpPr>
        <p:spPr>
          <a:xfrm>
            <a:off x="502920" y="1856232"/>
            <a:ext cx="2267712"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Rice</a:t>
            </a:r>
            <a:endParaRPr b="0" i="0" sz="1000" u="none" cap="none" strike="noStrike">
              <a:solidFill>
                <a:schemeClr val="dk1"/>
              </a:solidFill>
              <a:latin typeface="Calibri"/>
              <a:ea typeface="Calibri"/>
              <a:cs typeface="Calibri"/>
              <a:sym typeface="Calibri"/>
            </a:endParaRPr>
          </a:p>
        </p:txBody>
      </p:sp>
      <p:sp>
        <p:nvSpPr>
          <p:cNvPr id="603" name="Google Shape;603;p26"/>
          <p:cNvSpPr/>
          <p:nvPr/>
        </p:nvSpPr>
        <p:spPr>
          <a:xfrm>
            <a:off x="2898648" y="1856232"/>
            <a:ext cx="2825496" cy="324612"/>
          </a:xfrm>
          <a:prstGeom prst="roundRect">
            <a:avLst>
              <a:gd fmla="val 140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6"/>
          <p:cNvSpPr txBox="1"/>
          <p:nvPr/>
        </p:nvSpPr>
        <p:spPr>
          <a:xfrm>
            <a:off x="2990088" y="1856232"/>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servir-aces + S1 flooding</a:t>
            </a:r>
            <a:endParaRPr b="0" i="0" sz="850" u="none" cap="none" strike="noStrike">
              <a:solidFill>
                <a:schemeClr val="dk1"/>
              </a:solidFill>
              <a:latin typeface="Calibri"/>
              <a:ea typeface="Calibri"/>
              <a:cs typeface="Calibri"/>
              <a:sym typeface="Calibri"/>
            </a:endParaRPr>
          </a:p>
        </p:txBody>
      </p:sp>
      <p:sp>
        <p:nvSpPr>
          <p:cNvPr id="605" name="Google Shape;605;p26"/>
          <p:cNvSpPr/>
          <p:nvPr/>
        </p:nvSpPr>
        <p:spPr>
          <a:xfrm>
            <a:off x="5792724" y="1856232"/>
            <a:ext cx="2825496" cy="324612"/>
          </a:xfrm>
          <a:prstGeom prst="roundRect">
            <a:avLst>
              <a:gd fmla="val 140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6"/>
          <p:cNvSpPr txBox="1"/>
          <p:nvPr/>
        </p:nvSpPr>
        <p:spPr>
          <a:xfrm>
            <a:off x="5884164" y="1856232"/>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Transfer Harvest method</a:t>
            </a:r>
            <a:endParaRPr b="0" i="0" sz="850" u="none" cap="none" strike="noStrike">
              <a:solidFill>
                <a:schemeClr val="dk1"/>
              </a:solidFill>
              <a:latin typeface="Calibri"/>
              <a:ea typeface="Calibri"/>
              <a:cs typeface="Calibri"/>
              <a:sym typeface="Calibri"/>
            </a:endParaRPr>
          </a:p>
        </p:txBody>
      </p:sp>
      <p:sp>
        <p:nvSpPr>
          <p:cNvPr id="607" name="Google Shape;607;p26"/>
          <p:cNvSpPr/>
          <p:nvPr/>
        </p:nvSpPr>
        <p:spPr>
          <a:xfrm>
            <a:off x="8686800" y="1856232"/>
            <a:ext cx="2825496" cy="324612"/>
          </a:xfrm>
          <a:prstGeom prst="roundRect">
            <a:avLst>
              <a:gd fmla="val 140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6"/>
          <p:cNvSpPr txBox="1"/>
          <p:nvPr/>
        </p:nvSpPr>
        <p:spPr>
          <a:xfrm>
            <a:off x="8778240" y="1856232"/>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DSSAT rice, monsoon onset</a:t>
            </a:r>
            <a:endParaRPr b="0" i="0" sz="850" u="none" cap="none" strike="noStrike">
              <a:solidFill>
                <a:schemeClr val="dk1"/>
              </a:solidFill>
              <a:latin typeface="Calibri"/>
              <a:ea typeface="Calibri"/>
              <a:cs typeface="Calibri"/>
              <a:sym typeface="Calibri"/>
            </a:endParaRPr>
          </a:p>
        </p:txBody>
      </p:sp>
      <p:sp>
        <p:nvSpPr>
          <p:cNvPr id="609" name="Google Shape;609;p26"/>
          <p:cNvSpPr txBox="1"/>
          <p:nvPr/>
        </p:nvSpPr>
        <p:spPr>
          <a:xfrm>
            <a:off x="502920" y="2231136"/>
            <a:ext cx="2267712"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Wheat</a:t>
            </a:r>
            <a:endParaRPr b="0" i="0" sz="1000" u="none" cap="none" strike="noStrike">
              <a:solidFill>
                <a:schemeClr val="dk1"/>
              </a:solidFill>
              <a:latin typeface="Calibri"/>
              <a:ea typeface="Calibri"/>
              <a:cs typeface="Calibri"/>
              <a:sym typeface="Calibri"/>
            </a:endParaRPr>
          </a:p>
        </p:txBody>
      </p:sp>
      <p:sp>
        <p:nvSpPr>
          <p:cNvPr id="610" name="Google Shape;610;p26"/>
          <p:cNvSpPr/>
          <p:nvPr/>
        </p:nvSpPr>
        <p:spPr>
          <a:xfrm>
            <a:off x="2898648" y="2231136"/>
            <a:ext cx="2825496" cy="324612"/>
          </a:xfrm>
          <a:prstGeom prst="roundRect">
            <a:avLst>
              <a:gd fmla="val 140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6"/>
          <p:cNvSpPr txBox="1"/>
          <p:nvPr/>
        </p:nvSpPr>
        <p:spPr>
          <a:xfrm>
            <a:off x="2990088" y="2231136"/>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ICIMOD GEE, &gt;85% midseason</a:t>
            </a:r>
            <a:endParaRPr b="0" i="0" sz="850" u="none" cap="none" strike="noStrike">
              <a:solidFill>
                <a:schemeClr val="dk1"/>
              </a:solidFill>
              <a:latin typeface="Calibri"/>
              <a:ea typeface="Calibri"/>
              <a:cs typeface="Calibri"/>
              <a:sym typeface="Calibri"/>
            </a:endParaRPr>
          </a:p>
        </p:txBody>
      </p:sp>
      <p:sp>
        <p:nvSpPr>
          <p:cNvPr id="612" name="Google Shape;612;p26"/>
          <p:cNvSpPr/>
          <p:nvPr/>
        </p:nvSpPr>
        <p:spPr>
          <a:xfrm>
            <a:off x="5792724" y="2231136"/>
            <a:ext cx="2825496" cy="324612"/>
          </a:xfrm>
          <a:prstGeom prst="roundRect">
            <a:avLst>
              <a:gd fmla="val 140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6"/>
          <p:cNvSpPr txBox="1"/>
          <p:nvPr/>
        </p:nvSpPr>
        <p:spPr>
          <a:xfrm>
            <a:off x="5884164" y="2231136"/>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Same pipeline at harvest</a:t>
            </a:r>
            <a:endParaRPr b="0" i="0" sz="850" u="none" cap="none" strike="noStrike">
              <a:solidFill>
                <a:schemeClr val="dk1"/>
              </a:solidFill>
              <a:latin typeface="Calibri"/>
              <a:ea typeface="Calibri"/>
              <a:cs typeface="Calibri"/>
              <a:sym typeface="Calibri"/>
            </a:endParaRPr>
          </a:p>
        </p:txBody>
      </p:sp>
      <p:sp>
        <p:nvSpPr>
          <p:cNvPr id="614" name="Google Shape;614;p26"/>
          <p:cNvSpPr/>
          <p:nvPr/>
        </p:nvSpPr>
        <p:spPr>
          <a:xfrm>
            <a:off x="8686800" y="2231136"/>
            <a:ext cx="2825496" cy="324612"/>
          </a:xfrm>
          <a:prstGeom prst="roundRect">
            <a:avLst>
              <a:gd fmla="val 140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6"/>
          <p:cNvSpPr txBox="1"/>
          <p:nvPr/>
        </p:nvSpPr>
        <p:spPr>
          <a:xfrm>
            <a:off x="8778240" y="2231136"/>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DSSAT, heat at grain fill</a:t>
            </a:r>
            <a:endParaRPr b="0" i="0" sz="850" u="none" cap="none" strike="noStrike">
              <a:solidFill>
                <a:schemeClr val="dk1"/>
              </a:solidFill>
              <a:latin typeface="Calibri"/>
              <a:ea typeface="Calibri"/>
              <a:cs typeface="Calibri"/>
              <a:sym typeface="Calibri"/>
            </a:endParaRPr>
          </a:p>
        </p:txBody>
      </p:sp>
      <p:sp>
        <p:nvSpPr>
          <p:cNvPr id="616" name="Google Shape;616;p26"/>
          <p:cNvSpPr txBox="1"/>
          <p:nvPr/>
        </p:nvSpPr>
        <p:spPr>
          <a:xfrm>
            <a:off x="502920" y="2606040"/>
            <a:ext cx="2267712"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Sorghum &amp; millet</a:t>
            </a:r>
            <a:endParaRPr b="0" i="0" sz="1000" u="none" cap="none" strike="noStrike">
              <a:solidFill>
                <a:schemeClr val="dk1"/>
              </a:solidFill>
              <a:latin typeface="Calibri"/>
              <a:ea typeface="Calibri"/>
              <a:cs typeface="Calibri"/>
              <a:sym typeface="Calibri"/>
            </a:endParaRPr>
          </a:p>
        </p:txBody>
      </p:sp>
      <p:sp>
        <p:nvSpPr>
          <p:cNvPr id="617" name="Google Shape;617;p26"/>
          <p:cNvSpPr/>
          <p:nvPr/>
        </p:nvSpPr>
        <p:spPr>
          <a:xfrm>
            <a:off x="2898648" y="2606040"/>
            <a:ext cx="2825496" cy="324612"/>
          </a:xfrm>
          <a:prstGeom prst="roundRect">
            <a:avLst>
              <a:gd fmla="val 140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6"/>
          <p:cNvSpPr txBox="1"/>
          <p:nvPr/>
        </p:nvSpPr>
        <p:spPr>
          <a:xfrm>
            <a:off x="2990088" y="2606040"/>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servir-aces regional training</a:t>
            </a:r>
            <a:endParaRPr b="0" i="0" sz="850" u="none" cap="none" strike="noStrike">
              <a:solidFill>
                <a:schemeClr val="dk1"/>
              </a:solidFill>
              <a:latin typeface="Calibri"/>
              <a:ea typeface="Calibri"/>
              <a:cs typeface="Calibri"/>
              <a:sym typeface="Calibri"/>
            </a:endParaRPr>
          </a:p>
        </p:txBody>
      </p:sp>
      <p:sp>
        <p:nvSpPr>
          <p:cNvPr id="619" name="Google Shape;619;p26"/>
          <p:cNvSpPr/>
          <p:nvPr/>
        </p:nvSpPr>
        <p:spPr>
          <a:xfrm>
            <a:off x="5792724" y="2606040"/>
            <a:ext cx="2825496" cy="324612"/>
          </a:xfrm>
          <a:prstGeom prst="roundRect">
            <a:avLst>
              <a:gd fmla="val 140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6"/>
          <p:cNvSpPr txBox="1"/>
          <p:nvPr/>
        </p:nvSpPr>
        <p:spPr>
          <a:xfrm>
            <a:off x="5884164" y="2606040"/>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FEWS NET / GIEWS stats</a:t>
            </a:r>
            <a:endParaRPr b="0" i="0" sz="850" u="none" cap="none" strike="noStrike">
              <a:solidFill>
                <a:schemeClr val="dk1"/>
              </a:solidFill>
              <a:latin typeface="Calibri"/>
              <a:ea typeface="Calibri"/>
              <a:cs typeface="Calibri"/>
              <a:sym typeface="Calibri"/>
            </a:endParaRPr>
          </a:p>
        </p:txBody>
      </p:sp>
      <p:sp>
        <p:nvSpPr>
          <p:cNvPr id="621" name="Google Shape;621;p26"/>
          <p:cNvSpPr/>
          <p:nvPr/>
        </p:nvSpPr>
        <p:spPr>
          <a:xfrm>
            <a:off x="8686800" y="2606040"/>
            <a:ext cx="2825496" cy="324612"/>
          </a:xfrm>
          <a:prstGeom prst="roundRect">
            <a:avLst>
              <a:gd fmla="val 140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6"/>
          <p:cNvSpPr txBox="1"/>
          <p:nvPr/>
        </p:nvSpPr>
        <p:spPr>
          <a:xfrm>
            <a:off x="8778240" y="2606040"/>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DSSAT — Sahel matters most</a:t>
            </a:r>
            <a:endParaRPr b="0" i="0" sz="850" u="none" cap="none" strike="noStrike">
              <a:solidFill>
                <a:schemeClr val="dk1"/>
              </a:solidFill>
              <a:latin typeface="Calibri"/>
              <a:ea typeface="Calibri"/>
              <a:cs typeface="Calibri"/>
              <a:sym typeface="Calibri"/>
            </a:endParaRPr>
          </a:p>
        </p:txBody>
      </p:sp>
      <p:sp>
        <p:nvSpPr>
          <p:cNvPr id="623" name="Google Shape;623;p26"/>
          <p:cNvSpPr txBox="1"/>
          <p:nvPr/>
        </p:nvSpPr>
        <p:spPr>
          <a:xfrm>
            <a:off x="502920" y="2980944"/>
            <a:ext cx="2267712"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Cassava</a:t>
            </a:r>
            <a:endParaRPr b="0" i="0" sz="1000" u="none" cap="none" strike="noStrike">
              <a:solidFill>
                <a:schemeClr val="dk1"/>
              </a:solidFill>
              <a:latin typeface="Calibri"/>
              <a:ea typeface="Calibri"/>
              <a:cs typeface="Calibri"/>
              <a:sym typeface="Calibri"/>
            </a:endParaRPr>
          </a:p>
        </p:txBody>
      </p:sp>
      <p:sp>
        <p:nvSpPr>
          <p:cNvPr id="624" name="Google Shape;624;p26"/>
          <p:cNvSpPr/>
          <p:nvPr/>
        </p:nvSpPr>
        <p:spPr>
          <a:xfrm>
            <a:off x="2898648" y="2980944"/>
            <a:ext cx="2825496" cy="324612"/>
          </a:xfrm>
          <a:prstGeom prst="roundRect">
            <a:avLst>
              <a:gd fmla="val 14085" name="adj"/>
            </a:avLst>
          </a:prstGeom>
          <a:solidFill>
            <a:srgbClr val="F7E8E8"/>
          </a:solidFill>
          <a:ln cap="flat" cmpd="sng" w="952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6"/>
          <p:cNvSpPr txBox="1"/>
          <p:nvPr/>
        </p:nvSpPr>
        <p:spPr>
          <a:xfrm>
            <a:off x="2990088" y="2980944"/>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No open product</a:t>
            </a:r>
            <a:endParaRPr b="0" i="0" sz="850" u="none" cap="none" strike="noStrike">
              <a:solidFill>
                <a:schemeClr val="dk1"/>
              </a:solidFill>
              <a:latin typeface="Calibri"/>
              <a:ea typeface="Calibri"/>
              <a:cs typeface="Calibri"/>
              <a:sym typeface="Calibri"/>
            </a:endParaRPr>
          </a:p>
        </p:txBody>
      </p:sp>
      <p:sp>
        <p:nvSpPr>
          <p:cNvPr id="626" name="Google Shape;626;p26"/>
          <p:cNvSpPr/>
          <p:nvPr/>
        </p:nvSpPr>
        <p:spPr>
          <a:xfrm>
            <a:off x="5792724" y="2980944"/>
            <a:ext cx="2825496" cy="324612"/>
          </a:xfrm>
          <a:prstGeom prst="roundRect">
            <a:avLst>
              <a:gd fmla="val 14085" name="adj"/>
            </a:avLst>
          </a:prstGeom>
          <a:solidFill>
            <a:srgbClr val="F7E8E8"/>
          </a:solidFill>
          <a:ln cap="flat" cmpd="sng" w="952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6"/>
          <p:cNvSpPr txBox="1"/>
          <p:nvPr/>
        </p:nvSpPr>
        <p:spPr>
          <a:xfrm>
            <a:off x="5884164" y="2980944"/>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FAOSTAT only</a:t>
            </a:r>
            <a:endParaRPr b="0" i="0" sz="850" u="none" cap="none" strike="noStrike">
              <a:solidFill>
                <a:schemeClr val="dk1"/>
              </a:solidFill>
              <a:latin typeface="Calibri"/>
              <a:ea typeface="Calibri"/>
              <a:cs typeface="Calibri"/>
              <a:sym typeface="Calibri"/>
            </a:endParaRPr>
          </a:p>
        </p:txBody>
      </p:sp>
      <p:sp>
        <p:nvSpPr>
          <p:cNvPr id="628" name="Google Shape;628;p26"/>
          <p:cNvSpPr/>
          <p:nvPr/>
        </p:nvSpPr>
        <p:spPr>
          <a:xfrm>
            <a:off x="8686800" y="2980944"/>
            <a:ext cx="2825496" cy="324612"/>
          </a:xfrm>
          <a:prstGeom prst="roundRect">
            <a:avLst>
              <a:gd fmla="val 14085" name="adj"/>
            </a:avLst>
          </a:prstGeom>
          <a:solidFill>
            <a:srgbClr val="F7E8E8"/>
          </a:solidFill>
          <a:ln cap="flat" cmpd="sng" w="952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6"/>
          <p:cNvSpPr txBox="1"/>
          <p:nvPr/>
        </p:nvSpPr>
        <p:spPr>
          <a:xfrm>
            <a:off x="8778240" y="2980944"/>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Thin model support</a:t>
            </a:r>
            <a:endParaRPr b="0" i="0" sz="850" u="none" cap="none" strike="noStrike">
              <a:solidFill>
                <a:schemeClr val="dk1"/>
              </a:solidFill>
              <a:latin typeface="Calibri"/>
              <a:ea typeface="Calibri"/>
              <a:cs typeface="Calibri"/>
              <a:sym typeface="Calibri"/>
            </a:endParaRPr>
          </a:p>
        </p:txBody>
      </p:sp>
      <p:sp>
        <p:nvSpPr>
          <p:cNvPr id="630" name="Google Shape;630;p26"/>
          <p:cNvSpPr txBox="1"/>
          <p:nvPr/>
        </p:nvSpPr>
        <p:spPr>
          <a:xfrm>
            <a:off x="502920" y="3355848"/>
            <a:ext cx="2267712"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Soy</a:t>
            </a:r>
            <a:endParaRPr b="0" i="0" sz="1000" u="none" cap="none" strike="noStrike">
              <a:solidFill>
                <a:schemeClr val="dk1"/>
              </a:solidFill>
              <a:latin typeface="Calibri"/>
              <a:ea typeface="Calibri"/>
              <a:cs typeface="Calibri"/>
              <a:sym typeface="Calibri"/>
            </a:endParaRPr>
          </a:p>
        </p:txBody>
      </p:sp>
      <p:sp>
        <p:nvSpPr>
          <p:cNvPr id="631" name="Google Shape;631;p26"/>
          <p:cNvSpPr/>
          <p:nvPr/>
        </p:nvSpPr>
        <p:spPr>
          <a:xfrm>
            <a:off x="2898648" y="3355848"/>
            <a:ext cx="2825496" cy="324612"/>
          </a:xfrm>
          <a:prstGeom prst="roundRect">
            <a:avLst>
              <a:gd fmla="val 140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6"/>
          <p:cNvSpPr txBox="1"/>
          <p:nvPr/>
        </p:nvSpPr>
        <p:spPr>
          <a:xfrm>
            <a:off x="2990088" y="3355848"/>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Strong in Brazil/Argentina</a:t>
            </a:r>
            <a:endParaRPr b="0" i="0" sz="850" u="none" cap="none" strike="noStrike">
              <a:solidFill>
                <a:schemeClr val="dk1"/>
              </a:solidFill>
              <a:latin typeface="Calibri"/>
              <a:ea typeface="Calibri"/>
              <a:cs typeface="Calibri"/>
              <a:sym typeface="Calibri"/>
            </a:endParaRPr>
          </a:p>
        </p:txBody>
      </p:sp>
      <p:sp>
        <p:nvSpPr>
          <p:cNvPr id="633" name="Google Shape;633;p26"/>
          <p:cNvSpPr/>
          <p:nvPr/>
        </p:nvSpPr>
        <p:spPr>
          <a:xfrm>
            <a:off x="5792724" y="3355848"/>
            <a:ext cx="2825496" cy="324612"/>
          </a:xfrm>
          <a:prstGeom prst="roundRect">
            <a:avLst>
              <a:gd fmla="val 140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6"/>
          <p:cNvSpPr txBox="1"/>
          <p:nvPr/>
        </p:nvSpPr>
        <p:spPr>
          <a:xfrm>
            <a:off x="5884164" y="3355848"/>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USDA FAS + Harvest</a:t>
            </a:r>
            <a:endParaRPr b="0" i="0" sz="850" u="none" cap="none" strike="noStrike">
              <a:solidFill>
                <a:schemeClr val="dk1"/>
              </a:solidFill>
              <a:latin typeface="Calibri"/>
              <a:ea typeface="Calibri"/>
              <a:cs typeface="Calibri"/>
              <a:sym typeface="Calibri"/>
            </a:endParaRPr>
          </a:p>
        </p:txBody>
      </p:sp>
      <p:sp>
        <p:nvSpPr>
          <p:cNvPr id="635" name="Google Shape;635;p26"/>
          <p:cNvSpPr/>
          <p:nvPr/>
        </p:nvSpPr>
        <p:spPr>
          <a:xfrm>
            <a:off x="8686800" y="3355848"/>
            <a:ext cx="2825496" cy="324612"/>
          </a:xfrm>
          <a:prstGeom prst="roundRect">
            <a:avLst>
              <a:gd fmla="val 140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6"/>
          <p:cNvSpPr txBox="1"/>
          <p:nvPr/>
        </p:nvSpPr>
        <p:spPr>
          <a:xfrm>
            <a:off x="8778240" y="3355848"/>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DSSAT soy, well calibrated</a:t>
            </a:r>
            <a:endParaRPr b="0" i="0" sz="850" u="none" cap="none" strike="noStrike">
              <a:solidFill>
                <a:schemeClr val="dk1"/>
              </a:solidFill>
              <a:latin typeface="Calibri"/>
              <a:ea typeface="Calibri"/>
              <a:cs typeface="Calibri"/>
              <a:sym typeface="Calibri"/>
            </a:endParaRPr>
          </a:p>
        </p:txBody>
      </p:sp>
      <p:sp>
        <p:nvSpPr>
          <p:cNvPr id="637" name="Google Shape;637;p26"/>
          <p:cNvSpPr txBox="1"/>
          <p:nvPr/>
        </p:nvSpPr>
        <p:spPr>
          <a:xfrm>
            <a:off x="502920" y="3730752"/>
            <a:ext cx="2267712"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Cocoa</a:t>
            </a:r>
            <a:endParaRPr b="0" i="0" sz="1000" u="none" cap="none" strike="noStrike">
              <a:solidFill>
                <a:schemeClr val="dk1"/>
              </a:solidFill>
              <a:latin typeface="Calibri"/>
              <a:ea typeface="Calibri"/>
              <a:cs typeface="Calibri"/>
              <a:sym typeface="Calibri"/>
            </a:endParaRPr>
          </a:p>
        </p:txBody>
      </p:sp>
      <p:sp>
        <p:nvSpPr>
          <p:cNvPr id="638" name="Google Shape;638;p26"/>
          <p:cNvSpPr/>
          <p:nvPr/>
        </p:nvSpPr>
        <p:spPr>
          <a:xfrm>
            <a:off x="2898648" y="3730752"/>
            <a:ext cx="2825496" cy="324612"/>
          </a:xfrm>
          <a:prstGeom prst="roundRect">
            <a:avLst>
              <a:gd fmla="val 140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6"/>
          <p:cNvSpPr txBox="1"/>
          <p:nvPr/>
        </p:nvSpPr>
        <p:spPr>
          <a:xfrm>
            <a:off x="2990088" y="3730752"/>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Forest Data Partnership</a:t>
            </a:r>
            <a:endParaRPr b="0" i="0" sz="850" u="none" cap="none" strike="noStrike">
              <a:solidFill>
                <a:schemeClr val="dk1"/>
              </a:solidFill>
              <a:latin typeface="Calibri"/>
              <a:ea typeface="Calibri"/>
              <a:cs typeface="Calibri"/>
              <a:sym typeface="Calibri"/>
            </a:endParaRPr>
          </a:p>
        </p:txBody>
      </p:sp>
      <p:sp>
        <p:nvSpPr>
          <p:cNvPr id="640" name="Google Shape;640;p26"/>
          <p:cNvSpPr/>
          <p:nvPr/>
        </p:nvSpPr>
        <p:spPr>
          <a:xfrm>
            <a:off x="5792724" y="3730752"/>
            <a:ext cx="2825496" cy="324612"/>
          </a:xfrm>
          <a:prstGeom prst="roundRect">
            <a:avLst>
              <a:gd fmla="val 14085" name="adj"/>
            </a:avLst>
          </a:prstGeom>
          <a:solidFill>
            <a:srgbClr val="EEF1F4"/>
          </a:solidFill>
          <a:ln cap="flat" cmpd="sng" w="9525">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6"/>
          <p:cNvSpPr txBox="1"/>
          <p:nvPr/>
        </p:nvSpPr>
        <p:spPr>
          <a:xfrm>
            <a:off x="5884164" y="3730752"/>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50"/>
              <a:buFont typeface="Calibri"/>
              <a:buNone/>
            </a:pPr>
            <a:r>
              <a:rPr b="0" i="0" lang="en-US" sz="850" u="none" cap="none" strike="noStrike">
                <a:solidFill>
                  <a:srgbClr val="6D6E71"/>
                </a:solidFill>
                <a:latin typeface="Calibri"/>
                <a:ea typeface="Calibri"/>
                <a:cs typeface="Calibri"/>
                <a:sym typeface="Calibri"/>
              </a:rPr>
              <a:t>Compliance, not yield</a:t>
            </a:r>
            <a:endParaRPr b="0" i="0" sz="850" u="none" cap="none" strike="noStrike">
              <a:solidFill>
                <a:schemeClr val="dk1"/>
              </a:solidFill>
              <a:latin typeface="Calibri"/>
              <a:ea typeface="Calibri"/>
              <a:cs typeface="Calibri"/>
              <a:sym typeface="Calibri"/>
            </a:endParaRPr>
          </a:p>
        </p:txBody>
      </p:sp>
      <p:sp>
        <p:nvSpPr>
          <p:cNvPr id="642" name="Google Shape;642;p26"/>
          <p:cNvSpPr/>
          <p:nvPr/>
        </p:nvSpPr>
        <p:spPr>
          <a:xfrm>
            <a:off x="8686800" y="3730752"/>
            <a:ext cx="2825496" cy="324612"/>
          </a:xfrm>
          <a:prstGeom prst="roundRect">
            <a:avLst>
              <a:gd fmla="val 140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6"/>
          <p:cNvSpPr txBox="1"/>
          <p:nvPr/>
        </p:nvSpPr>
        <p:spPr>
          <a:xfrm>
            <a:off x="8778240" y="3730752"/>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West Africa belt shift</a:t>
            </a:r>
            <a:endParaRPr b="0" i="0" sz="850" u="none" cap="none" strike="noStrike">
              <a:solidFill>
                <a:schemeClr val="dk1"/>
              </a:solidFill>
              <a:latin typeface="Calibri"/>
              <a:ea typeface="Calibri"/>
              <a:cs typeface="Calibri"/>
              <a:sym typeface="Calibri"/>
            </a:endParaRPr>
          </a:p>
        </p:txBody>
      </p:sp>
      <p:sp>
        <p:nvSpPr>
          <p:cNvPr id="644" name="Google Shape;644;p26"/>
          <p:cNvSpPr txBox="1"/>
          <p:nvPr/>
        </p:nvSpPr>
        <p:spPr>
          <a:xfrm>
            <a:off x="502920" y="4105656"/>
            <a:ext cx="2267712"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Coffee</a:t>
            </a:r>
            <a:endParaRPr b="0" i="0" sz="1000" u="none" cap="none" strike="noStrike">
              <a:solidFill>
                <a:schemeClr val="dk1"/>
              </a:solidFill>
              <a:latin typeface="Calibri"/>
              <a:ea typeface="Calibri"/>
              <a:cs typeface="Calibri"/>
              <a:sym typeface="Calibri"/>
            </a:endParaRPr>
          </a:p>
        </p:txBody>
      </p:sp>
      <p:sp>
        <p:nvSpPr>
          <p:cNvPr id="645" name="Google Shape;645;p26"/>
          <p:cNvSpPr/>
          <p:nvPr/>
        </p:nvSpPr>
        <p:spPr>
          <a:xfrm>
            <a:off x="2898648" y="4105656"/>
            <a:ext cx="2825496" cy="324612"/>
          </a:xfrm>
          <a:prstGeom prst="roundRect">
            <a:avLst>
              <a:gd fmla="val 140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6"/>
          <p:cNvSpPr txBox="1"/>
          <p:nvPr/>
        </p:nvSpPr>
        <p:spPr>
          <a:xfrm>
            <a:off x="2990088" y="4105656"/>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Forest Data Partnership</a:t>
            </a:r>
            <a:endParaRPr b="0" i="0" sz="850" u="none" cap="none" strike="noStrike">
              <a:solidFill>
                <a:schemeClr val="dk1"/>
              </a:solidFill>
              <a:latin typeface="Calibri"/>
              <a:ea typeface="Calibri"/>
              <a:cs typeface="Calibri"/>
              <a:sym typeface="Calibri"/>
            </a:endParaRPr>
          </a:p>
        </p:txBody>
      </p:sp>
      <p:sp>
        <p:nvSpPr>
          <p:cNvPr id="647" name="Google Shape;647;p26"/>
          <p:cNvSpPr/>
          <p:nvPr/>
        </p:nvSpPr>
        <p:spPr>
          <a:xfrm>
            <a:off x="5792724" y="4105656"/>
            <a:ext cx="2825496" cy="324612"/>
          </a:xfrm>
          <a:prstGeom prst="roundRect">
            <a:avLst>
              <a:gd fmla="val 14085" name="adj"/>
            </a:avLst>
          </a:prstGeom>
          <a:solidFill>
            <a:srgbClr val="EEF1F4"/>
          </a:solidFill>
          <a:ln cap="flat" cmpd="sng" w="9525">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6"/>
          <p:cNvSpPr txBox="1"/>
          <p:nvPr/>
        </p:nvSpPr>
        <p:spPr>
          <a:xfrm>
            <a:off x="5884164" y="4105656"/>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50"/>
              <a:buFont typeface="Calibri"/>
              <a:buNone/>
            </a:pPr>
            <a:r>
              <a:rPr b="0" i="0" lang="en-US" sz="850" u="none" cap="none" strike="noStrike">
                <a:solidFill>
                  <a:srgbClr val="6D6E71"/>
                </a:solidFill>
                <a:latin typeface="Calibri"/>
                <a:ea typeface="Calibri"/>
                <a:cs typeface="Calibri"/>
                <a:sym typeface="Calibri"/>
              </a:rPr>
              <a:t>Compliance, not yield</a:t>
            </a:r>
            <a:endParaRPr b="0" i="0" sz="850" u="none" cap="none" strike="noStrike">
              <a:solidFill>
                <a:schemeClr val="dk1"/>
              </a:solidFill>
              <a:latin typeface="Calibri"/>
              <a:ea typeface="Calibri"/>
              <a:cs typeface="Calibri"/>
              <a:sym typeface="Calibri"/>
            </a:endParaRPr>
          </a:p>
        </p:txBody>
      </p:sp>
      <p:sp>
        <p:nvSpPr>
          <p:cNvPr id="649" name="Google Shape;649;p26"/>
          <p:cNvSpPr/>
          <p:nvPr/>
        </p:nvSpPr>
        <p:spPr>
          <a:xfrm>
            <a:off x="8686800" y="4105656"/>
            <a:ext cx="2825496" cy="324612"/>
          </a:xfrm>
          <a:prstGeom prst="roundRect">
            <a:avLst>
              <a:gd fmla="val 140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6"/>
          <p:cNvSpPr txBox="1"/>
          <p:nvPr/>
        </p:nvSpPr>
        <p:spPr>
          <a:xfrm>
            <a:off x="8778240" y="4105656"/>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Altitude-band shift</a:t>
            </a:r>
            <a:endParaRPr b="0" i="0" sz="850" u="none" cap="none" strike="noStrike">
              <a:solidFill>
                <a:schemeClr val="dk1"/>
              </a:solidFill>
              <a:latin typeface="Calibri"/>
              <a:ea typeface="Calibri"/>
              <a:cs typeface="Calibri"/>
              <a:sym typeface="Calibri"/>
            </a:endParaRPr>
          </a:p>
        </p:txBody>
      </p:sp>
      <p:sp>
        <p:nvSpPr>
          <p:cNvPr id="651" name="Google Shape;651;p26"/>
          <p:cNvSpPr txBox="1"/>
          <p:nvPr/>
        </p:nvSpPr>
        <p:spPr>
          <a:xfrm>
            <a:off x="502920" y="4480560"/>
            <a:ext cx="2267712"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Rubber</a:t>
            </a:r>
            <a:endParaRPr b="0" i="0" sz="1000" u="none" cap="none" strike="noStrike">
              <a:solidFill>
                <a:schemeClr val="dk1"/>
              </a:solidFill>
              <a:latin typeface="Calibri"/>
              <a:ea typeface="Calibri"/>
              <a:cs typeface="Calibri"/>
              <a:sym typeface="Calibri"/>
            </a:endParaRPr>
          </a:p>
        </p:txBody>
      </p:sp>
      <p:sp>
        <p:nvSpPr>
          <p:cNvPr id="652" name="Google Shape;652;p26"/>
          <p:cNvSpPr/>
          <p:nvPr/>
        </p:nvSpPr>
        <p:spPr>
          <a:xfrm>
            <a:off x="2898648" y="4480560"/>
            <a:ext cx="2825496" cy="324612"/>
          </a:xfrm>
          <a:prstGeom prst="roundRect">
            <a:avLst>
              <a:gd fmla="val 140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6"/>
          <p:cNvSpPr txBox="1"/>
          <p:nvPr/>
        </p:nvSpPr>
        <p:spPr>
          <a:xfrm>
            <a:off x="2990088" y="4480560"/>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Forest Data Partnership</a:t>
            </a:r>
            <a:endParaRPr b="0" i="0" sz="850" u="none" cap="none" strike="noStrike">
              <a:solidFill>
                <a:schemeClr val="dk1"/>
              </a:solidFill>
              <a:latin typeface="Calibri"/>
              <a:ea typeface="Calibri"/>
              <a:cs typeface="Calibri"/>
              <a:sym typeface="Calibri"/>
            </a:endParaRPr>
          </a:p>
        </p:txBody>
      </p:sp>
      <p:sp>
        <p:nvSpPr>
          <p:cNvPr id="654" name="Google Shape;654;p26"/>
          <p:cNvSpPr/>
          <p:nvPr/>
        </p:nvSpPr>
        <p:spPr>
          <a:xfrm>
            <a:off x="5792724" y="4480560"/>
            <a:ext cx="2825496" cy="324612"/>
          </a:xfrm>
          <a:prstGeom prst="roundRect">
            <a:avLst>
              <a:gd fmla="val 14085" name="adj"/>
            </a:avLst>
          </a:prstGeom>
          <a:solidFill>
            <a:srgbClr val="EEF1F4"/>
          </a:solidFill>
          <a:ln cap="flat" cmpd="sng" w="9525">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6"/>
          <p:cNvSpPr txBox="1"/>
          <p:nvPr/>
        </p:nvSpPr>
        <p:spPr>
          <a:xfrm>
            <a:off x="5884164" y="4480560"/>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50"/>
              <a:buFont typeface="Calibri"/>
              <a:buNone/>
            </a:pPr>
            <a:r>
              <a:rPr b="0" i="0" lang="en-US" sz="850" u="none" cap="none" strike="noStrike">
                <a:solidFill>
                  <a:srgbClr val="6D6E71"/>
                </a:solidFill>
                <a:latin typeface="Calibri"/>
                <a:ea typeface="Calibri"/>
                <a:cs typeface="Calibri"/>
                <a:sym typeface="Calibri"/>
              </a:rPr>
              <a:t>Compliance, not yield</a:t>
            </a:r>
            <a:endParaRPr b="0" i="0" sz="850" u="none" cap="none" strike="noStrike">
              <a:solidFill>
                <a:schemeClr val="dk1"/>
              </a:solidFill>
              <a:latin typeface="Calibri"/>
              <a:ea typeface="Calibri"/>
              <a:cs typeface="Calibri"/>
              <a:sym typeface="Calibri"/>
            </a:endParaRPr>
          </a:p>
        </p:txBody>
      </p:sp>
      <p:sp>
        <p:nvSpPr>
          <p:cNvPr id="656" name="Google Shape;656;p26"/>
          <p:cNvSpPr/>
          <p:nvPr/>
        </p:nvSpPr>
        <p:spPr>
          <a:xfrm>
            <a:off x="8686800" y="4480560"/>
            <a:ext cx="2825496" cy="324612"/>
          </a:xfrm>
          <a:prstGeom prst="roundRect">
            <a:avLst>
              <a:gd fmla="val 14085" name="adj"/>
            </a:avLst>
          </a:prstGeom>
          <a:solidFill>
            <a:srgbClr val="F7E8E8"/>
          </a:solidFill>
          <a:ln cap="flat" cmpd="sng" w="952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6"/>
          <p:cNvSpPr txBox="1"/>
          <p:nvPr/>
        </p:nvSpPr>
        <p:spPr>
          <a:xfrm>
            <a:off x="8778240" y="4480560"/>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Little published work</a:t>
            </a:r>
            <a:endParaRPr b="0" i="0" sz="850" u="none" cap="none" strike="noStrike">
              <a:solidFill>
                <a:schemeClr val="dk1"/>
              </a:solidFill>
              <a:latin typeface="Calibri"/>
              <a:ea typeface="Calibri"/>
              <a:cs typeface="Calibri"/>
              <a:sym typeface="Calibri"/>
            </a:endParaRPr>
          </a:p>
        </p:txBody>
      </p:sp>
      <p:sp>
        <p:nvSpPr>
          <p:cNvPr id="658" name="Google Shape;658;p26"/>
          <p:cNvSpPr txBox="1"/>
          <p:nvPr/>
        </p:nvSpPr>
        <p:spPr>
          <a:xfrm>
            <a:off x="502920" y="4855464"/>
            <a:ext cx="2267712"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Palm oil</a:t>
            </a:r>
            <a:endParaRPr b="0" i="0" sz="1000" u="none" cap="none" strike="noStrike">
              <a:solidFill>
                <a:schemeClr val="dk1"/>
              </a:solidFill>
              <a:latin typeface="Calibri"/>
              <a:ea typeface="Calibri"/>
              <a:cs typeface="Calibri"/>
              <a:sym typeface="Calibri"/>
            </a:endParaRPr>
          </a:p>
        </p:txBody>
      </p:sp>
      <p:sp>
        <p:nvSpPr>
          <p:cNvPr id="659" name="Google Shape;659;p26"/>
          <p:cNvSpPr/>
          <p:nvPr/>
        </p:nvSpPr>
        <p:spPr>
          <a:xfrm>
            <a:off x="2898648" y="4855464"/>
            <a:ext cx="2825496" cy="324612"/>
          </a:xfrm>
          <a:prstGeom prst="roundRect">
            <a:avLst>
              <a:gd fmla="val 140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6"/>
          <p:cNvSpPr txBox="1"/>
          <p:nvPr/>
        </p:nvSpPr>
        <p:spPr>
          <a:xfrm>
            <a:off x="2990088" y="4855464"/>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FDP's missing fourth crop</a:t>
            </a:r>
            <a:endParaRPr b="0" i="0" sz="850" u="none" cap="none" strike="noStrike">
              <a:solidFill>
                <a:schemeClr val="dk1"/>
              </a:solidFill>
              <a:latin typeface="Calibri"/>
              <a:ea typeface="Calibri"/>
              <a:cs typeface="Calibri"/>
              <a:sym typeface="Calibri"/>
            </a:endParaRPr>
          </a:p>
        </p:txBody>
      </p:sp>
      <p:sp>
        <p:nvSpPr>
          <p:cNvPr id="661" name="Google Shape;661;p26"/>
          <p:cNvSpPr/>
          <p:nvPr/>
        </p:nvSpPr>
        <p:spPr>
          <a:xfrm>
            <a:off x="5792724" y="4855464"/>
            <a:ext cx="2825496" cy="324612"/>
          </a:xfrm>
          <a:prstGeom prst="roundRect">
            <a:avLst>
              <a:gd fmla="val 14085" name="adj"/>
            </a:avLst>
          </a:prstGeom>
          <a:solidFill>
            <a:srgbClr val="EEF1F4"/>
          </a:solidFill>
          <a:ln cap="flat" cmpd="sng" w="9525">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6"/>
          <p:cNvSpPr txBox="1"/>
          <p:nvPr/>
        </p:nvSpPr>
        <p:spPr>
          <a:xfrm>
            <a:off x="5884164" y="4855464"/>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50"/>
              <a:buFont typeface="Calibri"/>
              <a:buNone/>
            </a:pPr>
            <a:r>
              <a:rPr b="0" i="0" lang="en-US" sz="850" u="none" cap="none" strike="noStrike">
                <a:solidFill>
                  <a:srgbClr val="6D6E71"/>
                </a:solidFill>
                <a:latin typeface="Calibri"/>
                <a:ea typeface="Calibri"/>
                <a:cs typeface="Calibri"/>
                <a:sym typeface="Calibri"/>
              </a:rPr>
              <a:t>Compliance, not yield</a:t>
            </a:r>
            <a:endParaRPr b="0" i="0" sz="850" u="none" cap="none" strike="noStrike">
              <a:solidFill>
                <a:schemeClr val="dk1"/>
              </a:solidFill>
              <a:latin typeface="Calibri"/>
              <a:ea typeface="Calibri"/>
              <a:cs typeface="Calibri"/>
              <a:sym typeface="Calibri"/>
            </a:endParaRPr>
          </a:p>
        </p:txBody>
      </p:sp>
      <p:sp>
        <p:nvSpPr>
          <p:cNvPr id="663" name="Google Shape;663;p26"/>
          <p:cNvSpPr/>
          <p:nvPr/>
        </p:nvSpPr>
        <p:spPr>
          <a:xfrm>
            <a:off x="8686800" y="4855464"/>
            <a:ext cx="2825496" cy="324612"/>
          </a:xfrm>
          <a:prstGeom prst="roundRect">
            <a:avLst>
              <a:gd fmla="val 140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6"/>
          <p:cNvSpPr txBox="1"/>
          <p:nvPr/>
        </p:nvSpPr>
        <p:spPr>
          <a:xfrm>
            <a:off x="8778240" y="4855464"/>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Driver literature exists</a:t>
            </a:r>
            <a:endParaRPr b="0" i="0" sz="850" u="none" cap="none" strike="noStrike">
              <a:solidFill>
                <a:schemeClr val="dk1"/>
              </a:solidFill>
              <a:latin typeface="Calibri"/>
              <a:ea typeface="Calibri"/>
              <a:cs typeface="Calibri"/>
              <a:sym typeface="Calibri"/>
            </a:endParaRPr>
          </a:p>
        </p:txBody>
      </p:sp>
      <p:sp>
        <p:nvSpPr>
          <p:cNvPr id="665" name="Google Shape;665;p26"/>
          <p:cNvSpPr txBox="1"/>
          <p:nvPr/>
        </p:nvSpPr>
        <p:spPr>
          <a:xfrm>
            <a:off x="502920" y="5230368"/>
            <a:ext cx="2267712"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Rangeland forage</a:t>
            </a:r>
            <a:endParaRPr b="0" i="0" sz="1000" u="none" cap="none" strike="noStrike">
              <a:solidFill>
                <a:schemeClr val="dk1"/>
              </a:solidFill>
              <a:latin typeface="Calibri"/>
              <a:ea typeface="Calibri"/>
              <a:cs typeface="Calibri"/>
              <a:sym typeface="Calibri"/>
            </a:endParaRPr>
          </a:p>
        </p:txBody>
      </p:sp>
      <p:sp>
        <p:nvSpPr>
          <p:cNvPr id="666" name="Google Shape;666;p26"/>
          <p:cNvSpPr/>
          <p:nvPr/>
        </p:nvSpPr>
        <p:spPr>
          <a:xfrm>
            <a:off x="2898648" y="5230368"/>
            <a:ext cx="2825496" cy="324612"/>
          </a:xfrm>
          <a:prstGeom prst="roundRect">
            <a:avLst>
              <a:gd fmla="val 140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6"/>
          <p:cNvSpPr txBox="1"/>
          <p:nvPr/>
        </p:nvSpPr>
        <p:spPr>
          <a:xfrm>
            <a:off x="2990088" y="5230368"/>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RDST — operational, Zambia</a:t>
            </a:r>
            <a:endParaRPr b="0" i="0" sz="850" u="none" cap="none" strike="noStrike">
              <a:solidFill>
                <a:schemeClr val="dk1"/>
              </a:solidFill>
              <a:latin typeface="Calibri"/>
              <a:ea typeface="Calibri"/>
              <a:cs typeface="Calibri"/>
              <a:sym typeface="Calibri"/>
            </a:endParaRPr>
          </a:p>
        </p:txBody>
      </p:sp>
      <p:sp>
        <p:nvSpPr>
          <p:cNvPr id="668" name="Google Shape;668;p26"/>
          <p:cNvSpPr/>
          <p:nvPr/>
        </p:nvSpPr>
        <p:spPr>
          <a:xfrm>
            <a:off x="5792724" y="5230368"/>
            <a:ext cx="2825496" cy="324612"/>
          </a:xfrm>
          <a:prstGeom prst="roundRect">
            <a:avLst>
              <a:gd fmla="val 140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6"/>
          <p:cNvSpPr txBox="1"/>
          <p:nvPr/>
        </p:nvSpPr>
        <p:spPr>
          <a:xfrm>
            <a:off x="5884164" y="5230368"/>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CHIRPS + ENSO outlook</a:t>
            </a:r>
            <a:endParaRPr b="0" i="0" sz="850" u="none" cap="none" strike="noStrike">
              <a:solidFill>
                <a:schemeClr val="dk1"/>
              </a:solidFill>
              <a:latin typeface="Calibri"/>
              <a:ea typeface="Calibri"/>
              <a:cs typeface="Calibri"/>
              <a:sym typeface="Calibri"/>
            </a:endParaRPr>
          </a:p>
        </p:txBody>
      </p:sp>
      <p:sp>
        <p:nvSpPr>
          <p:cNvPr id="670" name="Google Shape;670;p26"/>
          <p:cNvSpPr/>
          <p:nvPr/>
        </p:nvSpPr>
        <p:spPr>
          <a:xfrm>
            <a:off x="8686800" y="5230368"/>
            <a:ext cx="2825496" cy="324612"/>
          </a:xfrm>
          <a:prstGeom prst="roundRect">
            <a:avLst>
              <a:gd fmla="val 140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6"/>
          <p:cNvSpPr txBox="1"/>
          <p:nvPr/>
        </p:nvSpPr>
        <p:spPr>
          <a:xfrm>
            <a:off x="8778240" y="5230368"/>
            <a:ext cx="2642616"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CMIP6 productivity</a:t>
            </a:r>
            <a:endParaRPr b="0" i="0" sz="850" u="none" cap="none" strike="noStrike">
              <a:solidFill>
                <a:schemeClr val="dk1"/>
              </a:solidFill>
              <a:latin typeface="Calibri"/>
              <a:ea typeface="Calibri"/>
              <a:cs typeface="Calibri"/>
              <a:sym typeface="Calibri"/>
            </a:endParaRPr>
          </a:p>
        </p:txBody>
      </p:sp>
      <p:sp>
        <p:nvSpPr>
          <p:cNvPr id="672" name="Google Shape;672;p26"/>
          <p:cNvSpPr/>
          <p:nvPr/>
        </p:nvSpPr>
        <p:spPr>
          <a:xfrm>
            <a:off x="548640" y="5852160"/>
            <a:ext cx="146304" cy="146304"/>
          </a:xfrm>
          <a:prstGeom prst="roundRect">
            <a:avLst>
              <a:gd fmla="val 25000"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6"/>
          <p:cNvSpPr txBox="1"/>
          <p:nvPr/>
        </p:nvSpPr>
        <p:spPr>
          <a:xfrm>
            <a:off x="749808" y="580644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Built — reuse</a:t>
            </a:r>
            <a:endParaRPr b="0" i="0" sz="950" u="none" cap="none" strike="noStrike">
              <a:solidFill>
                <a:schemeClr val="dk1"/>
              </a:solidFill>
              <a:latin typeface="Calibri"/>
              <a:ea typeface="Calibri"/>
              <a:cs typeface="Calibri"/>
              <a:sym typeface="Calibri"/>
            </a:endParaRPr>
          </a:p>
        </p:txBody>
      </p:sp>
      <p:sp>
        <p:nvSpPr>
          <p:cNvPr id="674" name="Google Shape;674;p26"/>
          <p:cNvSpPr/>
          <p:nvPr/>
        </p:nvSpPr>
        <p:spPr>
          <a:xfrm>
            <a:off x="2880360" y="5852160"/>
            <a:ext cx="146304" cy="146304"/>
          </a:xfrm>
          <a:prstGeom prst="roundRect">
            <a:avLst>
              <a:gd fmla="val 25000"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6"/>
          <p:cNvSpPr txBox="1"/>
          <p:nvPr/>
        </p:nvSpPr>
        <p:spPr>
          <a:xfrm>
            <a:off x="3081528" y="580644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Adopt a partner</a:t>
            </a:r>
            <a:endParaRPr b="0" i="0" sz="950" u="none" cap="none" strike="noStrike">
              <a:solidFill>
                <a:schemeClr val="dk1"/>
              </a:solidFill>
              <a:latin typeface="Calibri"/>
              <a:ea typeface="Calibri"/>
              <a:cs typeface="Calibri"/>
              <a:sym typeface="Calibri"/>
            </a:endParaRPr>
          </a:p>
        </p:txBody>
      </p:sp>
      <p:sp>
        <p:nvSpPr>
          <p:cNvPr id="676" name="Google Shape;676;p26"/>
          <p:cNvSpPr/>
          <p:nvPr/>
        </p:nvSpPr>
        <p:spPr>
          <a:xfrm>
            <a:off x="5212080" y="5852160"/>
            <a:ext cx="146304" cy="146304"/>
          </a:xfrm>
          <a:prstGeom prst="roundRect">
            <a:avLst>
              <a:gd fmla="val 25000"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6"/>
          <p:cNvSpPr txBox="1"/>
          <p:nvPr/>
        </p:nvSpPr>
        <p:spPr>
          <a:xfrm>
            <a:off x="5413248" y="580644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New build work</a:t>
            </a:r>
            <a:endParaRPr b="0" i="0" sz="950" u="none" cap="none" strike="noStrike">
              <a:solidFill>
                <a:schemeClr val="dk1"/>
              </a:solidFill>
              <a:latin typeface="Calibri"/>
              <a:ea typeface="Calibri"/>
              <a:cs typeface="Calibri"/>
              <a:sym typeface="Calibri"/>
            </a:endParaRPr>
          </a:p>
        </p:txBody>
      </p:sp>
      <p:sp>
        <p:nvSpPr>
          <p:cNvPr id="678" name="Google Shape;678;p26"/>
          <p:cNvSpPr/>
          <p:nvPr/>
        </p:nvSpPr>
        <p:spPr>
          <a:xfrm>
            <a:off x="7543800" y="5852160"/>
            <a:ext cx="146304" cy="146304"/>
          </a:xfrm>
          <a:prstGeom prst="roundRect">
            <a:avLst>
              <a:gd fmla="val 25000" name="adj"/>
            </a:avLst>
          </a:prstGeom>
          <a:solidFill>
            <a:srgbClr val="F7E8E8"/>
          </a:solidFill>
          <a:ln cap="flat" cmpd="sng" w="952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6"/>
          <p:cNvSpPr txBox="1"/>
          <p:nvPr/>
        </p:nvSpPr>
        <p:spPr>
          <a:xfrm>
            <a:off x="7744968" y="580644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Gap — flag it</a:t>
            </a:r>
            <a:endParaRPr b="0" i="0" sz="950" u="none" cap="none" strike="noStrike">
              <a:solidFill>
                <a:schemeClr val="dk1"/>
              </a:solidFill>
              <a:latin typeface="Calibri"/>
              <a:ea typeface="Calibri"/>
              <a:cs typeface="Calibri"/>
              <a:sym typeface="Calibri"/>
            </a:endParaRPr>
          </a:p>
        </p:txBody>
      </p:sp>
      <p:sp>
        <p:nvSpPr>
          <p:cNvPr id="680" name="Google Shape;680;p26"/>
          <p:cNvSpPr/>
          <p:nvPr/>
        </p:nvSpPr>
        <p:spPr>
          <a:xfrm>
            <a:off x="9875520" y="5852160"/>
            <a:ext cx="146304" cy="146304"/>
          </a:xfrm>
          <a:prstGeom prst="roundRect">
            <a:avLst>
              <a:gd fmla="val 25000" name="adj"/>
            </a:avLst>
          </a:prstGeom>
          <a:solidFill>
            <a:srgbClr val="EEF1F4"/>
          </a:solidFill>
          <a:ln cap="flat" cmpd="sng" w="9525">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6"/>
          <p:cNvSpPr txBox="1"/>
          <p:nvPr/>
        </p:nvSpPr>
        <p:spPr>
          <a:xfrm>
            <a:off x="10076688" y="580644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Different question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27"/>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What the Food Security matrix says</a:t>
            </a:r>
            <a:endParaRPr b="0" i="0" sz="3000" u="none" cap="none" strike="noStrike">
              <a:solidFill>
                <a:schemeClr val="dk1"/>
              </a:solidFill>
              <a:latin typeface="Calibri"/>
              <a:ea typeface="Calibri"/>
              <a:cs typeface="Calibri"/>
              <a:sym typeface="Calibri"/>
            </a:endParaRPr>
          </a:p>
        </p:txBody>
      </p:sp>
      <p:sp>
        <p:nvSpPr>
          <p:cNvPr id="688" name="Google Shape;688;p27"/>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689" name="Google Shape;689;p27"/>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§05</a:t>
            </a:r>
            <a:endParaRPr b="0" i="0" sz="800" u="none" cap="none" strike="noStrike">
              <a:solidFill>
                <a:schemeClr val="dk1"/>
              </a:solidFill>
              <a:latin typeface="Calibri"/>
              <a:ea typeface="Calibri"/>
              <a:cs typeface="Calibri"/>
              <a:sym typeface="Calibri"/>
            </a:endParaRPr>
          </a:p>
        </p:txBody>
      </p:sp>
      <p:sp>
        <p:nvSpPr>
          <p:cNvPr id="690" name="Google Shape;690;p27"/>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23</a:t>
            </a:r>
            <a:endParaRPr b="0" i="0" sz="800" u="none" cap="none" strike="noStrike">
              <a:solidFill>
                <a:schemeClr val="dk1"/>
              </a:solidFill>
              <a:latin typeface="Calibri"/>
              <a:ea typeface="Calibri"/>
              <a:cs typeface="Calibri"/>
              <a:sym typeface="Calibri"/>
            </a:endParaRPr>
          </a:p>
        </p:txBody>
      </p:sp>
      <p:sp>
        <p:nvSpPr>
          <p:cNvPr id="691" name="Google Shape;691;p27"/>
          <p:cNvSpPr/>
          <p:nvPr/>
        </p:nvSpPr>
        <p:spPr>
          <a:xfrm>
            <a:off x="502920" y="1600200"/>
            <a:ext cx="11155680" cy="777240"/>
          </a:xfrm>
          <a:prstGeom prst="roundRect">
            <a:avLst>
              <a:gd fmla="val 7059"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7"/>
          <p:cNvSpPr txBox="1"/>
          <p:nvPr/>
        </p:nvSpPr>
        <p:spPr>
          <a:xfrm>
            <a:off x="713232" y="1691640"/>
            <a:ext cx="107899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The cereals column is in good shape.  </a:t>
            </a:r>
            <a:r>
              <a:rPr b="0" i="0" lang="en-US" sz="1150" u="none" cap="none" strike="noStrike">
                <a:solidFill>
                  <a:srgbClr val="4D5763"/>
                </a:solidFill>
                <a:latin typeface="Calibri"/>
                <a:ea typeface="Calibri"/>
                <a:cs typeface="Calibri"/>
                <a:sym typeface="Calibri"/>
              </a:rPr>
              <a:t>Wheat is nearly complete — ICIMOD's Afghanistan pipeline already fills two of its three cells at &gt;85% and ~90% accuracy. Maize and rice are close behind.</a:t>
            </a:r>
            <a:endParaRPr b="0" i="0" sz="1150" u="none" cap="none" strike="noStrike">
              <a:solidFill>
                <a:schemeClr val="dk1"/>
              </a:solidFill>
              <a:latin typeface="Calibri"/>
              <a:ea typeface="Calibri"/>
              <a:cs typeface="Calibri"/>
              <a:sym typeface="Calibri"/>
            </a:endParaRPr>
          </a:p>
        </p:txBody>
      </p:sp>
      <p:sp>
        <p:nvSpPr>
          <p:cNvPr id="693" name="Google Shape;693;p27"/>
          <p:cNvSpPr/>
          <p:nvPr/>
        </p:nvSpPr>
        <p:spPr>
          <a:xfrm>
            <a:off x="502920" y="2514600"/>
            <a:ext cx="11155680" cy="1143000"/>
          </a:xfrm>
          <a:prstGeom prst="roundRect">
            <a:avLst>
              <a:gd fmla="val 4800"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7"/>
          <p:cNvSpPr txBox="1"/>
          <p:nvPr/>
        </p:nvSpPr>
        <p:spPr>
          <a:xfrm>
            <a:off x="713232" y="2606040"/>
            <a:ext cx="1078992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The build weight sits in exactly two places.  </a:t>
            </a:r>
            <a:r>
              <a:rPr b="0" i="0" lang="en-US" sz="1150" u="none" cap="none" strike="noStrike">
                <a:solidFill>
                  <a:srgbClr val="4D5763"/>
                </a:solidFill>
                <a:latin typeface="Calibri"/>
                <a:ea typeface="Calibri"/>
                <a:cs typeface="Calibri"/>
                <a:sym typeface="Calibri"/>
              </a:rPr>
              <a:t>First: the six commodities needing a crop-type layer built from scratch through servir-aces — Decision #20, still unprioritised. Second: Clock 3 across the whole matrix, which depends entirely on the DSSAT-versus-PCSE/WOFOST bake-off that has not been scoped (Decision #13). Two unresolved decisions gate roughly half the matrix.</a:t>
            </a:r>
            <a:endParaRPr b="0" i="0" sz="1150" u="none" cap="none" strike="noStrike">
              <a:solidFill>
                <a:schemeClr val="dk1"/>
              </a:solidFill>
              <a:latin typeface="Calibri"/>
              <a:ea typeface="Calibri"/>
              <a:cs typeface="Calibri"/>
              <a:sym typeface="Calibri"/>
            </a:endParaRPr>
          </a:p>
        </p:txBody>
      </p:sp>
      <p:sp>
        <p:nvSpPr>
          <p:cNvPr id="695" name="Google Shape;695;p27"/>
          <p:cNvSpPr/>
          <p:nvPr/>
        </p:nvSpPr>
        <p:spPr>
          <a:xfrm>
            <a:off x="502920" y="3794760"/>
            <a:ext cx="11155680" cy="960120"/>
          </a:xfrm>
          <a:prstGeom prst="roundRect">
            <a:avLst>
              <a:gd fmla="val 5714" name="adj"/>
            </a:avLst>
          </a:prstGeom>
          <a:solidFill>
            <a:srgbClr val="F7E8E8"/>
          </a:solidFill>
          <a:ln cap="flat" cmpd="sng" w="12700">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7"/>
          <p:cNvSpPr txBox="1"/>
          <p:nvPr/>
        </p:nvSpPr>
        <p:spPr>
          <a:xfrm>
            <a:off x="713232" y="3886200"/>
            <a:ext cx="10789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Cassava is the honest failure.  </a:t>
            </a:r>
            <a:r>
              <a:rPr b="0" i="0" lang="en-US" sz="1150" u="none" cap="none" strike="noStrike">
                <a:solidFill>
                  <a:srgbClr val="4D5763"/>
                </a:solidFill>
                <a:latin typeface="Calibri"/>
                <a:ea typeface="Calibri"/>
                <a:cs typeface="Calibri"/>
                <a:sym typeface="Calibri"/>
              </a:rPr>
              <a:t>A staple for hundreds of millions, with no usable EO method on any of the three clocks. The perennial canopy signal is genuinely hard and the open crop models barely support it. Better to state that than to ship a disaggregated FAOSTAT figure as if it were a measurement.</a:t>
            </a:r>
            <a:endParaRPr b="0" i="0" sz="1150" u="none" cap="none" strike="noStrike">
              <a:solidFill>
                <a:schemeClr val="dk1"/>
              </a:solidFill>
              <a:latin typeface="Calibri"/>
              <a:ea typeface="Calibri"/>
              <a:cs typeface="Calibri"/>
              <a:sym typeface="Calibri"/>
            </a:endParaRPr>
          </a:p>
        </p:txBody>
      </p:sp>
      <p:sp>
        <p:nvSpPr>
          <p:cNvPr id="697" name="Google Shape;697;p27"/>
          <p:cNvSpPr/>
          <p:nvPr/>
        </p:nvSpPr>
        <p:spPr>
          <a:xfrm>
            <a:off x="502920" y="4892040"/>
            <a:ext cx="11155680" cy="914400"/>
          </a:xfrm>
          <a:prstGeom prst="roundRect">
            <a:avLst>
              <a:gd fmla="val 6000"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7"/>
          <p:cNvSpPr txBox="1"/>
          <p:nvPr/>
        </p:nvSpPr>
        <p:spPr>
          <a:xfrm>
            <a:off x="713232" y="4983480"/>
            <a:ext cx="107899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Tree crops answer a different question.  </a:t>
            </a:r>
            <a:r>
              <a:rPr b="0" i="0" lang="en-US" sz="1150" u="none" cap="none" strike="noStrike">
                <a:solidFill>
                  <a:srgbClr val="4D5763"/>
                </a:solidFill>
                <a:latin typeface="Calibri"/>
                <a:ea typeface="Calibri"/>
                <a:cs typeface="Calibri"/>
                <a:sym typeface="Calibri"/>
              </a:rPr>
              <a:t>For cocoa, coffee, rubber and palm the operative Clock 2 question is not yield — it is EUDR compliance. Those four cells route to the F6 compliance envelope instead, which is why they read 'different question' rather than 'gap'.</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28"/>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The field-boundary backbone</a:t>
            </a:r>
            <a:endParaRPr b="0" i="0" sz="3000" u="none" cap="none" strike="noStrike">
              <a:solidFill>
                <a:schemeClr val="dk1"/>
              </a:solidFill>
              <a:latin typeface="Calibri"/>
              <a:ea typeface="Calibri"/>
              <a:cs typeface="Calibri"/>
              <a:sym typeface="Calibri"/>
            </a:endParaRPr>
          </a:p>
        </p:txBody>
      </p:sp>
      <p:sp>
        <p:nvSpPr>
          <p:cNvPr id="705" name="Google Shape;705;p28"/>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Every layer is a value attached to a field polygon, not a standalone map — so the boundary layer's quality caps everything above it.</a:t>
            </a:r>
            <a:endParaRPr b="0" i="0" sz="1350" u="none" cap="none" strike="noStrike">
              <a:solidFill>
                <a:schemeClr val="dk1"/>
              </a:solidFill>
              <a:latin typeface="Calibri"/>
              <a:ea typeface="Calibri"/>
              <a:cs typeface="Calibri"/>
              <a:sym typeface="Calibri"/>
            </a:endParaRPr>
          </a:p>
        </p:txBody>
      </p:sp>
      <p:sp>
        <p:nvSpPr>
          <p:cNvPr id="706" name="Google Shape;706;p28"/>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707" name="Google Shape;707;p28"/>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§05</a:t>
            </a:r>
            <a:endParaRPr b="0" i="0" sz="800" u="none" cap="none" strike="noStrike">
              <a:solidFill>
                <a:schemeClr val="dk1"/>
              </a:solidFill>
              <a:latin typeface="Calibri"/>
              <a:ea typeface="Calibri"/>
              <a:cs typeface="Calibri"/>
              <a:sym typeface="Calibri"/>
            </a:endParaRPr>
          </a:p>
        </p:txBody>
      </p:sp>
      <p:sp>
        <p:nvSpPr>
          <p:cNvPr id="708" name="Google Shape;708;p28"/>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24</a:t>
            </a:r>
            <a:endParaRPr b="0" i="0" sz="800" u="none" cap="none" strike="noStrike">
              <a:solidFill>
                <a:schemeClr val="dk1"/>
              </a:solidFill>
              <a:latin typeface="Calibri"/>
              <a:ea typeface="Calibri"/>
              <a:cs typeface="Calibri"/>
              <a:sym typeface="Calibri"/>
            </a:endParaRPr>
          </a:p>
        </p:txBody>
      </p:sp>
      <p:graphicFrame>
        <p:nvGraphicFramePr>
          <p:cNvPr id="709" name="Google Shape;709;p28"/>
          <p:cNvGraphicFramePr/>
          <p:nvPr/>
        </p:nvGraphicFramePr>
        <p:xfrm>
          <a:off x="502920" y="1627632"/>
          <a:ext cx="3000000" cy="3000000"/>
        </p:xfrm>
        <a:graphic>
          <a:graphicData uri="http://schemas.openxmlformats.org/drawingml/2006/table">
            <a:tbl>
              <a:tblPr>
                <a:noFill/>
                <a:tableStyleId>{0B7ADE64-2C2D-4D68-BEA2-7A829558A485}</a:tableStyleId>
              </a:tblPr>
              <a:tblGrid>
                <a:gridCol w="1051550"/>
                <a:gridCol w="2148850"/>
                <a:gridCol w="4114800"/>
                <a:gridCol w="1417325"/>
                <a:gridCol w="2423150"/>
              </a:tblGrid>
              <a:tr h="384050">
                <a:tc>
                  <a:txBody>
                    <a:bodyPr/>
                    <a:lstStyle/>
                    <a:p>
                      <a:pPr indent="0" lvl="0" marL="0" marR="0" rtl="0" algn="l">
                        <a:spcBef>
                          <a:spcPts val="0"/>
                        </a:spcBef>
                        <a:spcAft>
                          <a:spcPts val="0"/>
                        </a:spcAft>
                        <a:buClr>
                          <a:srgbClr val="FFFFFF"/>
                        </a:buClr>
                        <a:buSzPts val="950"/>
                        <a:buFont typeface="Consolas"/>
                        <a:buNone/>
                      </a:pPr>
                      <a:r>
                        <a:rPr b="1" lang="en-US" sz="950" u="none" cap="none" strike="noStrike">
                          <a:solidFill>
                            <a:srgbClr val="FFFFFF"/>
                          </a:solidFill>
                          <a:latin typeface="Consolas"/>
                          <a:ea typeface="Consolas"/>
                          <a:cs typeface="Consolas"/>
                          <a:sym typeface="Consolas"/>
                        </a:rPr>
                        <a:t>Stack</a:t>
                      </a:r>
                      <a:endParaRPr sz="9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950"/>
                        <a:buFont typeface="Consolas"/>
                        <a:buNone/>
                      </a:pPr>
                      <a:r>
                        <a:rPr b="1" lang="en-US" sz="950" u="none" cap="none" strike="noStrike">
                          <a:solidFill>
                            <a:srgbClr val="FFFFFF"/>
                          </a:solidFill>
                          <a:latin typeface="Consolas"/>
                          <a:ea typeface="Consolas"/>
                          <a:cs typeface="Consolas"/>
                          <a:sym typeface="Consolas"/>
                        </a:rPr>
                        <a:t>Layer</a:t>
                      </a:r>
                      <a:endParaRPr sz="9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950"/>
                        <a:buFont typeface="Consolas"/>
                        <a:buNone/>
                      </a:pPr>
                      <a:r>
                        <a:rPr b="1" lang="en-US" sz="950" u="none" cap="none" strike="noStrike">
                          <a:solidFill>
                            <a:srgbClr val="FFFFFF"/>
                          </a:solidFill>
                          <a:latin typeface="Consolas"/>
                          <a:ea typeface="Consolas"/>
                          <a:cs typeface="Consolas"/>
                          <a:sym typeface="Consolas"/>
                        </a:rPr>
                        <a:t>Source &amp; licence</a:t>
                      </a:r>
                      <a:endParaRPr sz="9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950"/>
                        <a:buFont typeface="Consolas"/>
                        <a:buNone/>
                      </a:pPr>
                      <a:r>
                        <a:rPr b="1" lang="en-US" sz="950" u="none" cap="none" strike="noStrike">
                          <a:solidFill>
                            <a:srgbClr val="FFFFFF"/>
                          </a:solidFill>
                          <a:latin typeface="Consolas"/>
                          <a:ea typeface="Consolas"/>
                          <a:cs typeface="Consolas"/>
                          <a:sym typeface="Consolas"/>
                        </a:rPr>
                        <a:t>Currency</a:t>
                      </a:r>
                      <a:endParaRPr sz="9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950"/>
                        <a:buFont typeface="Consolas"/>
                        <a:buNone/>
                      </a:pPr>
                      <a:r>
                        <a:rPr b="1" lang="en-US" sz="950" u="none" cap="none" strike="noStrike">
                          <a:solidFill>
                            <a:srgbClr val="FFFFFF"/>
                          </a:solidFill>
                          <a:latin typeface="Consolas"/>
                          <a:ea typeface="Consolas"/>
                          <a:cs typeface="Consolas"/>
                          <a:sym typeface="Consolas"/>
                        </a:rPr>
                        <a:t>Open question</a:t>
                      </a:r>
                      <a:endParaRPr sz="9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r>
              <a:tr h="384050">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Backbone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Field boundaries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Fields of the World (Taylor Geospatial / Microsoft AI for Good) — CC BY-SA 4.0</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10 m, ~3.17 B polygons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None — adopt directly</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chemeClr val="dk1"/>
                        </a:buClr>
                        <a:buSzPts val="950"/>
                        <a:buFont typeface="Calibri"/>
                        <a:buNone/>
                      </a:pPr>
                      <a:r>
                        <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Crop type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WorldCereal (cereals) + Forest Data Partnership (tree crops) + servir-aces (rest)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10 m, seasonal</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Which six commodities first (Decision #20)</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384050">
                <a:tc>
                  <a:txBody>
                    <a:bodyPr/>
                    <a:lstStyle/>
                    <a:p>
                      <a:pPr indent="0" lvl="0" marL="0" marR="0" rtl="0" algn="l">
                        <a:spcBef>
                          <a:spcPts val="0"/>
                        </a:spcBef>
                        <a:spcAft>
                          <a:spcPts val="0"/>
                        </a:spcAft>
                        <a:buClr>
                          <a:schemeClr val="dk1"/>
                        </a:buClr>
                        <a:buSzPts val="950"/>
                        <a:buFont typeface="Calibri"/>
                        <a:buNone/>
                      </a:pPr>
                      <a:r>
                        <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Crop calendars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GEOGLAM Crop Monitor; FAO GIEWS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Sub-national</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None — strong and operational</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People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Food insecurity classification</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FEWS NET FDW API, with WFP VAM / FAO GIEWS fallback</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Monthly outlook</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Coverage intermittent — see F5</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384050">
                <a:tc>
                  <a:txBody>
                    <a:bodyPr/>
                    <a:lstStyle/>
                    <a:p>
                      <a:pPr indent="0" lvl="0" marL="0" marR="0" rtl="0" algn="l">
                        <a:spcBef>
                          <a:spcPts val="0"/>
                        </a:spcBef>
                        <a:spcAft>
                          <a:spcPts val="0"/>
                        </a:spcAft>
                        <a:buClr>
                          <a:schemeClr val="dk1"/>
                        </a:buClr>
                        <a:buSzPts val="950"/>
                        <a:buFont typeface="Calibri"/>
                        <a:buNone/>
                      </a:pPr>
                      <a:r>
                        <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Population &amp; vulnerability</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WorldPop + HarvestStat — shared with §04</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100 m, annual</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None — same service as Global Risk</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Environment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Deforestation alerts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GFW Integrated Alerts — GLAD-L/S2, RADD, DIST-ALERT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10–30 m, 1–12 days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None — shared from §06, not built twice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384050">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Assets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Official production statistics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USDA FAS PSD; FAOSTAT; HarvestStat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Monthly–annual</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EO reconciliation rule unwritten</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chemeClr val="dk1"/>
                        </a:buClr>
                        <a:buSzPts val="950"/>
                        <a:buFont typeface="Calibri"/>
                        <a:buNone/>
                      </a:pPr>
                      <a:r>
                        <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Management practice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OpenET + Sen4CAP + USGS LANID method</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Field-level, in-season</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No tool does tillage, irrigation and fertilizer together</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bl>
          </a:graphicData>
        </a:graphic>
      </p:graphicFrame>
      <p:sp>
        <p:nvSpPr>
          <p:cNvPr id="710" name="Google Shape;710;p28"/>
          <p:cNvSpPr/>
          <p:nvPr/>
        </p:nvSpPr>
        <p:spPr>
          <a:xfrm>
            <a:off x="502920" y="4892040"/>
            <a:ext cx="11155680" cy="868680"/>
          </a:xfrm>
          <a:prstGeom prst="roundRect">
            <a:avLst>
              <a:gd fmla="val 6316"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8"/>
          <p:cNvSpPr txBox="1"/>
          <p:nvPr/>
        </p:nvSpPr>
        <p:spPr>
          <a:xfrm>
            <a:off x="713232" y="4983480"/>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Maturity travels with every value.  </a:t>
            </a:r>
            <a:r>
              <a:rPr b="0" i="0" lang="en-US" sz="1150" u="none" cap="none" strike="noStrike">
                <a:solidFill>
                  <a:srgbClr val="4D5763"/>
                </a:solidFill>
                <a:latin typeface="Calibri"/>
                <a:ea typeface="Calibri"/>
                <a:cs typeface="Calibri"/>
                <a:sym typeface="Calibri"/>
              </a:rPr>
              <a:t>A WorldCereal classification is 'detection'. A NASA Harvest in-season yield is 'estimation'. A disaggregated FAOSTAT cassava figure is 'proxy'. Presenting all three at one confidence is the fastest way to lose a ministry's trust.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29"/>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Food Security — the six seams</a:t>
            </a:r>
            <a:endParaRPr b="0" i="0" sz="3000" u="none" cap="none" strike="noStrike">
              <a:solidFill>
                <a:schemeClr val="dk1"/>
              </a:solidFill>
              <a:latin typeface="Calibri"/>
              <a:ea typeface="Calibri"/>
              <a:cs typeface="Calibri"/>
              <a:sym typeface="Calibri"/>
            </a:endParaRPr>
          </a:p>
        </p:txBody>
      </p:sp>
      <p:sp>
        <p:nvSpPr>
          <p:cNvPr id="718" name="Google Shape;718;p29"/>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F1–F4 mirror §04. F5 and F6 are what make this platform structurally different.</a:t>
            </a:r>
            <a:endParaRPr b="0" i="0" sz="1350" u="none" cap="none" strike="noStrike">
              <a:solidFill>
                <a:schemeClr val="dk1"/>
              </a:solidFill>
              <a:latin typeface="Calibri"/>
              <a:ea typeface="Calibri"/>
              <a:cs typeface="Calibri"/>
              <a:sym typeface="Calibri"/>
            </a:endParaRPr>
          </a:p>
        </p:txBody>
      </p:sp>
      <p:sp>
        <p:nvSpPr>
          <p:cNvPr id="719" name="Google Shape;719;p29"/>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720" name="Google Shape;720;p29"/>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§05</a:t>
            </a:r>
            <a:endParaRPr b="0" i="0" sz="800" u="none" cap="none" strike="noStrike">
              <a:solidFill>
                <a:schemeClr val="dk1"/>
              </a:solidFill>
              <a:latin typeface="Calibri"/>
              <a:ea typeface="Calibri"/>
              <a:cs typeface="Calibri"/>
              <a:sym typeface="Calibri"/>
            </a:endParaRPr>
          </a:p>
        </p:txBody>
      </p:sp>
      <p:sp>
        <p:nvSpPr>
          <p:cNvPr id="721" name="Google Shape;721;p29"/>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25</a:t>
            </a:r>
            <a:endParaRPr b="0" i="0" sz="800" u="none" cap="none" strike="noStrike">
              <a:solidFill>
                <a:schemeClr val="dk1"/>
              </a:solidFill>
              <a:latin typeface="Calibri"/>
              <a:ea typeface="Calibri"/>
              <a:cs typeface="Calibri"/>
              <a:sym typeface="Calibri"/>
            </a:endParaRPr>
          </a:p>
        </p:txBody>
      </p:sp>
      <p:sp>
        <p:nvSpPr>
          <p:cNvPr id="722" name="Google Shape;722;p29"/>
          <p:cNvSpPr/>
          <p:nvPr/>
        </p:nvSpPr>
        <p:spPr>
          <a:xfrm>
            <a:off x="594360" y="1609344"/>
            <a:ext cx="310896" cy="310896"/>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9"/>
          <p:cNvSpPr txBox="1"/>
          <p:nvPr/>
        </p:nvSpPr>
        <p:spPr>
          <a:xfrm>
            <a:off x="594360" y="160934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100"/>
              <a:buFont typeface="Consolas"/>
              <a:buNone/>
            </a:pPr>
            <a:r>
              <a:rPr b="1" i="0" lang="en-US" sz="1100" u="none" cap="none" strike="noStrike">
                <a:solidFill>
                  <a:srgbClr val="1A6389"/>
                </a:solidFill>
                <a:latin typeface="Consolas"/>
                <a:ea typeface="Consolas"/>
                <a:cs typeface="Consolas"/>
                <a:sym typeface="Consolas"/>
              </a:rPr>
              <a:t>F1</a:t>
            </a:r>
            <a:endParaRPr b="0" i="0" sz="1100" u="none" cap="none" strike="noStrike">
              <a:solidFill>
                <a:schemeClr val="dk1"/>
              </a:solidFill>
              <a:latin typeface="Calibri"/>
              <a:ea typeface="Calibri"/>
              <a:cs typeface="Calibri"/>
              <a:sym typeface="Calibri"/>
            </a:endParaRPr>
          </a:p>
        </p:txBody>
      </p:sp>
      <p:sp>
        <p:nvSpPr>
          <p:cNvPr id="724" name="Google Shape;724;p29"/>
          <p:cNvSpPr txBox="1"/>
          <p:nvPr/>
        </p:nvSpPr>
        <p:spPr>
          <a:xfrm>
            <a:off x="1069848" y="1572768"/>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The FieldObservation contract</a:t>
            </a:r>
            <a:endParaRPr b="0" i="0" sz="1400" u="none" cap="none" strike="noStrike">
              <a:solidFill>
                <a:schemeClr val="dk1"/>
              </a:solidFill>
              <a:latin typeface="Calibri"/>
              <a:ea typeface="Calibri"/>
              <a:cs typeface="Calibri"/>
              <a:sym typeface="Calibri"/>
            </a:endParaRPr>
          </a:p>
        </p:txBody>
      </p:sp>
      <p:sp>
        <p:nvSpPr>
          <p:cNvPr id="725" name="Google Shape;725;p29"/>
          <p:cNvSpPr txBox="1"/>
          <p:nvPr/>
        </p:nvSpPr>
        <p:spPr>
          <a:xfrm>
            <a:off x="1069848" y="1828800"/>
            <a:ext cx="10332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Every commodity, every clock, one object keyed to an FTW field polygon: commodity, clock, measure, value, provenance, maturity enum.</a:t>
            </a:r>
            <a:endParaRPr b="0" i="0" sz="1150" u="none" cap="none" strike="noStrike">
              <a:solidFill>
                <a:schemeClr val="dk1"/>
              </a:solidFill>
              <a:latin typeface="Calibri"/>
              <a:ea typeface="Calibri"/>
              <a:cs typeface="Calibri"/>
              <a:sym typeface="Calibri"/>
            </a:endParaRPr>
          </a:p>
        </p:txBody>
      </p:sp>
      <p:sp>
        <p:nvSpPr>
          <p:cNvPr id="726" name="Google Shape;726;p29"/>
          <p:cNvSpPr/>
          <p:nvPr/>
        </p:nvSpPr>
        <p:spPr>
          <a:xfrm>
            <a:off x="594360" y="2404872"/>
            <a:ext cx="310896" cy="310896"/>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9"/>
          <p:cNvSpPr txBox="1"/>
          <p:nvPr/>
        </p:nvSpPr>
        <p:spPr>
          <a:xfrm>
            <a:off x="594360" y="2404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100"/>
              <a:buFont typeface="Consolas"/>
              <a:buNone/>
            </a:pPr>
            <a:r>
              <a:rPr b="1" i="0" lang="en-US" sz="1100" u="none" cap="none" strike="noStrike">
                <a:solidFill>
                  <a:srgbClr val="1A6389"/>
                </a:solidFill>
                <a:latin typeface="Consolas"/>
                <a:ea typeface="Consolas"/>
                <a:cs typeface="Consolas"/>
                <a:sym typeface="Consolas"/>
              </a:rPr>
              <a:t>F2</a:t>
            </a:r>
            <a:endParaRPr b="0" i="0" sz="1100" u="none" cap="none" strike="noStrike">
              <a:solidFill>
                <a:schemeClr val="dk1"/>
              </a:solidFill>
              <a:latin typeface="Calibri"/>
              <a:ea typeface="Calibri"/>
              <a:cs typeface="Calibri"/>
              <a:sym typeface="Calibri"/>
            </a:endParaRPr>
          </a:p>
        </p:txBody>
      </p:sp>
      <p:sp>
        <p:nvSpPr>
          <p:cNvPr id="728" name="Google Shape;728;p29"/>
          <p:cNvSpPr txBox="1"/>
          <p:nvPr/>
        </p:nvSpPr>
        <p:spPr>
          <a:xfrm>
            <a:off x="1069848" y="2368296"/>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The three-clock crop engine</a:t>
            </a:r>
            <a:endParaRPr b="0" i="0" sz="1400" u="none" cap="none" strike="noStrike">
              <a:solidFill>
                <a:schemeClr val="dk1"/>
              </a:solidFill>
              <a:latin typeface="Calibri"/>
              <a:ea typeface="Calibri"/>
              <a:cs typeface="Calibri"/>
              <a:sym typeface="Calibri"/>
            </a:endParaRPr>
          </a:p>
        </p:txBody>
      </p:sp>
      <p:sp>
        <p:nvSpPr>
          <p:cNvPr id="729" name="Google Shape;729;p29"/>
          <p:cNvSpPr txBox="1"/>
          <p:nvPr/>
        </p:nvSpPr>
        <p:spPr>
          <a:xfrm>
            <a:off x="1069848" y="2624328"/>
            <a:ext cx="10332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Clock 1 observes, Clock 2 regresses on it, Clock 3 runs a process-based crop model — whose output feeds back into Clock 2's calendar input next season. A calendar that only renders on a dashboard has not been integrated.</a:t>
            </a:r>
            <a:endParaRPr b="0" i="0" sz="1150" u="none" cap="none" strike="noStrike">
              <a:solidFill>
                <a:schemeClr val="dk1"/>
              </a:solidFill>
              <a:latin typeface="Calibri"/>
              <a:ea typeface="Calibri"/>
              <a:cs typeface="Calibri"/>
              <a:sym typeface="Calibri"/>
            </a:endParaRPr>
          </a:p>
        </p:txBody>
      </p:sp>
      <p:sp>
        <p:nvSpPr>
          <p:cNvPr id="730" name="Google Shape;730;p29"/>
          <p:cNvSpPr/>
          <p:nvPr/>
        </p:nvSpPr>
        <p:spPr>
          <a:xfrm>
            <a:off x="594360" y="3200400"/>
            <a:ext cx="310896" cy="310896"/>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9"/>
          <p:cNvSpPr txBox="1"/>
          <p:nvPr/>
        </p:nvSpPr>
        <p:spPr>
          <a:xfrm>
            <a:off x="594360" y="3200400"/>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100"/>
              <a:buFont typeface="Consolas"/>
              <a:buNone/>
            </a:pPr>
            <a:r>
              <a:rPr b="1" i="0" lang="en-US" sz="1100" u="none" cap="none" strike="noStrike">
                <a:solidFill>
                  <a:srgbClr val="1A6389"/>
                </a:solidFill>
                <a:latin typeface="Consolas"/>
                <a:ea typeface="Consolas"/>
                <a:cs typeface="Consolas"/>
                <a:sym typeface="Consolas"/>
              </a:rPr>
              <a:t>F3</a:t>
            </a:r>
            <a:endParaRPr b="0" i="0" sz="1100" u="none" cap="none" strike="noStrike">
              <a:solidFill>
                <a:schemeClr val="dk1"/>
              </a:solidFill>
              <a:latin typeface="Calibri"/>
              <a:ea typeface="Calibri"/>
              <a:cs typeface="Calibri"/>
              <a:sym typeface="Calibri"/>
            </a:endParaRPr>
          </a:p>
        </p:txBody>
      </p:sp>
      <p:sp>
        <p:nvSpPr>
          <p:cNvPr id="732" name="Google Shape;732;p29"/>
          <p:cNvSpPr txBox="1"/>
          <p:nvPr/>
        </p:nvSpPr>
        <p:spPr>
          <a:xfrm>
            <a:off x="1069848" y="3163824"/>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The exposure and outcome join</a:t>
            </a:r>
            <a:endParaRPr b="0" i="0" sz="1400" u="none" cap="none" strike="noStrike">
              <a:solidFill>
                <a:schemeClr val="dk1"/>
              </a:solidFill>
              <a:latin typeface="Calibri"/>
              <a:ea typeface="Calibri"/>
              <a:cs typeface="Calibri"/>
              <a:sym typeface="Calibri"/>
            </a:endParaRPr>
          </a:p>
        </p:txBody>
      </p:sp>
      <p:sp>
        <p:nvSpPr>
          <p:cNvPr id="733" name="Google Shape;733;p29"/>
          <p:cNvSpPr txBox="1"/>
          <p:nvPr/>
        </p:nvSpPr>
        <p:spPr>
          <a:xfrm>
            <a:off x="1069848" y="3419856"/>
            <a:ext cx="10332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The same service §04 uses. The distinctive requirement: the outcome layer is not platform-derived — it comes from FEWS NET or IPC, human-analyst products. The join must carry that distinction.</a:t>
            </a:r>
            <a:endParaRPr b="0" i="0" sz="1150" u="none" cap="none" strike="noStrike">
              <a:solidFill>
                <a:schemeClr val="dk1"/>
              </a:solidFill>
              <a:latin typeface="Calibri"/>
              <a:ea typeface="Calibri"/>
              <a:cs typeface="Calibri"/>
              <a:sym typeface="Calibri"/>
            </a:endParaRPr>
          </a:p>
        </p:txBody>
      </p:sp>
      <p:sp>
        <p:nvSpPr>
          <p:cNvPr id="734" name="Google Shape;734;p29"/>
          <p:cNvSpPr/>
          <p:nvPr/>
        </p:nvSpPr>
        <p:spPr>
          <a:xfrm>
            <a:off x="594360" y="3995928"/>
            <a:ext cx="310896" cy="310896"/>
          </a:xfrm>
          <a:prstGeom prst="ellipse">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9"/>
          <p:cNvSpPr txBox="1"/>
          <p:nvPr/>
        </p:nvSpPr>
        <p:spPr>
          <a:xfrm>
            <a:off x="594360" y="3995928"/>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6389"/>
              </a:buClr>
              <a:buSzPts val="1100"/>
              <a:buFont typeface="Consolas"/>
              <a:buNone/>
            </a:pPr>
            <a:r>
              <a:rPr b="1" i="0" lang="en-US" sz="1100" u="none" cap="none" strike="noStrike">
                <a:solidFill>
                  <a:srgbClr val="1A6389"/>
                </a:solidFill>
                <a:latin typeface="Consolas"/>
                <a:ea typeface="Consolas"/>
                <a:cs typeface="Consolas"/>
                <a:sym typeface="Consolas"/>
              </a:rPr>
              <a:t>F4</a:t>
            </a:r>
            <a:endParaRPr b="0" i="0" sz="1100" u="none" cap="none" strike="noStrike">
              <a:solidFill>
                <a:schemeClr val="dk1"/>
              </a:solidFill>
              <a:latin typeface="Calibri"/>
              <a:ea typeface="Calibri"/>
              <a:cs typeface="Calibri"/>
              <a:sym typeface="Calibri"/>
            </a:endParaRPr>
          </a:p>
        </p:txBody>
      </p:sp>
      <p:sp>
        <p:nvSpPr>
          <p:cNvPr id="736" name="Google Shape;736;p29"/>
          <p:cNvSpPr txBox="1"/>
          <p:nvPr/>
        </p:nvSpPr>
        <p:spPr>
          <a:xfrm>
            <a:off x="1069848" y="3959352"/>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The crop-agent contract</a:t>
            </a:r>
            <a:endParaRPr b="0" i="0" sz="1400" u="none" cap="none" strike="noStrike">
              <a:solidFill>
                <a:schemeClr val="dk1"/>
              </a:solidFill>
              <a:latin typeface="Calibri"/>
              <a:ea typeface="Calibri"/>
              <a:cs typeface="Calibri"/>
              <a:sym typeface="Calibri"/>
            </a:endParaRPr>
          </a:p>
        </p:txBody>
      </p:sp>
      <p:sp>
        <p:nvSpPr>
          <p:cNvPr id="737" name="Google Shape;737;p29"/>
          <p:cNvSpPr txBox="1"/>
          <p:nvPr/>
        </p:nvSpPr>
        <p:spPr>
          <a:xfrm>
            <a:off x="1069848" y="4215384"/>
            <a:ext cx="10332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Agronomic expertise encoded: low-confidence classifications go to an agronomy team, not to publication; the Yield Agent passes its estimate downstream as an input, never as a final answer.</a:t>
            </a:r>
            <a:endParaRPr b="0" i="0" sz="1150" u="none" cap="none" strike="noStrike">
              <a:solidFill>
                <a:schemeClr val="dk1"/>
              </a:solidFill>
              <a:latin typeface="Calibri"/>
              <a:ea typeface="Calibri"/>
              <a:cs typeface="Calibri"/>
              <a:sym typeface="Calibri"/>
            </a:endParaRPr>
          </a:p>
        </p:txBody>
      </p:sp>
      <p:sp>
        <p:nvSpPr>
          <p:cNvPr id="738" name="Google Shape;738;p29"/>
          <p:cNvSpPr/>
          <p:nvPr/>
        </p:nvSpPr>
        <p:spPr>
          <a:xfrm>
            <a:off x="594360" y="4791456"/>
            <a:ext cx="310896" cy="310896"/>
          </a:xfrm>
          <a:prstGeom prst="ellipse">
            <a:avLst/>
          </a:prstGeom>
          <a:solidFill>
            <a:srgbClr val="F7E8E8"/>
          </a:solidFill>
          <a:ln cap="flat" cmpd="sng" w="12700">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9"/>
          <p:cNvSpPr txBox="1"/>
          <p:nvPr/>
        </p:nvSpPr>
        <p:spPr>
          <a:xfrm>
            <a:off x="594360" y="479145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B2C2C"/>
              </a:buClr>
              <a:buSzPts val="1100"/>
              <a:buFont typeface="Consolas"/>
              <a:buNone/>
            </a:pPr>
            <a:r>
              <a:rPr b="1" i="0" lang="en-US" sz="1100" u="none" cap="none" strike="noStrike">
                <a:solidFill>
                  <a:srgbClr val="9B2C2C"/>
                </a:solidFill>
                <a:latin typeface="Consolas"/>
                <a:ea typeface="Consolas"/>
                <a:cs typeface="Consolas"/>
                <a:sym typeface="Consolas"/>
              </a:rPr>
              <a:t>F5</a:t>
            </a:r>
            <a:endParaRPr b="0" i="0" sz="1100" u="none" cap="none" strike="noStrike">
              <a:solidFill>
                <a:schemeClr val="dk1"/>
              </a:solidFill>
              <a:latin typeface="Calibri"/>
              <a:ea typeface="Calibri"/>
              <a:cs typeface="Calibri"/>
              <a:sym typeface="Calibri"/>
            </a:endParaRPr>
          </a:p>
        </p:txBody>
      </p:sp>
      <p:sp>
        <p:nvSpPr>
          <p:cNvPr id="740" name="Google Shape;740;p29"/>
          <p:cNvSpPr txBox="1"/>
          <p:nvPr/>
        </p:nvSpPr>
        <p:spPr>
          <a:xfrm>
            <a:off x="1069848" y="4754880"/>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Graceful degradation — the distinctive one</a:t>
            </a:r>
            <a:endParaRPr b="0" i="0" sz="1400" u="none" cap="none" strike="noStrike">
              <a:solidFill>
                <a:schemeClr val="dk1"/>
              </a:solidFill>
              <a:latin typeface="Calibri"/>
              <a:ea typeface="Calibri"/>
              <a:cs typeface="Calibri"/>
              <a:sym typeface="Calibri"/>
            </a:endParaRPr>
          </a:p>
        </p:txBody>
      </p:sp>
      <p:sp>
        <p:nvSpPr>
          <p:cNvPr id="741" name="Google Shape;741;p29"/>
          <p:cNvSpPr txBox="1"/>
          <p:nvPr/>
        </p:nvSpPr>
        <p:spPr>
          <a:xfrm>
            <a:off x="1069848" y="5010912"/>
            <a:ext cx="10332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FEWS NET reporting is halted for Somalia, Afghanistan and Yemen as of August 2026. The agent falls back to EO indices + GIEWS + mVAM and says so, with a DEGRADED flag — never presenting a fallback as an IPC phase.</a:t>
            </a:r>
            <a:endParaRPr b="0" i="0" sz="1150" u="none" cap="none" strike="noStrike">
              <a:solidFill>
                <a:schemeClr val="dk1"/>
              </a:solidFill>
              <a:latin typeface="Calibri"/>
              <a:ea typeface="Calibri"/>
              <a:cs typeface="Calibri"/>
              <a:sym typeface="Calibri"/>
            </a:endParaRPr>
          </a:p>
        </p:txBody>
      </p:sp>
      <p:sp>
        <p:nvSpPr>
          <p:cNvPr id="742" name="Google Shape;742;p29"/>
          <p:cNvSpPr/>
          <p:nvPr/>
        </p:nvSpPr>
        <p:spPr>
          <a:xfrm>
            <a:off x="594360" y="5586984"/>
            <a:ext cx="310896" cy="310896"/>
          </a:xfrm>
          <a:prstGeom prst="ellipse">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9"/>
          <p:cNvSpPr txBox="1"/>
          <p:nvPr/>
        </p:nvSpPr>
        <p:spPr>
          <a:xfrm>
            <a:off x="594360" y="558698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1AF3D"/>
              </a:buClr>
              <a:buSzPts val="1100"/>
              <a:buFont typeface="Consolas"/>
              <a:buNone/>
            </a:pPr>
            <a:r>
              <a:rPr b="1" i="0" lang="en-US" sz="1100" u="none" cap="none" strike="noStrike">
                <a:solidFill>
                  <a:srgbClr val="91AF3D"/>
                </a:solidFill>
                <a:latin typeface="Consolas"/>
                <a:ea typeface="Consolas"/>
                <a:cs typeface="Consolas"/>
                <a:sym typeface="Consolas"/>
              </a:rPr>
              <a:t>F6</a:t>
            </a:r>
            <a:endParaRPr b="0" i="0" sz="1100" u="none" cap="none" strike="noStrike">
              <a:solidFill>
                <a:schemeClr val="dk1"/>
              </a:solidFill>
              <a:latin typeface="Calibri"/>
              <a:ea typeface="Calibri"/>
              <a:cs typeface="Calibri"/>
              <a:sym typeface="Calibri"/>
            </a:endParaRPr>
          </a:p>
        </p:txBody>
      </p:sp>
      <p:sp>
        <p:nvSpPr>
          <p:cNvPr id="744" name="Google Shape;744;p29"/>
          <p:cNvSpPr txBox="1"/>
          <p:nvPr/>
        </p:nvSpPr>
        <p:spPr>
          <a:xfrm>
            <a:off x="1069848" y="5550408"/>
            <a:ext cx="10332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400"/>
              <a:buFont typeface="Calibri"/>
              <a:buNone/>
            </a:pPr>
            <a:r>
              <a:rPr b="1" i="0" lang="en-US" sz="1400" u="none" cap="none" strike="noStrike">
                <a:solidFill>
                  <a:srgbClr val="1C212A"/>
                </a:solidFill>
                <a:latin typeface="Calibri"/>
                <a:ea typeface="Calibri"/>
                <a:cs typeface="Calibri"/>
                <a:sym typeface="Calibri"/>
              </a:rPr>
              <a:t>The EUDR compliance envelope</a:t>
            </a:r>
            <a:endParaRPr b="0" i="0" sz="1400" u="none" cap="none" strike="noStrike">
              <a:solidFill>
                <a:schemeClr val="dk1"/>
              </a:solidFill>
              <a:latin typeface="Calibri"/>
              <a:ea typeface="Calibri"/>
              <a:cs typeface="Calibri"/>
              <a:sym typeface="Calibri"/>
            </a:endParaRPr>
          </a:p>
        </p:txBody>
      </p:sp>
      <p:sp>
        <p:nvSpPr>
          <p:cNvPr id="745" name="Google Shape;745;p29"/>
          <p:cNvSpPr txBox="1"/>
          <p:nvPr/>
        </p:nvSpPr>
        <p:spPr>
          <a:xfrm>
            <a:off x="1069848" y="5806440"/>
            <a:ext cx="10332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150"/>
              <a:buFont typeface="Calibri"/>
              <a:buNone/>
            </a:pPr>
            <a:r>
              <a:rPr b="0" i="0" lang="en-US" sz="1150" u="none" cap="none" strike="noStrike">
                <a:solidFill>
                  <a:srgbClr val="4D5763"/>
                </a:solidFill>
                <a:latin typeface="Calibri"/>
                <a:ea typeface="Calibri"/>
                <a:cs typeface="Calibri"/>
                <a:sym typeface="Calibri"/>
              </a:rPr>
              <a:t>Plot geolocation → tree-crop map → GFW alert intersection since the 31 Dec 2020 cutoff → immutable evidence bundle → due-diligence statement on a restricted, audit-logged channel. An evidentiary legal record, not a monitoring product.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30"/>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Food Security — documented use cases</a:t>
            </a:r>
            <a:endParaRPr b="0" i="0" sz="3000" u="none" cap="none" strike="noStrike">
              <a:solidFill>
                <a:schemeClr val="dk1"/>
              </a:solidFill>
              <a:latin typeface="Calibri"/>
              <a:ea typeface="Calibri"/>
              <a:cs typeface="Calibri"/>
              <a:sym typeface="Calibri"/>
            </a:endParaRPr>
          </a:p>
        </p:txBody>
      </p:sp>
      <p:sp>
        <p:nvSpPr>
          <p:cNvPr id="752" name="Google Shape;752;p30"/>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Twelve of twenty-three hub-submitted cases are publicly documented with a named institution.</a:t>
            </a:r>
            <a:endParaRPr b="0" i="0" sz="1350" u="none" cap="none" strike="noStrike">
              <a:solidFill>
                <a:schemeClr val="dk1"/>
              </a:solidFill>
              <a:latin typeface="Calibri"/>
              <a:ea typeface="Calibri"/>
              <a:cs typeface="Calibri"/>
              <a:sym typeface="Calibri"/>
            </a:endParaRPr>
          </a:p>
        </p:txBody>
      </p:sp>
      <p:sp>
        <p:nvSpPr>
          <p:cNvPr id="753" name="Google Shape;753;p30"/>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754" name="Google Shape;754;p30"/>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§05</a:t>
            </a:r>
            <a:endParaRPr b="0" i="0" sz="800" u="none" cap="none" strike="noStrike">
              <a:solidFill>
                <a:schemeClr val="dk1"/>
              </a:solidFill>
              <a:latin typeface="Calibri"/>
              <a:ea typeface="Calibri"/>
              <a:cs typeface="Calibri"/>
              <a:sym typeface="Calibri"/>
            </a:endParaRPr>
          </a:p>
        </p:txBody>
      </p:sp>
      <p:sp>
        <p:nvSpPr>
          <p:cNvPr id="755" name="Google Shape;755;p30"/>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26</a:t>
            </a:r>
            <a:endParaRPr b="0" i="0" sz="800" u="none" cap="none" strike="noStrike">
              <a:solidFill>
                <a:schemeClr val="dk1"/>
              </a:solidFill>
              <a:latin typeface="Calibri"/>
              <a:ea typeface="Calibri"/>
              <a:cs typeface="Calibri"/>
              <a:sym typeface="Calibri"/>
            </a:endParaRPr>
          </a:p>
        </p:txBody>
      </p:sp>
      <p:sp>
        <p:nvSpPr>
          <p:cNvPr id="756" name="Google Shape;756;p30"/>
          <p:cNvSpPr/>
          <p:nvPr/>
        </p:nvSpPr>
        <p:spPr>
          <a:xfrm>
            <a:off x="502920" y="148132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0"/>
          <p:cNvSpPr txBox="1"/>
          <p:nvPr/>
        </p:nvSpPr>
        <p:spPr>
          <a:xfrm>
            <a:off x="685800" y="160020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WEST AFRICA · ICRISAT</a:t>
            </a:r>
            <a:endParaRPr b="0" i="0" sz="800" u="none" cap="none" strike="noStrike">
              <a:solidFill>
                <a:schemeClr val="dk1"/>
              </a:solidFill>
              <a:latin typeface="Calibri"/>
              <a:ea typeface="Calibri"/>
              <a:cs typeface="Calibri"/>
              <a:sym typeface="Calibri"/>
            </a:endParaRPr>
          </a:p>
        </p:txBody>
      </p:sp>
      <p:sp>
        <p:nvSpPr>
          <p:cNvPr id="758" name="Google Shape;758;p30"/>
          <p:cNvSpPr txBox="1"/>
          <p:nvPr/>
        </p:nvSpPr>
        <p:spPr>
          <a:xfrm>
            <a:off x="685800" y="179222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Crop type &amp; condition — Senegal</a:t>
            </a:r>
            <a:endParaRPr b="0" i="0" sz="1250" u="none" cap="none" strike="noStrike">
              <a:solidFill>
                <a:schemeClr val="dk1"/>
              </a:solidFill>
              <a:latin typeface="Calibri"/>
              <a:ea typeface="Calibri"/>
              <a:cs typeface="Calibri"/>
              <a:sym typeface="Calibri"/>
            </a:endParaRPr>
          </a:p>
        </p:txBody>
      </p:sp>
      <p:sp>
        <p:nvSpPr>
          <p:cNvPr id="759" name="Google Shape;759;p30"/>
          <p:cNvSpPr txBox="1"/>
          <p:nvPr/>
        </p:nvSpPr>
        <p:spPr>
          <a:xfrm>
            <a:off x="685800" y="224942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Min. of Agriculture and Rural Infrastructure; DAPSA</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National crop area estimation and yield forecasting, replacing ground-only surveys</a:t>
            </a:r>
            <a:endParaRPr b="0" i="0" sz="800" u="none" cap="none" strike="noStrike">
              <a:solidFill>
                <a:schemeClr val="dk1"/>
              </a:solidFill>
              <a:latin typeface="Calibri"/>
              <a:ea typeface="Calibri"/>
              <a:cs typeface="Calibri"/>
              <a:sym typeface="Calibri"/>
            </a:endParaRPr>
          </a:p>
        </p:txBody>
      </p:sp>
      <p:sp>
        <p:nvSpPr>
          <p:cNvPr id="760" name="Google Shape;760;p30"/>
          <p:cNvSpPr txBox="1"/>
          <p:nvPr/>
        </p:nvSpPr>
        <p:spPr>
          <a:xfrm>
            <a:off x="685800" y="318211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SORGHUM/MILLET × CLOCKS 1–2</a:t>
            </a:r>
            <a:endParaRPr b="0" i="0" sz="800" u="none" cap="none" strike="noStrike">
              <a:solidFill>
                <a:schemeClr val="dk1"/>
              </a:solidFill>
              <a:latin typeface="Calibri"/>
              <a:ea typeface="Calibri"/>
              <a:cs typeface="Calibri"/>
              <a:sym typeface="Calibri"/>
            </a:endParaRPr>
          </a:p>
        </p:txBody>
      </p:sp>
      <p:sp>
        <p:nvSpPr>
          <p:cNvPr id="761" name="Google Shape;761;p30"/>
          <p:cNvSpPr/>
          <p:nvPr/>
        </p:nvSpPr>
        <p:spPr>
          <a:xfrm>
            <a:off x="4282440" y="148132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0"/>
          <p:cNvSpPr txBox="1"/>
          <p:nvPr/>
        </p:nvSpPr>
        <p:spPr>
          <a:xfrm>
            <a:off x="4465320" y="160020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HKH · ICIMOD</a:t>
            </a:r>
            <a:endParaRPr b="0" i="0" sz="800" u="none" cap="none" strike="noStrike">
              <a:solidFill>
                <a:schemeClr val="dk1"/>
              </a:solidFill>
              <a:latin typeface="Calibri"/>
              <a:ea typeface="Calibri"/>
              <a:cs typeface="Calibri"/>
              <a:sym typeface="Calibri"/>
            </a:endParaRPr>
          </a:p>
        </p:txBody>
      </p:sp>
      <p:sp>
        <p:nvSpPr>
          <p:cNvPr id="763" name="Google Shape;763;p30"/>
          <p:cNvSpPr txBox="1"/>
          <p:nvPr/>
        </p:nvSpPr>
        <p:spPr>
          <a:xfrm>
            <a:off x="4465320" y="179222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In-season wheat mapping — Afghanistan</a:t>
            </a:r>
            <a:endParaRPr b="0" i="0" sz="1250" u="none" cap="none" strike="noStrike">
              <a:solidFill>
                <a:schemeClr val="dk1"/>
              </a:solidFill>
              <a:latin typeface="Calibri"/>
              <a:ea typeface="Calibri"/>
              <a:cs typeface="Calibri"/>
              <a:sym typeface="Calibri"/>
            </a:endParaRPr>
          </a:p>
        </p:txBody>
      </p:sp>
      <p:sp>
        <p:nvSpPr>
          <p:cNvPr id="764" name="Google Shape;764;p30"/>
          <p:cNvSpPr txBox="1"/>
          <p:nvPr/>
        </p:nvSpPr>
        <p:spPr>
          <a:xfrm>
            <a:off x="4465320" y="224942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Min. of Agriculture, Irrigation and Livestock</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Yearly national wheat production estimates for food-security planning</a:t>
            </a:r>
            <a:endParaRPr b="0" i="0" sz="800" u="none" cap="none" strike="noStrike">
              <a:solidFill>
                <a:schemeClr val="dk1"/>
              </a:solidFill>
              <a:latin typeface="Calibri"/>
              <a:ea typeface="Calibri"/>
              <a:cs typeface="Calibri"/>
              <a:sym typeface="Calibri"/>
            </a:endParaRPr>
          </a:p>
        </p:txBody>
      </p:sp>
      <p:sp>
        <p:nvSpPr>
          <p:cNvPr id="765" name="Google Shape;765;p30"/>
          <p:cNvSpPr txBox="1"/>
          <p:nvPr/>
        </p:nvSpPr>
        <p:spPr>
          <a:xfrm>
            <a:off x="4465320" y="318211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WHEAT × CLOCKS 1–2 — ALREADY BUILT</a:t>
            </a:r>
            <a:endParaRPr b="0" i="0" sz="800" u="none" cap="none" strike="noStrike">
              <a:solidFill>
                <a:schemeClr val="dk1"/>
              </a:solidFill>
              <a:latin typeface="Calibri"/>
              <a:ea typeface="Calibri"/>
              <a:cs typeface="Calibri"/>
              <a:sym typeface="Calibri"/>
            </a:endParaRPr>
          </a:p>
        </p:txBody>
      </p:sp>
      <p:sp>
        <p:nvSpPr>
          <p:cNvPr id="766" name="Google Shape;766;p30"/>
          <p:cNvSpPr/>
          <p:nvPr/>
        </p:nvSpPr>
        <p:spPr>
          <a:xfrm>
            <a:off x="8061960" y="148132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0"/>
          <p:cNvSpPr txBox="1"/>
          <p:nvPr/>
        </p:nvSpPr>
        <p:spPr>
          <a:xfrm>
            <a:off x="8244840" y="160020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E&amp;S AFRICA · RCMRD</a:t>
            </a:r>
            <a:endParaRPr b="0" i="0" sz="800" u="none" cap="none" strike="noStrike">
              <a:solidFill>
                <a:schemeClr val="dk1"/>
              </a:solidFill>
              <a:latin typeface="Calibri"/>
              <a:ea typeface="Calibri"/>
              <a:cs typeface="Calibri"/>
              <a:sym typeface="Calibri"/>
            </a:endParaRPr>
          </a:p>
        </p:txBody>
      </p:sp>
      <p:sp>
        <p:nvSpPr>
          <p:cNvPr id="768" name="Google Shape;768;p30"/>
          <p:cNvSpPr txBox="1"/>
          <p:nvPr/>
        </p:nvSpPr>
        <p:spPr>
          <a:xfrm>
            <a:off x="8244840" y="179222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Kenya National Crop Monitor</a:t>
            </a:r>
            <a:endParaRPr b="0" i="0" sz="1250" u="none" cap="none" strike="noStrike">
              <a:solidFill>
                <a:schemeClr val="dk1"/>
              </a:solidFill>
              <a:latin typeface="Calibri"/>
              <a:ea typeface="Calibri"/>
              <a:cs typeface="Calibri"/>
              <a:sym typeface="Calibri"/>
            </a:endParaRPr>
          </a:p>
        </p:txBody>
      </p:sp>
      <p:sp>
        <p:nvSpPr>
          <p:cNvPr id="769" name="Google Shape;769;p30"/>
          <p:cNvSpPr txBox="1"/>
          <p:nvPr/>
        </p:nvSpPr>
        <p:spPr>
          <a:xfrm>
            <a:off x="8244840" y="224942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Min. of Agriculture, Irrigation, Livestock &amp; Fisheries</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Early warning of drought-related crop failure — a comparable Uganda case released $4 M</a:t>
            </a:r>
            <a:endParaRPr b="0" i="0" sz="800" u="none" cap="none" strike="noStrike">
              <a:solidFill>
                <a:schemeClr val="dk1"/>
              </a:solidFill>
              <a:latin typeface="Calibri"/>
              <a:ea typeface="Calibri"/>
              <a:cs typeface="Calibri"/>
              <a:sym typeface="Calibri"/>
            </a:endParaRPr>
          </a:p>
        </p:txBody>
      </p:sp>
      <p:sp>
        <p:nvSpPr>
          <p:cNvPr id="770" name="Google Shape;770;p30"/>
          <p:cNvSpPr txBox="1"/>
          <p:nvPr/>
        </p:nvSpPr>
        <p:spPr>
          <a:xfrm>
            <a:off x="8244840" y="318211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MAIZE × CLOCKS 1–2 · PEOPLE</a:t>
            </a:r>
            <a:endParaRPr b="0" i="0" sz="800" u="none" cap="none" strike="noStrike">
              <a:solidFill>
                <a:schemeClr val="dk1"/>
              </a:solidFill>
              <a:latin typeface="Calibri"/>
              <a:ea typeface="Calibri"/>
              <a:cs typeface="Calibri"/>
              <a:sym typeface="Calibri"/>
            </a:endParaRPr>
          </a:p>
        </p:txBody>
      </p:sp>
      <p:sp>
        <p:nvSpPr>
          <p:cNvPr id="771" name="Google Shape;771;p30"/>
          <p:cNvSpPr/>
          <p:nvPr/>
        </p:nvSpPr>
        <p:spPr>
          <a:xfrm>
            <a:off x="502920" y="367588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0"/>
          <p:cNvSpPr txBox="1"/>
          <p:nvPr/>
        </p:nvSpPr>
        <p:spPr>
          <a:xfrm>
            <a:off x="685800" y="379476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E&amp;S AFRICA</a:t>
            </a:r>
            <a:endParaRPr b="0" i="0" sz="800" u="none" cap="none" strike="noStrike">
              <a:solidFill>
                <a:schemeClr val="dk1"/>
              </a:solidFill>
              <a:latin typeface="Calibri"/>
              <a:ea typeface="Calibri"/>
              <a:cs typeface="Calibri"/>
              <a:sym typeface="Calibri"/>
            </a:endParaRPr>
          </a:p>
        </p:txBody>
      </p:sp>
      <p:sp>
        <p:nvSpPr>
          <p:cNvPr id="773" name="Google Shape;773;p30"/>
          <p:cNvSpPr txBox="1"/>
          <p:nvPr/>
        </p:nvSpPr>
        <p:spPr>
          <a:xfrm>
            <a:off x="685800" y="398678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Crop insurance payout targeting — Kenya</a:t>
            </a:r>
            <a:endParaRPr b="0" i="0" sz="1250" u="none" cap="none" strike="noStrike">
              <a:solidFill>
                <a:schemeClr val="dk1"/>
              </a:solidFill>
              <a:latin typeface="Calibri"/>
              <a:ea typeface="Calibri"/>
              <a:cs typeface="Calibri"/>
              <a:sym typeface="Calibri"/>
            </a:endParaRPr>
          </a:p>
        </p:txBody>
      </p:sp>
      <p:sp>
        <p:nvSpPr>
          <p:cNvPr id="774" name="Google Shape;774;p30"/>
          <p:cNvSpPr txBox="1"/>
          <p:nvPr/>
        </p:nvSpPr>
        <p:spPr>
          <a:xfrm>
            <a:off x="685800" y="444398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RCMRD, NASA Harvest, Swiss Re Foundation</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Which farms are identified as failing and receive payouts — 425,000 farmers in 2019</a:t>
            </a:r>
            <a:endParaRPr b="0" i="0" sz="800" u="none" cap="none" strike="noStrike">
              <a:solidFill>
                <a:schemeClr val="dk1"/>
              </a:solidFill>
              <a:latin typeface="Calibri"/>
              <a:ea typeface="Calibri"/>
              <a:cs typeface="Calibri"/>
              <a:sym typeface="Calibri"/>
            </a:endParaRPr>
          </a:p>
        </p:txBody>
      </p:sp>
      <p:sp>
        <p:nvSpPr>
          <p:cNvPr id="775" name="Google Shape;775;p30"/>
          <p:cNvSpPr txBox="1"/>
          <p:nvPr/>
        </p:nvSpPr>
        <p:spPr>
          <a:xfrm>
            <a:off x="685800" y="537667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MAIZE × CLOCK 1 · PEOPLE + ASSETS</a:t>
            </a:r>
            <a:endParaRPr b="0" i="0" sz="800" u="none" cap="none" strike="noStrike">
              <a:solidFill>
                <a:schemeClr val="dk1"/>
              </a:solidFill>
              <a:latin typeface="Calibri"/>
              <a:ea typeface="Calibri"/>
              <a:cs typeface="Calibri"/>
              <a:sym typeface="Calibri"/>
            </a:endParaRPr>
          </a:p>
        </p:txBody>
      </p:sp>
      <p:sp>
        <p:nvSpPr>
          <p:cNvPr id="776" name="Google Shape;776;p30"/>
          <p:cNvSpPr/>
          <p:nvPr/>
        </p:nvSpPr>
        <p:spPr>
          <a:xfrm>
            <a:off x="4282440" y="367588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0"/>
          <p:cNvSpPr txBox="1"/>
          <p:nvPr/>
        </p:nvSpPr>
        <p:spPr>
          <a:xfrm>
            <a:off x="4465320" y="379476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WEST AFRICA</a:t>
            </a:r>
            <a:endParaRPr b="0" i="0" sz="800" u="none" cap="none" strike="noStrike">
              <a:solidFill>
                <a:schemeClr val="dk1"/>
              </a:solidFill>
              <a:latin typeface="Calibri"/>
              <a:ea typeface="Calibri"/>
              <a:cs typeface="Calibri"/>
              <a:sym typeface="Calibri"/>
            </a:endParaRPr>
          </a:p>
        </p:txBody>
      </p:sp>
      <p:sp>
        <p:nvSpPr>
          <p:cNvPr id="778" name="Google Shape;778;p30"/>
          <p:cNvSpPr txBox="1"/>
          <p:nvPr/>
        </p:nvSpPr>
        <p:spPr>
          <a:xfrm>
            <a:off x="4465320" y="398678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P-LOCUST — desert locust risk</a:t>
            </a:r>
            <a:endParaRPr b="0" i="0" sz="1250" u="none" cap="none" strike="noStrike">
              <a:solidFill>
                <a:schemeClr val="dk1"/>
              </a:solidFill>
              <a:latin typeface="Calibri"/>
              <a:ea typeface="Calibri"/>
              <a:cs typeface="Calibri"/>
              <a:sym typeface="Calibri"/>
            </a:endParaRPr>
          </a:p>
        </p:txBody>
      </p:sp>
      <p:sp>
        <p:nvSpPr>
          <p:cNvPr id="779" name="Google Shape;779;p30"/>
          <p:cNvSpPr txBox="1"/>
          <p:nvPr/>
        </p:nvSpPr>
        <p:spPr>
          <a:xfrm>
            <a:off x="4465320" y="444398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AGRHYMET Regional Centre, CLCPRO, CIRAD</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Where to concentrate monitoring and preventive control before an outbreak</a:t>
            </a:r>
            <a:endParaRPr b="0" i="0" sz="800" u="none" cap="none" strike="noStrike">
              <a:solidFill>
                <a:schemeClr val="dk1"/>
              </a:solidFill>
              <a:latin typeface="Calibri"/>
              <a:ea typeface="Calibri"/>
              <a:cs typeface="Calibri"/>
              <a:sym typeface="Calibri"/>
            </a:endParaRPr>
          </a:p>
        </p:txBody>
      </p:sp>
      <p:sp>
        <p:nvSpPr>
          <p:cNvPr id="780" name="Google Shape;780;p30"/>
          <p:cNvSpPr txBox="1"/>
          <p:nvPr/>
        </p:nvSpPr>
        <p:spPr>
          <a:xfrm>
            <a:off x="4465320" y="537667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SORGHUM/MILLET × CLOCK 1 · ENVIRONMENT</a:t>
            </a:r>
            <a:endParaRPr b="0" i="0" sz="800" u="none" cap="none" strike="noStrike">
              <a:solidFill>
                <a:schemeClr val="dk1"/>
              </a:solidFill>
              <a:latin typeface="Calibri"/>
              <a:ea typeface="Calibri"/>
              <a:cs typeface="Calibri"/>
              <a:sym typeface="Calibri"/>
            </a:endParaRPr>
          </a:p>
        </p:txBody>
      </p:sp>
      <p:sp>
        <p:nvSpPr>
          <p:cNvPr id="781" name="Google Shape;781;p30"/>
          <p:cNvSpPr/>
          <p:nvPr/>
        </p:nvSpPr>
        <p:spPr>
          <a:xfrm>
            <a:off x="8061960" y="367588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0"/>
          <p:cNvSpPr txBox="1"/>
          <p:nvPr/>
        </p:nvSpPr>
        <p:spPr>
          <a:xfrm>
            <a:off x="8244840" y="379476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WEST AFRICA · ICRISAT</a:t>
            </a:r>
            <a:endParaRPr b="0" i="0" sz="800" u="none" cap="none" strike="noStrike">
              <a:solidFill>
                <a:schemeClr val="dk1"/>
              </a:solidFill>
              <a:latin typeface="Calibri"/>
              <a:ea typeface="Calibri"/>
              <a:cs typeface="Calibri"/>
              <a:sym typeface="Calibri"/>
            </a:endParaRPr>
          </a:p>
        </p:txBody>
      </p:sp>
      <p:sp>
        <p:nvSpPr>
          <p:cNvPr id="783" name="Google Shape;783;p30"/>
          <p:cNvSpPr txBox="1"/>
          <p:nvPr/>
        </p:nvSpPr>
        <p:spPr>
          <a:xfrm>
            <a:off x="8244840" y="398678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WENDOU — pastoral water, Senegal</a:t>
            </a:r>
            <a:endParaRPr b="0" i="0" sz="1250" u="none" cap="none" strike="noStrike">
              <a:solidFill>
                <a:schemeClr val="dk1"/>
              </a:solidFill>
              <a:latin typeface="Calibri"/>
              <a:ea typeface="Calibri"/>
              <a:cs typeface="Calibri"/>
              <a:sym typeface="Calibri"/>
            </a:endParaRPr>
          </a:p>
        </p:txBody>
      </p:sp>
      <p:sp>
        <p:nvSpPr>
          <p:cNvPr id="784" name="Google Shape;784;p30"/>
          <p:cNvSpPr txBox="1"/>
          <p:nvPr/>
        </p:nvSpPr>
        <p:spPr>
          <a:xfrm>
            <a:off x="8244840" y="444398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AVSF; Jokalante (radio/SMS delivery)</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Where pastoralists move livestock around seasonal pond availability</a:t>
            </a:r>
            <a:endParaRPr b="0" i="0" sz="800" u="none" cap="none" strike="noStrike">
              <a:solidFill>
                <a:schemeClr val="dk1"/>
              </a:solidFill>
              <a:latin typeface="Calibri"/>
              <a:ea typeface="Calibri"/>
              <a:cs typeface="Calibri"/>
              <a:sym typeface="Calibri"/>
            </a:endParaRPr>
          </a:p>
        </p:txBody>
      </p:sp>
      <p:sp>
        <p:nvSpPr>
          <p:cNvPr id="785" name="Google Shape;785;p30"/>
          <p:cNvSpPr txBox="1"/>
          <p:nvPr/>
        </p:nvSpPr>
        <p:spPr>
          <a:xfrm>
            <a:off x="8244840" y="537667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RANGELAND FORAGE × CLOCK 1 · PEOPLE</a:t>
            </a:r>
            <a:endParaRPr b="0" i="0" sz="800" u="none" cap="none" strike="noStrike">
              <a:solidFill>
                <a:schemeClr val="dk1"/>
              </a:solidFill>
              <a:latin typeface="Calibri"/>
              <a:ea typeface="Calibri"/>
              <a:cs typeface="Calibri"/>
              <a:sym typeface="Calibri"/>
            </a:endParaRPr>
          </a:p>
        </p:txBody>
      </p:sp>
      <p:sp>
        <p:nvSpPr>
          <p:cNvPr id="786" name="Google Shape;786;p30"/>
          <p:cNvSpPr/>
          <p:nvPr/>
        </p:nvSpPr>
        <p:spPr>
          <a:xfrm>
            <a:off x="502920" y="5779008"/>
            <a:ext cx="11155680" cy="594360"/>
          </a:xfrm>
          <a:prstGeom prst="roundRect">
            <a:avLst>
              <a:gd fmla="val 9231"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0"/>
          <p:cNvSpPr txBox="1"/>
          <p:nvPr/>
        </p:nvSpPr>
        <p:spPr>
          <a:xfrm>
            <a:off x="713232" y="5870448"/>
            <a:ext cx="10789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Hub-sequencing mismatch, restated against the evidence.  </a:t>
            </a:r>
            <a:r>
              <a:rPr b="0" i="0" lang="en-US" sz="1150" u="none" cap="none" strike="noStrike">
                <a:solidFill>
                  <a:srgbClr val="4D5763"/>
                </a:solidFill>
                <a:latin typeface="Calibri"/>
                <a:ea typeface="Calibri"/>
                <a:cs typeface="Calibri"/>
                <a:sym typeface="Calibri"/>
              </a:rPr>
              <a:t>The PDD names South Asia, Tropical South America and Mesoamerica as associated hubs — but documented demand clusters in Eastern &amp; Southern Africa and West Africa, matching the 9 and 3 hub-submitted cases. Decision #8's residual.</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31"/>
          <p:cNvSpPr/>
          <p:nvPr/>
        </p:nvSpPr>
        <p:spPr>
          <a:xfrm>
            <a:off x="0" y="0"/>
            <a:ext cx="12161520" cy="6858000"/>
          </a:xfrm>
          <a:prstGeom prst="rect">
            <a:avLst/>
          </a:prstGeom>
          <a:solidFill>
            <a:srgbClr val="1C21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1"/>
          <p:cNvSpPr/>
          <p:nvPr/>
        </p:nvSpPr>
        <p:spPr>
          <a:xfrm>
            <a:off x="9509760" y="-1280160"/>
            <a:ext cx="4754880" cy="4754880"/>
          </a:xfrm>
          <a:prstGeom prst="ellipse">
            <a:avLst/>
          </a:prstGeom>
          <a:solidFill>
            <a:srgbClr val="1A6389">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1"/>
          <p:cNvSpPr txBox="1"/>
          <p:nvPr/>
        </p:nvSpPr>
        <p:spPr>
          <a:xfrm>
            <a:off x="822960" y="228600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D8C8"/>
              </a:buClr>
              <a:buSzPts val="1500"/>
              <a:buFont typeface="Consolas"/>
              <a:buNone/>
            </a:pPr>
            <a:r>
              <a:rPr b="0" i="0" lang="en-US" sz="1500" u="none" cap="none" strike="noStrike">
                <a:solidFill>
                  <a:srgbClr val="7CD8C8"/>
                </a:solidFill>
                <a:latin typeface="Consolas"/>
                <a:ea typeface="Consolas"/>
                <a:cs typeface="Consolas"/>
                <a:sym typeface="Consolas"/>
              </a:rPr>
              <a:t>06</a:t>
            </a:r>
            <a:endParaRPr b="0" i="0" sz="1500" u="none" cap="none" strike="noStrike">
              <a:solidFill>
                <a:schemeClr val="dk1"/>
              </a:solidFill>
              <a:latin typeface="Calibri"/>
              <a:ea typeface="Calibri"/>
              <a:cs typeface="Calibri"/>
              <a:sym typeface="Calibri"/>
            </a:endParaRPr>
          </a:p>
        </p:txBody>
      </p:sp>
      <p:sp>
        <p:nvSpPr>
          <p:cNvPr id="796" name="Google Shape;796;p31"/>
          <p:cNvSpPr txBox="1"/>
          <p:nvPr/>
        </p:nvSpPr>
        <p:spPr>
          <a:xfrm>
            <a:off x="822960" y="2743200"/>
            <a:ext cx="96012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Roboto Condensed"/>
              <a:buNone/>
            </a:pPr>
            <a:r>
              <a:rPr b="1" i="0" lang="en-US" sz="4000" u="none" cap="none" strike="noStrike">
                <a:solidFill>
                  <a:srgbClr val="FFFFFF"/>
                </a:solidFill>
                <a:latin typeface="Roboto Condensed"/>
                <a:ea typeface="Roboto Condensed"/>
                <a:cs typeface="Roboto Condensed"/>
                <a:sym typeface="Roboto Condensed"/>
              </a:rPr>
              <a:t>Natural Resource Management</a:t>
            </a:r>
            <a:endParaRPr b="0" i="0" sz="4000" u="none" cap="none" strike="noStrike">
              <a:solidFill>
                <a:schemeClr val="dk1"/>
              </a:solidFill>
              <a:latin typeface="Calibri"/>
              <a:ea typeface="Calibri"/>
              <a:cs typeface="Calibri"/>
              <a:sym typeface="Calibri"/>
            </a:endParaRPr>
          </a:p>
        </p:txBody>
      </p:sp>
      <p:sp>
        <p:nvSpPr>
          <p:cNvPr id="797" name="Google Shape;797;p31"/>
          <p:cNvSpPr txBox="1"/>
          <p:nvPr/>
        </p:nvSpPr>
        <p:spPr>
          <a:xfrm>
            <a:off x="822960" y="3840480"/>
            <a:ext cx="87782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D6E6"/>
              </a:buClr>
              <a:buSzPts val="1500"/>
              <a:buFont typeface="Calibri"/>
              <a:buNone/>
            </a:pPr>
            <a:r>
              <a:rPr b="0" i="0" lang="en-US" sz="1500" u="none" cap="none" strike="noStrike">
                <a:solidFill>
                  <a:srgbClr val="C4D6E6"/>
                </a:solidFill>
                <a:latin typeface="Calibri"/>
                <a:ea typeface="Calibri"/>
                <a:cs typeface="Calibri"/>
                <a:sym typeface="Calibri"/>
              </a:rPr>
              <a:t>LCEM. Five PDD components resolve into twelve monitoring themes on the same three clocks. Guardrail: MRV data — never credits.</a:t>
            </a:r>
            <a:endParaRPr b="0" i="0" sz="1500" u="none" cap="none" strike="noStrike">
              <a:solidFill>
                <a:schemeClr val="dk1"/>
              </a:solidFill>
              <a:latin typeface="Calibri"/>
              <a:ea typeface="Calibri"/>
              <a:cs typeface="Calibri"/>
              <a:sym typeface="Calibri"/>
            </a:endParaRPr>
          </a:p>
        </p:txBody>
      </p:sp>
      <p:sp>
        <p:nvSpPr>
          <p:cNvPr id="798" name="Google Shape;798;p31"/>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8CA8"/>
              </a:buClr>
              <a:buSzPts val="800"/>
              <a:buFont typeface="Consolas"/>
              <a:buNone/>
            </a:pPr>
            <a:r>
              <a:rPr b="0" i="0" lang="en-US" sz="800" u="none" cap="none" strike="noStrike">
                <a:solidFill>
                  <a:srgbClr val="6E8CA8"/>
                </a:solidFill>
                <a:latin typeface="Consolas"/>
                <a:ea typeface="Consolas"/>
                <a:cs typeface="Consolas"/>
                <a:sym typeface="Consolas"/>
              </a:rPr>
              <a:t>27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32"/>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Fig. 6 — The NRM build matrix</a:t>
            </a:r>
            <a:endParaRPr b="0" i="0" sz="3000" u="none" cap="none" strike="noStrike">
              <a:solidFill>
                <a:schemeClr val="dk1"/>
              </a:solidFill>
              <a:latin typeface="Calibri"/>
              <a:ea typeface="Calibri"/>
              <a:cs typeface="Calibri"/>
              <a:sym typeface="Calibri"/>
            </a:endParaRPr>
          </a:p>
        </p:txBody>
      </p:sp>
      <p:sp>
        <p:nvSpPr>
          <p:cNvPr id="805" name="Google Shape;805;p32"/>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806" name="Google Shape;806;p32"/>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§06</a:t>
            </a:r>
            <a:endParaRPr b="0" i="0" sz="800" u="none" cap="none" strike="noStrike">
              <a:solidFill>
                <a:schemeClr val="dk1"/>
              </a:solidFill>
              <a:latin typeface="Calibri"/>
              <a:ea typeface="Calibri"/>
              <a:cs typeface="Calibri"/>
              <a:sym typeface="Calibri"/>
            </a:endParaRPr>
          </a:p>
        </p:txBody>
      </p:sp>
      <p:sp>
        <p:nvSpPr>
          <p:cNvPr id="807" name="Google Shape;807;p32"/>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28</a:t>
            </a:r>
            <a:endParaRPr b="0" i="0" sz="800" u="none" cap="none" strike="noStrike">
              <a:solidFill>
                <a:schemeClr val="dk1"/>
              </a:solidFill>
              <a:latin typeface="Calibri"/>
              <a:ea typeface="Calibri"/>
              <a:cs typeface="Calibri"/>
              <a:sym typeface="Calibri"/>
            </a:endParaRPr>
          </a:p>
        </p:txBody>
      </p:sp>
      <p:sp>
        <p:nvSpPr>
          <p:cNvPr id="808" name="Google Shape;808;p32"/>
          <p:cNvSpPr txBox="1"/>
          <p:nvPr/>
        </p:nvSpPr>
        <p:spPr>
          <a:xfrm>
            <a:off x="2898648" y="1097280"/>
            <a:ext cx="2825496" cy="34747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6389"/>
              </a:buClr>
              <a:buSzPts val="900"/>
              <a:buFont typeface="Consolas"/>
              <a:buNone/>
            </a:pPr>
            <a:r>
              <a:rPr b="0" i="0" lang="en-US" sz="900" u="none" cap="none" strike="noStrike">
                <a:solidFill>
                  <a:srgbClr val="1A6389"/>
                </a:solidFill>
                <a:latin typeface="Consolas"/>
                <a:ea typeface="Consolas"/>
                <a:cs typeface="Consolas"/>
                <a:sym typeface="Consolas"/>
              </a:rPr>
              <a:t>CLOCK 1 · CHANGE ALERTS</a:t>
            </a:r>
            <a:endParaRPr b="0" i="0" sz="900" u="none" cap="none" strike="noStrike">
              <a:solidFill>
                <a:schemeClr val="dk1"/>
              </a:solidFill>
              <a:latin typeface="Calibri"/>
              <a:ea typeface="Calibri"/>
              <a:cs typeface="Calibri"/>
              <a:sym typeface="Calibri"/>
            </a:endParaRPr>
          </a:p>
        </p:txBody>
      </p:sp>
      <p:sp>
        <p:nvSpPr>
          <p:cNvPr id="809" name="Google Shape;809;p32"/>
          <p:cNvSpPr txBox="1"/>
          <p:nvPr/>
        </p:nvSpPr>
        <p:spPr>
          <a:xfrm>
            <a:off x="5792724" y="1097280"/>
            <a:ext cx="2825496" cy="34747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6389"/>
              </a:buClr>
              <a:buSzPts val="900"/>
              <a:buFont typeface="Consolas"/>
              <a:buNone/>
            </a:pPr>
            <a:r>
              <a:rPr b="0" i="0" lang="en-US" sz="900" u="none" cap="none" strike="noStrike">
                <a:solidFill>
                  <a:srgbClr val="1A6389"/>
                </a:solidFill>
                <a:latin typeface="Consolas"/>
                <a:ea typeface="Consolas"/>
                <a:cs typeface="Consolas"/>
                <a:sym typeface="Consolas"/>
              </a:rPr>
              <a:t>CLOCK 2 · ANNUAL ACCOUNTING</a:t>
            </a:r>
            <a:endParaRPr b="0" i="0" sz="900" u="none" cap="none" strike="noStrike">
              <a:solidFill>
                <a:schemeClr val="dk1"/>
              </a:solidFill>
              <a:latin typeface="Calibri"/>
              <a:ea typeface="Calibri"/>
              <a:cs typeface="Calibri"/>
              <a:sym typeface="Calibri"/>
            </a:endParaRPr>
          </a:p>
        </p:txBody>
      </p:sp>
      <p:sp>
        <p:nvSpPr>
          <p:cNvPr id="810" name="Google Shape;810;p32"/>
          <p:cNvSpPr txBox="1"/>
          <p:nvPr/>
        </p:nvSpPr>
        <p:spPr>
          <a:xfrm>
            <a:off x="8686800" y="1097280"/>
            <a:ext cx="2825496" cy="34747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1A6389"/>
              </a:buClr>
              <a:buSzPts val="900"/>
              <a:buFont typeface="Consolas"/>
              <a:buNone/>
            </a:pPr>
            <a:r>
              <a:rPr b="0" i="0" lang="en-US" sz="900" u="none" cap="none" strike="noStrike">
                <a:solidFill>
                  <a:srgbClr val="1A6389"/>
                </a:solidFill>
                <a:latin typeface="Consolas"/>
                <a:ea typeface="Consolas"/>
                <a:cs typeface="Consolas"/>
                <a:sym typeface="Consolas"/>
              </a:rPr>
              <a:t>CLOCK 3 · SCENARIO &amp; CLIMATE</a:t>
            </a:r>
            <a:endParaRPr b="0" i="0" sz="900" u="none" cap="none" strike="noStrike">
              <a:solidFill>
                <a:schemeClr val="dk1"/>
              </a:solidFill>
              <a:latin typeface="Calibri"/>
              <a:ea typeface="Calibri"/>
              <a:cs typeface="Calibri"/>
              <a:sym typeface="Calibri"/>
            </a:endParaRPr>
          </a:p>
        </p:txBody>
      </p:sp>
      <p:sp>
        <p:nvSpPr>
          <p:cNvPr id="811" name="Google Shape;811;p32"/>
          <p:cNvSpPr txBox="1"/>
          <p:nvPr/>
        </p:nvSpPr>
        <p:spPr>
          <a:xfrm>
            <a:off x="502920" y="1481328"/>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Land cover &amp; change</a:t>
            </a:r>
            <a:endParaRPr b="0" i="0" sz="1000" u="none" cap="none" strike="noStrike">
              <a:solidFill>
                <a:schemeClr val="dk1"/>
              </a:solidFill>
              <a:latin typeface="Calibri"/>
              <a:ea typeface="Calibri"/>
              <a:cs typeface="Calibri"/>
              <a:sym typeface="Calibri"/>
            </a:endParaRPr>
          </a:p>
        </p:txBody>
      </p:sp>
      <p:sp>
        <p:nvSpPr>
          <p:cNvPr id="812" name="Google Shape;812;p32"/>
          <p:cNvSpPr/>
          <p:nvPr/>
        </p:nvSpPr>
        <p:spPr>
          <a:xfrm>
            <a:off x="2898648" y="1481328"/>
            <a:ext cx="2825496" cy="297180"/>
          </a:xfrm>
          <a:prstGeom prst="roundRect">
            <a:avLst>
              <a:gd fmla="val 153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2"/>
          <p:cNvSpPr txBox="1"/>
          <p:nvPr/>
        </p:nvSpPr>
        <p:spPr>
          <a:xfrm>
            <a:off x="2990088" y="148132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RLCMS + GLAD / GFW alerts</a:t>
            </a:r>
            <a:endParaRPr b="0" i="0" sz="850" u="none" cap="none" strike="noStrike">
              <a:solidFill>
                <a:schemeClr val="dk1"/>
              </a:solidFill>
              <a:latin typeface="Calibri"/>
              <a:ea typeface="Calibri"/>
              <a:cs typeface="Calibri"/>
              <a:sym typeface="Calibri"/>
            </a:endParaRPr>
          </a:p>
        </p:txBody>
      </p:sp>
      <p:sp>
        <p:nvSpPr>
          <p:cNvPr id="814" name="Google Shape;814;p32"/>
          <p:cNvSpPr/>
          <p:nvPr/>
        </p:nvSpPr>
        <p:spPr>
          <a:xfrm>
            <a:off x="5792724" y="1481328"/>
            <a:ext cx="2825496" cy="297180"/>
          </a:xfrm>
          <a:prstGeom prst="roundRect">
            <a:avLst>
              <a:gd fmla="val 153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2"/>
          <p:cNvSpPr txBox="1"/>
          <p:nvPr/>
        </p:nvSpPr>
        <p:spPr>
          <a:xfrm>
            <a:off x="5884164" y="148132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RLCMS annual + CEO</a:t>
            </a:r>
            <a:endParaRPr b="0" i="0" sz="850" u="none" cap="none" strike="noStrike">
              <a:solidFill>
                <a:schemeClr val="dk1"/>
              </a:solidFill>
              <a:latin typeface="Calibri"/>
              <a:ea typeface="Calibri"/>
              <a:cs typeface="Calibri"/>
              <a:sym typeface="Calibri"/>
            </a:endParaRPr>
          </a:p>
        </p:txBody>
      </p:sp>
      <p:sp>
        <p:nvSpPr>
          <p:cNvPr id="816" name="Google Shape;816;p32"/>
          <p:cNvSpPr/>
          <p:nvPr/>
        </p:nvSpPr>
        <p:spPr>
          <a:xfrm>
            <a:off x="8686800" y="1481328"/>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2"/>
          <p:cNvSpPr txBox="1"/>
          <p:nvPr/>
        </p:nvSpPr>
        <p:spPr>
          <a:xfrm>
            <a:off x="8778240" y="148132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Land-use change scenarios</a:t>
            </a:r>
            <a:endParaRPr b="0" i="0" sz="850" u="none" cap="none" strike="noStrike">
              <a:solidFill>
                <a:schemeClr val="dk1"/>
              </a:solidFill>
              <a:latin typeface="Calibri"/>
              <a:ea typeface="Calibri"/>
              <a:cs typeface="Calibri"/>
              <a:sym typeface="Calibri"/>
            </a:endParaRPr>
          </a:p>
        </p:txBody>
      </p:sp>
      <p:sp>
        <p:nvSpPr>
          <p:cNvPr id="818" name="Google Shape;818;p32"/>
          <p:cNvSpPr txBox="1"/>
          <p:nvPr/>
        </p:nvSpPr>
        <p:spPr>
          <a:xfrm>
            <a:off x="502920" y="1828800"/>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Deforestation &amp; logging</a:t>
            </a:r>
            <a:endParaRPr b="0" i="0" sz="1000" u="none" cap="none" strike="noStrike">
              <a:solidFill>
                <a:schemeClr val="dk1"/>
              </a:solidFill>
              <a:latin typeface="Calibri"/>
              <a:ea typeface="Calibri"/>
              <a:cs typeface="Calibri"/>
              <a:sym typeface="Calibri"/>
            </a:endParaRPr>
          </a:p>
        </p:txBody>
      </p:sp>
      <p:sp>
        <p:nvSpPr>
          <p:cNvPr id="819" name="Google Shape;819;p32"/>
          <p:cNvSpPr/>
          <p:nvPr/>
        </p:nvSpPr>
        <p:spPr>
          <a:xfrm>
            <a:off x="2898648" y="1828800"/>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2"/>
          <p:cNvSpPr txBox="1"/>
          <p:nvPr/>
        </p:nvSpPr>
        <p:spPr>
          <a:xfrm>
            <a:off x="2990088" y="182880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GFW integrated alerts</a:t>
            </a:r>
            <a:endParaRPr b="0" i="0" sz="850" u="none" cap="none" strike="noStrike">
              <a:solidFill>
                <a:schemeClr val="dk1"/>
              </a:solidFill>
              <a:latin typeface="Calibri"/>
              <a:ea typeface="Calibri"/>
              <a:cs typeface="Calibri"/>
              <a:sym typeface="Calibri"/>
            </a:endParaRPr>
          </a:p>
        </p:txBody>
      </p:sp>
      <p:sp>
        <p:nvSpPr>
          <p:cNvPr id="821" name="Google Shape;821;p32"/>
          <p:cNvSpPr/>
          <p:nvPr/>
        </p:nvSpPr>
        <p:spPr>
          <a:xfrm>
            <a:off x="5792724" y="1828800"/>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2"/>
          <p:cNvSpPr txBox="1"/>
          <p:nvPr/>
        </p:nvSpPr>
        <p:spPr>
          <a:xfrm>
            <a:off x="5884164" y="182880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Annual forest-loss area</a:t>
            </a:r>
            <a:endParaRPr b="0" i="0" sz="850" u="none" cap="none" strike="noStrike">
              <a:solidFill>
                <a:schemeClr val="dk1"/>
              </a:solidFill>
              <a:latin typeface="Calibri"/>
              <a:ea typeface="Calibri"/>
              <a:cs typeface="Calibri"/>
              <a:sym typeface="Calibri"/>
            </a:endParaRPr>
          </a:p>
        </p:txBody>
      </p:sp>
      <p:sp>
        <p:nvSpPr>
          <p:cNvPr id="823" name="Google Shape;823;p32"/>
          <p:cNvSpPr/>
          <p:nvPr/>
        </p:nvSpPr>
        <p:spPr>
          <a:xfrm>
            <a:off x="8686800" y="1828800"/>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2"/>
          <p:cNvSpPr txBox="1"/>
          <p:nvPr/>
        </p:nvSpPr>
        <p:spPr>
          <a:xfrm>
            <a:off x="8778240" y="182880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Driver-based scenarios</a:t>
            </a:r>
            <a:endParaRPr b="0" i="0" sz="850" u="none" cap="none" strike="noStrike">
              <a:solidFill>
                <a:schemeClr val="dk1"/>
              </a:solidFill>
              <a:latin typeface="Calibri"/>
              <a:ea typeface="Calibri"/>
              <a:cs typeface="Calibri"/>
              <a:sym typeface="Calibri"/>
            </a:endParaRPr>
          </a:p>
        </p:txBody>
      </p:sp>
      <p:sp>
        <p:nvSpPr>
          <p:cNvPr id="825" name="Google Shape;825;p32"/>
          <p:cNvSpPr txBox="1"/>
          <p:nvPr/>
        </p:nvSpPr>
        <p:spPr>
          <a:xfrm>
            <a:off x="502920" y="2176272"/>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Illegal gold mining</a:t>
            </a:r>
            <a:endParaRPr b="0" i="0" sz="1000" u="none" cap="none" strike="noStrike">
              <a:solidFill>
                <a:schemeClr val="dk1"/>
              </a:solidFill>
              <a:latin typeface="Calibri"/>
              <a:ea typeface="Calibri"/>
              <a:cs typeface="Calibri"/>
              <a:sym typeface="Calibri"/>
            </a:endParaRPr>
          </a:p>
        </p:txBody>
      </p:sp>
      <p:sp>
        <p:nvSpPr>
          <p:cNvPr id="826" name="Google Shape;826;p32"/>
          <p:cNvSpPr/>
          <p:nvPr/>
        </p:nvSpPr>
        <p:spPr>
          <a:xfrm>
            <a:off x="2898648" y="2176272"/>
            <a:ext cx="2825496" cy="297180"/>
          </a:xfrm>
          <a:prstGeom prst="roundRect">
            <a:avLst>
              <a:gd fmla="val 153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2"/>
          <p:cNvSpPr txBox="1"/>
          <p:nvPr/>
        </p:nvSpPr>
        <p:spPr>
          <a:xfrm>
            <a:off x="2990088" y="2176272"/>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CoMiMo + RAMI, SAR</a:t>
            </a:r>
            <a:endParaRPr b="0" i="0" sz="850" u="none" cap="none" strike="noStrike">
              <a:solidFill>
                <a:schemeClr val="dk1"/>
              </a:solidFill>
              <a:latin typeface="Calibri"/>
              <a:ea typeface="Calibri"/>
              <a:cs typeface="Calibri"/>
              <a:sym typeface="Calibri"/>
            </a:endParaRPr>
          </a:p>
        </p:txBody>
      </p:sp>
      <p:sp>
        <p:nvSpPr>
          <p:cNvPr id="828" name="Google Shape;828;p32"/>
          <p:cNvSpPr/>
          <p:nvPr/>
        </p:nvSpPr>
        <p:spPr>
          <a:xfrm>
            <a:off x="5792724" y="2176272"/>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2"/>
          <p:cNvSpPr txBox="1"/>
          <p:nvPr/>
        </p:nvSpPr>
        <p:spPr>
          <a:xfrm>
            <a:off x="5884164" y="2176272"/>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Mined-area accounting</a:t>
            </a:r>
            <a:endParaRPr b="0" i="0" sz="850" u="none" cap="none" strike="noStrike">
              <a:solidFill>
                <a:schemeClr val="dk1"/>
              </a:solidFill>
              <a:latin typeface="Calibri"/>
              <a:ea typeface="Calibri"/>
              <a:cs typeface="Calibri"/>
              <a:sym typeface="Calibri"/>
            </a:endParaRPr>
          </a:p>
        </p:txBody>
      </p:sp>
      <p:sp>
        <p:nvSpPr>
          <p:cNvPr id="830" name="Google Shape;830;p32"/>
          <p:cNvSpPr/>
          <p:nvPr/>
        </p:nvSpPr>
        <p:spPr>
          <a:xfrm>
            <a:off x="8686800" y="2176272"/>
            <a:ext cx="2825496" cy="297180"/>
          </a:xfrm>
          <a:prstGeom prst="roundRect">
            <a:avLst>
              <a:gd fmla="val 15385" name="adj"/>
            </a:avLst>
          </a:prstGeom>
          <a:solidFill>
            <a:srgbClr val="EEF1F4"/>
          </a:solidFill>
          <a:ln cap="flat" cmpd="sng" w="9525">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2"/>
          <p:cNvSpPr txBox="1"/>
          <p:nvPr/>
        </p:nvSpPr>
        <p:spPr>
          <a:xfrm>
            <a:off x="8778240" y="2176272"/>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50"/>
              <a:buFont typeface="Calibri"/>
              <a:buNone/>
            </a:pPr>
            <a:r>
              <a:rPr b="0" i="0" lang="en-US" sz="850" u="none" cap="none" strike="noStrike">
                <a:solidFill>
                  <a:srgbClr val="6D6E71"/>
                </a:solidFill>
                <a:latin typeface="Calibri"/>
                <a:ea typeface="Calibri"/>
                <a:cs typeface="Calibri"/>
                <a:sym typeface="Calibri"/>
              </a:rPr>
              <a:t>Price-driven, not climate</a:t>
            </a:r>
            <a:endParaRPr b="0" i="0" sz="850" u="none" cap="none" strike="noStrike">
              <a:solidFill>
                <a:schemeClr val="dk1"/>
              </a:solidFill>
              <a:latin typeface="Calibri"/>
              <a:ea typeface="Calibri"/>
              <a:cs typeface="Calibri"/>
              <a:sym typeface="Calibri"/>
            </a:endParaRPr>
          </a:p>
        </p:txBody>
      </p:sp>
      <p:sp>
        <p:nvSpPr>
          <p:cNvPr id="832" name="Google Shape;832;p32"/>
          <p:cNvSpPr txBox="1"/>
          <p:nvPr/>
        </p:nvSpPr>
        <p:spPr>
          <a:xfrm>
            <a:off x="502920" y="2523744"/>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Charcoal &amp; fuelwood</a:t>
            </a:r>
            <a:endParaRPr b="0" i="0" sz="1000" u="none" cap="none" strike="noStrike">
              <a:solidFill>
                <a:schemeClr val="dk1"/>
              </a:solidFill>
              <a:latin typeface="Calibri"/>
              <a:ea typeface="Calibri"/>
              <a:cs typeface="Calibri"/>
              <a:sym typeface="Calibri"/>
            </a:endParaRPr>
          </a:p>
        </p:txBody>
      </p:sp>
      <p:sp>
        <p:nvSpPr>
          <p:cNvPr id="833" name="Google Shape;833;p32"/>
          <p:cNvSpPr/>
          <p:nvPr/>
        </p:nvSpPr>
        <p:spPr>
          <a:xfrm>
            <a:off x="2898648" y="2523744"/>
            <a:ext cx="2825496" cy="297180"/>
          </a:xfrm>
          <a:prstGeom prst="roundRect">
            <a:avLst>
              <a:gd fmla="val 153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2"/>
          <p:cNvSpPr txBox="1"/>
          <p:nvPr/>
        </p:nvSpPr>
        <p:spPr>
          <a:xfrm>
            <a:off x="2990088" y="2523744"/>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Ghana CERSGIS portal</a:t>
            </a:r>
            <a:endParaRPr b="0" i="0" sz="850" u="none" cap="none" strike="noStrike">
              <a:solidFill>
                <a:schemeClr val="dk1"/>
              </a:solidFill>
              <a:latin typeface="Calibri"/>
              <a:ea typeface="Calibri"/>
              <a:cs typeface="Calibri"/>
              <a:sym typeface="Calibri"/>
            </a:endParaRPr>
          </a:p>
        </p:txBody>
      </p:sp>
      <p:sp>
        <p:nvSpPr>
          <p:cNvPr id="835" name="Google Shape;835;p32"/>
          <p:cNvSpPr/>
          <p:nvPr/>
        </p:nvSpPr>
        <p:spPr>
          <a:xfrm>
            <a:off x="5792724" y="2523744"/>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2"/>
          <p:cNvSpPr txBox="1"/>
          <p:nvPr/>
        </p:nvSpPr>
        <p:spPr>
          <a:xfrm>
            <a:off x="5884164" y="2523744"/>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Degradation accounting</a:t>
            </a:r>
            <a:endParaRPr b="0" i="0" sz="850" u="none" cap="none" strike="noStrike">
              <a:solidFill>
                <a:schemeClr val="dk1"/>
              </a:solidFill>
              <a:latin typeface="Calibri"/>
              <a:ea typeface="Calibri"/>
              <a:cs typeface="Calibri"/>
              <a:sym typeface="Calibri"/>
            </a:endParaRPr>
          </a:p>
        </p:txBody>
      </p:sp>
      <p:sp>
        <p:nvSpPr>
          <p:cNvPr id="837" name="Google Shape;837;p32"/>
          <p:cNvSpPr/>
          <p:nvPr/>
        </p:nvSpPr>
        <p:spPr>
          <a:xfrm>
            <a:off x="8686800" y="2523744"/>
            <a:ext cx="2825496" cy="297180"/>
          </a:xfrm>
          <a:prstGeom prst="roundRect">
            <a:avLst>
              <a:gd fmla="val 15385" name="adj"/>
            </a:avLst>
          </a:prstGeom>
          <a:solidFill>
            <a:srgbClr val="F7E8E8"/>
          </a:solidFill>
          <a:ln cap="flat" cmpd="sng" w="952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2"/>
          <p:cNvSpPr txBox="1"/>
          <p:nvPr/>
        </p:nvSpPr>
        <p:spPr>
          <a:xfrm>
            <a:off x="8778240" y="2523744"/>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Needs household-energy data</a:t>
            </a:r>
            <a:endParaRPr b="0" i="0" sz="850" u="none" cap="none" strike="noStrike">
              <a:solidFill>
                <a:schemeClr val="dk1"/>
              </a:solidFill>
              <a:latin typeface="Calibri"/>
              <a:ea typeface="Calibri"/>
              <a:cs typeface="Calibri"/>
              <a:sym typeface="Calibri"/>
            </a:endParaRPr>
          </a:p>
        </p:txBody>
      </p:sp>
      <p:sp>
        <p:nvSpPr>
          <p:cNvPr id="839" name="Google Shape;839;p32"/>
          <p:cNvSpPr txBox="1"/>
          <p:nvPr/>
        </p:nvSpPr>
        <p:spPr>
          <a:xfrm>
            <a:off x="502920" y="2871216"/>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Forest carbon stock</a:t>
            </a:r>
            <a:endParaRPr b="0" i="0" sz="1000" u="none" cap="none" strike="noStrike">
              <a:solidFill>
                <a:schemeClr val="dk1"/>
              </a:solidFill>
              <a:latin typeface="Calibri"/>
              <a:ea typeface="Calibri"/>
              <a:cs typeface="Calibri"/>
              <a:sym typeface="Calibri"/>
            </a:endParaRPr>
          </a:p>
        </p:txBody>
      </p:sp>
      <p:sp>
        <p:nvSpPr>
          <p:cNvPr id="840" name="Google Shape;840;p32"/>
          <p:cNvSpPr/>
          <p:nvPr/>
        </p:nvSpPr>
        <p:spPr>
          <a:xfrm>
            <a:off x="2898648" y="2871216"/>
            <a:ext cx="2825496" cy="297180"/>
          </a:xfrm>
          <a:prstGeom prst="roundRect">
            <a:avLst>
              <a:gd fmla="val 15385" name="adj"/>
            </a:avLst>
          </a:prstGeom>
          <a:solidFill>
            <a:srgbClr val="EEF1F4"/>
          </a:solidFill>
          <a:ln cap="flat" cmpd="sng" w="9525">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2"/>
          <p:cNvSpPr txBox="1"/>
          <p:nvPr/>
        </p:nvSpPr>
        <p:spPr>
          <a:xfrm>
            <a:off x="2990088" y="2871216"/>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50"/>
              <a:buFont typeface="Calibri"/>
              <a:buNone/>
            </a:pPr>
            <a:r>
              <a:rPr b="0" i="0" lang="en-US" sz="850" u="none" cap="none" strike="noStrike">
                <a:solidFill>
                  <a:srgbClr val="6D6E71"/>
                </a:solidFill>
                <a:latin typeface="Calibri"/>
                <a:ea typeface="Calibri"/>
                <a:cs typeface="Calibri"/>
                <a:sym typeface="Calibri"/>
              </a:rPr>
              <a:t>A stock, not an event</a:t>
            </a:r>
            <a:endParaRPr b="0" i="0" sz="850" u="none" cap="none" strike="noStrike">
              <a:solidFill>
                <a:schemeClr val="dk1"/>
              </a:solidFill>
              <a:latin typeface="Calibri"/>
              <a:ea typeface="Calibri"/>
              <a:cs typeface="Calibri"/>
              <a:sym typeface="Calibri"/>
            </a:endParaRPr>
          </a:p>
        </p:txBody>
      </p:sp>
      <p:sp>
        <p:nvSpPr>
          <p:cNvPr id="842" name="Google Shape;842;p32"/>
          <p:cNvSpPr/>
          <p:nvPr/>
        </p:nvSpPr>
        <p:spPr>
          <a:xfrm>
            <a:off x="5792724" y="2871216"/>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2"/>
          <p:cNvSpPr txBox="1"/>
          <p:nvPr/>
        </p:nvSpPr>
        <p:spPr>
          <a:xfrm>
            <a:off x="5884164" y="2871216"/>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CCI Biomass + GEDI</a:t>
            </a:r>
            <a:endParaRPr b="0" i="0" sz="850" u="none" cap="none" strike="noStrike">
              <a:solidFill>
                <a:schemeClr val="dk1"/>
              </a:solidFill>
              <a:latin typeface="Calibri"/>
              <a:ea typeface="Calibri"/>
              <a:cs typeface="Calibri"/>
              <a:sym typeface="Calibri"/>
            </a:endParaRPr>
          </a:p>
        </p:txBody>
      </p:sp>
      <p:sp>
        <p:nvSpPr>
          <p:cNvPr id="844" name="Google Shape;844;p32"/>
          <p:cNvSpPr/>
          <p:nvPr/>
        </p:nvSpPr>
        <p:spPr>
          <a:xfrm>
            <a:off x="8686800" y="2871216"/>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2"/>
          <p:cNvSpPr txBox="1"/>
          <p:nvPr/>
        </p:nvSpPr>
        <p:spPr>
          <a:xfrm>
            <a:off x="8778240" y="2871216"/>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Regrowth under climate</a:t>
            </a:r>
            <a:endParaRPr b="0" i="0" sz="850" u="none" cap="none" strike="noStrike">
              <a:solidFill>
                <a:schemeClr val="dk1"/>
              </a:solidFill>
              <a:latin typeface="Calibri"/>
              <a:ea typeface="Calibri"/>
              <a:cs typeface="Calibri"/>
              <a:sym typeface="Calibri"/>
            </a:endParaRPr>
          </a:p>
        </p:txBody>
      </p:sp>
      <p:sp>
        <p:nvSpPr>
          <p:cNvPr id="846" name="Google Shape;846;p32"/>
          <p:cNvSpPr txBox="1"/>
          <p:nvPr/>
        </p:nvSpPr>
        <p:spPr>
          <a:xfrm>
            <a:off x="502920" y="3218688"/>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REDD+ activity data</a:t>
            </a:r>
            <a:endParaRPr b="0" i="0" sz="1000" u="none" cap="none" strike="noStrike">
              <a:solidFill>
                <a:schemeClr val="dk1"/>
              </a:solidFill>
              <a:latin typeface="Calibri"/>
              <a:ea typeface="Calibri"/>
              <a:cs typeface="Calibri"/>
              <a:sym typeface="Calibri"/>
            </a:endParaRPr>
          </a:p>
        </p:txBody>
      </p:sp>
      <p:sp>
        <p:nvSpPr>
          <p:cNvPr id="847" name="Google Shape;847;p32"/>
          <p:cNvSpPr/>
          <p:nvPr/>
        </p:nvSpPr>
        <p:spPr>
          <a:xfrm>
            <a:off x="2898648" y="3218688"/>
            <a:ext cx="2825496" cy="297180"/>
          </a:xfrm>
          <a:prstGeom prst="roundRect">
            <a:avLst>
              <a:gd fmla="val 15385" name="adj"/>
            </a:avLst>
          </a:prstGeom>
          <a:solidFill>
            <a:srgbClr val="EEF1F4"/>
          </a:solidFill>
          <a:ln cap="flat" cmpd="sng" w="9525">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2"/>
          <p:cNvSpPr txBox="1"/>
          <p:nvPr/>
        </p:nvSpPr>
        <p:spPr>
          <a:xfrm>
            <a:off x="2990088" y="321868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50"/>
              <a:buFont typeface="Calibri"/>
              <a:buNone/>
            </a:pPr>
            <a:r>
              <a:rPr b="0" i="0" lang="en-US" sz="850" u="none" cap="none" strike="noStrike">
                <a:solidFill>
                  <a:srgbClr val="6D6E71"/>
                </a:solidFill>
                <a:latin typeface="Calibri"/>
                <a:ea typeface="Calibri"/>
                <a:cs typeface="Calibri"/>
                <a:sym typeface="Calibri"/>
              </a:rPr>
              <a:t>Annual cycle by design</a:t>
            </a:r>
            <a:endParaRPr b="0" i="0" sz="850" u="none" cap="none" strike="noStrike">
              <a:solidFill>
                <a:schemeClr val="dk1"/>
              </a:solidFill>
              <a:latin typeface="Calibri"/>
              <a:ea typeface="Calibri"/>
              <a:cs typeface="Calibri"/>
              <a:sym typeface="Calibri"/>
            </a:endParaRPr>
          </a:p>
        </p:txBody>
      </p:sp>
      <p:sp>
        <p:nvSpPr>
          <p:cNvPr id="849" name="Google Shape;849;p32"/>
          <p:cNvSpPr/>
          <p:nvPr/>
        </p:nvSpPr>
        <p:spPr>
          <a:xfrm>
            <a:off x="5792724" y="3218688"/>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2"/>
          <p:cNvSpPr txBox="1"/>
          <p:nvPr/>
        </p:nvSpPr>
        <p:spPr>
          <a:xfrm>
            <a:off x="5884164" y="321868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SEPAL (FAO Open Foris)</a:t>
            </a:r>
            <a:endParaRPr b="0" i="0" sz="850" u="none" cap="none" strike="noStrike">
              <a:solidFill>
                <a:schemeClr val="dk1"/>
              </a:solidFill>
              <a:latin typeface="Calibri"/>
              <a:ea typeface="Calibri"/>
              <a:cs typeface="Calibri"/>
              <a:sym typeface="Calibri"/>
            </a:endParaRPr>
          </a:p>
        </p:txBody>
      </p:sp>
      <p:sp>
        <p:nvSpPr>
          <p:cNvPr id="851" name="Google Shape;851;p32"/>
          <p:cNvSpPr/>
          <p:nvPr/>
        </p:nvSpPr>
        <p:spPr>
          <a:xfrm>
            <a:off x="8686800" y="3218688"/>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2"/>
          <p:cNvSpPr txBox="1"/>
          <p:nvPr/>
        </p:nvSpPr>
        <p:spPr>
          <a:xfrm>
            <a:off x="8778240" y="321868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FREL setting, GFOI/OpenMRV</a:t>
            </a:r>
            <a:endParaRPr b="0" i="0" sz="850" u="none" cap="none" strike="noStrike">
              <a:solidFill>
                <a:schemeClr val="dk1"/>
              </a:solidFill>
              <a:latin typeface="Calibri"/>
              <a:ea typeface="Calibri"/>
              <a:cs typeface="Calibri"/>
              <a:sym typeface="Calibri"/>
            </a:endParaRPr>
          </a:p>
        </p:txBody>
      </p:sp>
      <p:sp>
        <p:nvSpPr>
          <p:cNvPr id="853" name="Google Shape;853;p32"/>
          <p:cNvSpPr txBox="1"/>
          <p:nvPr/>
        </p:nvSpPr>
        <p:spPr>
          <a:xfrm>
            <a:off x="502920" y="3566160"/>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Mangroves &amp; coastal</a:t>
            </a:r>
            <a:endParaRPr b="0" i="0" sz="1000" u="none" cap="none" strike="noStrike">
              <a:solidFill>
                <a:schemeClr val="dk1"/>
              </a:solidFill>
              <a:latin typeface="Calibri"/>
              <a:ea typeface="Calibri"/>
              <a:cs typeface="Calibri"/>
              <a:sym typeface="Calibri"/>
            </a:endParaRPr>
          </a:p>
        </p:txBody>
      </p:sp>
      <p:sp>
        <p:nvSpPr>
          <p:cNvPr id="854" name="Google Shape;854;p32"/>
          <p:cNvSpPr/>
          <p:nvPr/>
        </p:nvSpPr>
        <p:spPr>
          <a:xfrm>
            <a:off x="2898648" y="3566160"/>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2"/>
          <p:cNvSpPr txBox="1"/>
          <p:nvPr/>
        </p:nvSpPr>
        <p:spPr>
          <a:xfrm>
            <a:off x="2990088" y="356616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SAR loss alerting</a:t>
            </a:r>
            <a:endParaRPr b="0" i="0" sz="850" u="none" cap="none" strike="noStrike">
              <a:solidFill>
                <a:schemeClr val="dk1"/>
              </a:solidFill>
              <a:latin typeface="Calibri"/>
              <a:ea typeface="Calibri"/>
              <a:cs typeface="Calibri"/>
              <a:sym typeface="Calibri"/>
            </a:endParaRPr>
          </a:p>
        </p:txBody>
      </p:sp>
      <p:sp>
        <p:nvSpPr>
          <p:cNvPr id="856" name="Google Shape;856;p32"/>
          <p:cNvSpPr/>
          <p:nvPr/>
        </p:nvSpPr>
        <p:spPr>
          <a:xfrm>
            <a:off x="5792724" y="3566160"/>
            <a:ext cx="2825496" cy="297180"/>
          </a:xfrm>
          <a:prstGeom prst="roundRect">
            <a:avLst>
              <a:gd fmla="val 153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2"/>
          <p:cNvSpPr txBox="1"/>
          <p:nvPr/>
        </p:nvSpPr>
        <p:spPr>
          <a:xfrm>
            <a:off x="5884164" y="356616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MANGLEE + GuyMIS</a:t>
            </a:r>
            <a:endParaRPr b="0" i="0" sz="850" u="none" cap="none" strike="noStrike">
              <a:solidFill>
                <a:schemeClr val="dk1"/>
              </a:solidFill>
              <a:latin typeface="Calibri"/>
              <a:ea typeface="Calibri"/>
              <a:cs typeface="Calibri"/>
              <a:sym typeface="Calibri"/>
            </a:endParaRPr>
          </a:p>
        </p:txBody>
      </p:sp>
      <p:sp>
        <p:nvSpPr>
          <p:cNvPr id="858" name="Google Shape;858;p32"/>
          <p:cNvSpPr/>
          <p:nvPr/>
        </p:nvSpPr>
        <p:spPr>
          <a:xfrm>
            <a:off x="8686800" y="3566160"/>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2"/>
          <p:cNvSpPr txBox="1"/>
          <p:nvPr/>
        </p:nvSpPr>
        <p:spPr>
          <a:xfrm>
            <a:off x="8778240" y="356616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Migration under SLR</a:t>
            </a:r>
            <a:endParaRPr b="0" i="0" sz="850" u="none" cap="none" strike="noStrike">
              <a:solidFill>
                <a:schemeClr val="dk1"/>
              </a:solidFill>
              <a:latin typeface="Calibri"/>
              <a:ea typeface="Calibri"/>
              <a:cs typeface="Calibri"/>
              <a:sym typeface="Calibri"/>
            </a:endParaRPr>
          </a:p>
        </p:txBody>
      </p:sp>
      <p:sp>
        <p:nvSpPr>
          <p:cNvPr id="860" name="Google Shape;860;p32"/>
          <p:cNvSpPr txBox="1"/>
          <p:nvPr/>
        </p:nvSpPr>
        <p:spPr>
          <a:xfrm>
            <a:off x="502920" y="3913632"/>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Wetlands &amp; inland water</a:t>
            </a:r>
            <a:endParaRPr b="0" i="0" sz="1000" u="none" cap="none" strike="noStrike">
              <a:solidFill>
                <a:schemeClr val="dk1"/>
              </a:solidFill>
              <a:latin typeface="Calibri"/>
              <a:ea typeface="Calibri"/>
              <a:cs typeface="Calibri"/>
              <a:sym typeface="Calibri"/>
            </a:endParaRPr>
          </a:p>
        </p:txBody>
      </p:sp>
      <p:sp>
        <p:nvSpPr>
          <p:cNvPr id="861" name="Google Shape;861;p32"/>
          <p:cNvSpPr/>
          <p:nvPr/>
        </p:nvSpPr>
        <p:spPr>
          <a:xfrm>
            <a:off x="2898648" y="3913632"/>
            <a:ext cx="2825496" cy="297180"/>
          </a:xfrm>
          <a:prstGeom prst="roundRect">
            <a:avLst>
              <a:gd fmla="val 153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2"/>
          <p:cNvSpPr txBox="1"/>
          <p:nvPr/>
        </p:nvSpPr>
        <p:spPr>
          <a:xfrm>
            <a:off x="2990088" y="3913632"/>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HydraFloods surface water</a:t>
            </a:r>
            <a:endParaRPr b="0" i="0" sz="850" u="none" cap="none" strike="noStrike">
              <a:solidFill>
                <a:schemeClr val="dk1"/>
              </a:solidFill>
              <a:latin typeface="Calibri"/>
              <a:ea typeface="Calibri"/>
              <a:cs typeface="Calibri"/>
              <a:sym typeface="Calibri"/>
            </a:endParaRPr>
          </a:p>
        </p:txBody>
      </p:sp>
      <p:sp>
        <p:nvSpPr>
          <p:cNvPr id="863" name="Google Shape;863;p32"/>
          <p:cNvSpPr/>
          <p:nvPr/>
        </p:nvSpPr>
        <p:spPr>
          <a:xfrm>
            <a:off x="5792724" y="3913632"/>
            <a:ext cx="2825496" cy="297180"/>
          </a:xfrm>
          <a:prstGeom prst="roundRect">
            <a:avLst>
              <a:gd fmla="val 153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32"/>
          <p:cNvSpPr txBox="1"/>
          <p:nvPr/>
        </p:nvSpPr>
        <p:spPr>
          <a:xfrm>
            <a:off x="5884164" y="3913632"/>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Extent + iSWIM quality</a:t>
            </a:r>
            <a:endParaRPr b="0" i="0" sz="850" u="none" cap="none" strike="noStrike">
              <a:solidFill>
                <a:schemeClr val="dk1"/>
              </a:solidFill>
              <a:latin typeface="Calibri"/>
              <a:ea typeface="Calibri"/>
              <a:cs typeface="Calibri"/>
              <a:sym typeface="Calibri"/>
            </a:endParaRPr>
          </a:p>
        </p:txBody>
      </p:sp>
      <p:sp>
        <p:nvSpPr>
          <p:cNvPr id="865" name="Google Shape;865;p32"/>
          <p:cNvSpPr/>
          <p:nvPr/>
        </p:nvSpPr>
        <p:spPr>
          <a:xfrm>
            <a:off x="8686800" y="3913632"/>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2"/>
          <p:cNvSpPr txBox="1"/>
          <p:nvPr/>
        </p:nvSpPr>
        <p:spPr>
          <a:xfrm>
            <a:off x="8778240" y="3913632"/>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CMIP6 via GEOGloWS</a:t>
            </a:r>
            <a:endParaRPr b="0" i="0" sz="850" u="none" cap="none" strike="noStrike">
              <a:solidFill>
                <a:schemeClr val="dk1"/>
              </a:solidFill>
              <a:latin typeface="Calibri"/>
              <a:ea typeface="Calibri"/>
              <a:cs typeface="Calibri"/>
              <a:sym typeface="Calibri"/>
            </a:endParaRPr>
          </a:p>
        </p:txBody>
      </p:sp>
      <p:sp>
        <p:nvSpPr>
          <p:cNvPr id="867" name="Google Shape;867;p32"/>
          <p:cNvSpPr txBox="1"/>
          <p:nvPr/>
        </p:nvSpPr>
        <p:spPr>
          <a:xfrm>
            <a:off x="502920" y="4261104"/>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Biodiversity</a:t>
            </a:r>
            <a:endParaRPr b="0" i="0" sz="1000" u="none" cap="none" strike="noStrike">
              <a:solidFill>
                <a:schemeClr val="dk1"/>
              </a:solidFill>
              <a:latin typeface="Calibri"/>
              <a:ea typeface="Calibri"/>
              <a:cs typeface="Calibri"/>
              <a:sym typeface="Calibri"/>
            </a:endParaRPr>
          </a:p>
        </p:txBody>
      </p:sp>
      <p:sp>
        <p:nvSpPr>
          <p:cNvPr id="868" name="Google Shape;868;p32"/>
          <p:cNvSpPr/>
          <p:nvPr/>
        </p:nvSpPr>
        <p:spPr>
          <a:xfrm>
            <a:off x="2898648" y="4261104"/>
            <a:ext cx="2825496" cy="297180"/>
          </a:xfrm>
          <a:prstGeom prst="roundRect">
            <a:avLst>
              <a:gd fmla="val 153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2"/>
          <p:cNvSpPr txBox="1"/>
          <p:nvPr/>
        </p:nvSpPr>
        <p:spPr>
          <a:xfrm>
            <a:off x="2990088" y="4261104"/>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Cambodia PA alerts</a:t>
            </a:r>
            <a:endParaRPr b="0" i="0" sz="850" u="none" cap="none" strike="noStrike">
              <a:solidFill>
                <a:schemeClr val="dk1"/>
              </a:solidFill>
              <a:latin typeface="Calibri"/>
              <a:ea typeface="Calibri"/>
              <a:cs typeface="Calibri"/>
              <a:sym typeface="Calibri"/>
            </a:endParaRPr>
          </a:p>
        </p:txBody>
      </p:sp>
      <p:sp>
        <p:nvSpPr>
          <p:cNvPr id="870" name="Google Shape;870;p32"/>
          <p:cNvSpPr/>
          <p:nvPr/>
        </p:nvSpPr>
        <p:spPr>
          <a:xfrm>
            <a:off x="5792724" y="4261104"/>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2"/>
          <p:cNvSpPr txBox="1"/>
          <p:nvPr/>
        </p:nvSpPr>
        <p:spPr>
          <a:xfrm>
            <a:off x="5884164" y="4261104"/>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IBAT STAR or open GBIF</a:t>
            </a:r>
            <a:endParaRPr b="0" i="0" sz="850" u="none" cap="none" strike="noStrike">
              <a:solidFill>
                <a:schemeClr val="dk1"/>
              </a:solidFill>
              <a:latin typeface="Calibri"/>
              <a:ea typeface="Calibri"/>
              <a:cs typeface="Calibri"/>
              <a:sym typeface="Calibri"/>
            </a:endParaRPr>
          </a:p>
        </p:txBody>
      </p:sp>
      <p:sp>
        <p:nvSpPr>
          <p:cNvPr id="872" name="Google Shape;872;p32"/>
          <p:cNvSpPr/>
          <p:nvPr/>
        </p:nvSpPr>
        <p:spPr>
          <a:xfrm>
            <a:off x="8686800" y="4261104"/>
            <a:ext cx="2825496" cy="297180"/>
          </a:xfrm>
          <a:prstGeom prst="roundRect">
            <a:avLst>
              <a:gd fmla="val 15385" name="adj"/>
            </a:avLst>
          </a:prstGeom>
          <a:solidFill>
            <a:srgbClr val="F7E8E8"/>
          </a:solidFill>
          <a:ln cap="flat" cmpd="sng" w="952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2"/>
          <p:cNvSpPr txBox="1"/>
          <p:nvPr/>
        </p:nvSpPr>
        <p:spPr>
          <a:xfrm>
            <a:off x="8778240" y="4261104"/>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Range shift research-grade</a:t>
            </a:r>
            <a:endParaRPr b="0" i="0" sz="850" u="none" cap="none" strike="noStrike">
              <a:solidFill>
                <a:schemeClr val="dk1"/>
              </a:solidFill>
              <a:latin typeface="Calibri"/>
              <a:ea typeface="Calibri"/>
              <a:cs typeface="Calibri"/>
              <a:sym typeface="Calibri"/>
            </a:endParaRPr>
          </a:p>
        </p:txBody>
      </p:sp>
      <p:sp>
        <p:nvSpPr>
          <p:cNvPr id="874" name="Google Shape;874;p32"/>
          <p:cNvSpPr txBox="1"/>
          <p:nvPr/>
        </p:nvSpPr>
        <p:spPr>
          <a:xfrm>
            <a:off x="502920" y="4608576"/>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Ecosystem services</a:t>
            </a:r>
            <a:endParaRPr b="0" i="0" sz="1000" u="none" cap="none" strike="noStrike">
              <a:solidFill>
                <a:schemeClr val="dk1"/>
              </a:solidFill>
              <a:latin typeface="Calibri"/>
              <a:ea typeface="Calibri"/>
              <a:cs typeface="Calibri"/>
              <a:sym typeface="Calibri"/>
            </a:endParaRPr>
          </a:p>
        </p:txBody>
      </p:sp>
      <p:sp>
        <p:nvSpPr>
          <p:cNvPr id="875" name="Google Shape;875;p32"/>
          <p:cNvSpPr/>
          <p:nvPr/>
        </p:nvSpPr>
        <p:spPr>
          <a:xfrm>
            <a:off x="2898648" y="4608576"/>
            <a:ext cx="2825496" cy="297180"/>
          </a:xfrm>
          <a:prstGeom prst="roundRect">
            <a:avLst>
              <a:gd fmla="val 15385" name="adj"/>
            </a:avLst>
          </a:prstGeom>
          <a:solidFill>
            <a:srgbClr val="EEF1F4"/>
          </a:solidFill>
          <a:ln cap="flat" cmpd="sng" w="9525">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2"/>
          <p:cNvSpPr txBox="1"/>
          <p:nvPr/>
        </p:nvSpPr>
        <p:spPr>
          <a:xfrm>
            <a:off x="2990088" y="4608576"/>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50"/>
              <a:buFont typeface="Calibri"/>
              <a:buNone/>
            </a:pPr>
            <a:r>
              <a:rPr b="0" i="0" lang="en-US" sz="850" u="none" cap="none" strike="noStrike">
                <a:solidFill>
                  <a:srgbClr val="6D6E71"/>
                </a:solidFill>
                <a:latin typeface="Calibri"/>
                <a:ea typeface="Calibri"/>
                <a:cs typeface="Calibri"/>
                <a:sym typeface="Calibri"/>
              </a:rPr>
              <a:t>Analysis, not a signal</a:t>
            </a:r>
            <a:endParaRPr b="0" i="0" sz="850" u="none" cap="none" strike="noStrike">
              <a:solidFill>
                <a:schemeClr val="dk1"/>
              </a:solidFill>
              <a:latin typeface="Calibri"/>
              <a:ea typeface="Calibri"/>
              <a:cs typeface="Calibri"/>
              <a:sym typeface="Calibri"/>
            </a:endParaRPr>
          </a:p>
        </p:txBody>
      </p:sp>
      <p:sp>
        <p:nvSpPr>
          <p:cNvPr id="877" name="Google Shape;877;p32"/>
          <p:cNvSpPr/>
          <p:nvPr/>
        </p:nvSpPr>
        <p:spPr>
          <a:xfrm>
            <a:off x="5792724" y="4608576"/>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2"/>
          <p:cNvSpPr txBox="1"/>
          <p:nvPr/>
        </p:nvSpPr>
        <p:spPr>
          <a:xfrm>
            <a:off x="5884164" y="4608576"/>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InVEST on SERVIR cover</a:t>
            </a:r>
            <a:endParaRPr b="0" i="0" sz="850" u="none" cap="none" strike="noStrike">
              <a:solidFill>
                <a:schemeClr val="dk1"/>
              </a:solidFill>
              <a:latin typeface="Calibri"/>
              <a:ea typeface="Calibri"/>
              <a:cs typeface="Calibri"/>
              <a:sym typeface="Calibri"/>
            </a:endParaRPr>
          </a:p>
        </p:txBody>
      </p:sp>
      <p:sp>
        <p:nvSpPr>
          <p:cNvPr id="879" name="Google Shape;879;p32"/>
          <p:cNvSpPr/>
          <p:nvPr/>
        </p:nvSpPr>
        <p:spPr>
          <a:xfrm>
            <a:off x="8686800" y="4608576"/>
            <a:ext cx="2825496" cy="297180"/>
          </a:xfrm>
          <a:prstGeom prst="roundRect">
            <a:avLst>
              <a:gd fmla="val 15385"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2"/>
          <p:cNvSpPr txBox="1"/>
          <p:nvPr/>
        </p:nvSpPr>
        <p:spPr>
          <a:xfrm>
            <a:off x="8778240" y="4608576"/>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Acre/Ucayali scenarios</a:t>
            </a:r>
            <a:endParaRPr b="0" i="0" sz="850" u="none" cap="none" strike="noStrike">
              <a:solidFill>
                <a:schemeClr val="dk1"/>
              </a:solidFill>
              <a:latin typeface="Calibri"/>
              <a:ea typeface="Calibri"/>
              <a:cs typeface="Calibri"/>
              <a:sym typeface="Calibri"/>
            </a:endParaRPr>
          </a:p>
        </p:txBody>
      </p:sp>
      <p:sp>
        <p:nvSpPr>
          <p:cNvPr id="881" name="Google Shape;881;p32"/>
          <p:cNvSpPr txBox="1"/>
          <p:nvPr/>
        </p:nvSpPr>
        <p:spPr>
          <a:xfrm>
            <a:off x="502920" y="4956048"/>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Wildlife trafficking</a:t>
            </a:r>
            <a:endParaRPr b="0" i="0" sz="1000" u="none" cap="none" strike="noStrike">
              <a:solidFill>
                <a:schemeClr val="dk1"/>
              </a:solidFill>
              <a:latin typeface="Calibri"/>
              <a:ea typeface="Calibri"/>
              <a:cs typeface="Calibri"/>
              <a:sym typeface="Calibri"/>
            </a:endParaRPr>
          </a:p>
        </p:txBody>
      </p:sp>
      <p:sp>
        <p:nvSpPr>
          <p:cNvPr id="882" name="Google Shape;882;p32"/>
          <p:cNvSpPr/>
          <p:nvPr/>
        </p:nvSpPr>
        <p:spPr>
          <a:xfrm>
            <a:off x="2898648" y="4956048"/>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32"/>
          <p:cNvSpPr txBox="1"/>
          <p:nvPr/>
        </p:nvSpPr>
        <p:spPr>
          <a:xfrm>
            <a:off x="2990088" y="495604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MegaDetector → SMART</a:t>
            </a:r>
            <a:endParaRPr b="0" i="0" sz="850" u="none" cap="none" strike="noStrike">
              <a:solidFill>
                <a:schemeClr val="dk1"/>
              </a:solidFill>
              <a:latin typeface="Calibri"/>
              <a:ea typeface="Calibri"/>
              <a:cs typeface="Calibri"/>
              <a:sym typeface="Calibri"/>
            </a:endParaRPr>
          </a:p>
        </p:txBody>
      </p:sp>
      <p:sp>
        <p:nvSpPr>
          <p:cNvPr id="884" name="Google Shape;884;p32"/>
          <p:cNvSpPr/>
          <p:nvPr/>
        </p:nvSpPr>
        <p:spPr>
          <a:xfrm>
            <a:off x="5792724" y="4956048"/>
            <a:ext cx="2825496" cy="297180"/>
          </a:xfrm>
          <a:prstGeom prst="roundRect">
            <a:avLst>
              <a:gd fmla="val 15385"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32"/>
          <p:cNvSpPr txBox="1"/>
          <p:nvPr/>
        </p:nvSpPr>
        <p:spPr>
          <a:xfrm>
            <a:off x="5884164" y="495604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SMART case aggregation</a:t>
            </a:r>
            <a:endParaRPr b="0" i="0" sz="850" u="none" cap="none" strike="noStrike">
              <a:solidFill>
                <a:schemeClr val="dk1"/>
              </a:solidFill>
              <a:latin typeface="Calibri"/>
              <a:ea typeface="Calibri"/>
              <a:cs typeface="Calibri"/>
              <a:sym typeface="Calibri"/>
            </a:endParaRPr>
          </a:p>
        </p:txBody>
      </p:sp>
      <p:sp>
        <p:nvSpPr>
          <p:cNvPr id="886" name="Google Shape;886;p32"/>
          <p:cNvSpPr/>
          <p:nvPr/>
        </p:nvSpPr>
        <p:spPr>
          <a:xfrm>
            <a:off x="8686800" y="4956048"/>
            <a:ext cx="2825496" cy="297180"/>
          </a:xfrm>
          <a:prstGeom prst="roundRect">
            <a:avLst>
              <a:gd fmla="val 15385" name="adj"/>
            </a:avLst>
          </a:prstGeom>
          <a:solidFill>
            <a:srgbClr val="EEF1F4"/>
          </a:solidFill>
          <a:ln cap="flat" cmpd="sng" w="9525">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2"/>
          <p:cNvSpPr txBox="1"/>
          <p:nvPr/>
        </p:nvSpPr>
        <p:spPr>
          <a:xfrm>
            <a:off x="8778240" y="4956048"/>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50"/>
              <a:buFont typeface="Calibri"/>
              <a:buNone/>
            </a:pPr>
            <a:r>
              <a:rPr b="0" i="0" lang="en-US" sz="850" u="none" cap="none" strike="noStrike">
                <a:solidFill>
                  <a:srgbClr val="6D6E71"/>
                </a:solidFill>
                <a:latin typeface="Calibri"/>
                <a:ea typeface="Calibri"/>
                <a:cs typeface="Calibri"/>
                <a:sym typeface="Calibri"/>
              </a:rPr>
              <a:t>Not remote sensing</a:t>
            </a:r>
            <a:endParaRPr b="0" i="0" sz="850" u="none" cap="none" strike="noStrike">
              <a:solidFill>
                <a:schemeClr val="dk1"/>
              </a:solidFill>
              <a:latin typeface="Calibri"/>
              <a:ea typeface="Calibri"/>
              <a:cs typeface="Calibri"/>
              <a:sym typeface="Calibri"/>
            </a:endParaRPr>
          </a:p>
        </p:txBody>
      </p:sp>
      <p:sp>
        <p:nvSpPr>
          <p:cNvPr id="888" name="Google Shape;888;p32"/>
          <p:cNvSpPr txBox="1"/>
          <p:nvPr/>
        </p:nvSpPr>
        <p:spPr>
          <a:xfrm>
            <a:off x="502920" y="5303520"/>
            <a:ext cx="2267712"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alibri"/>
              <a:buNone/>
            </a:pPr>
            <a:r>
              <a:rPr b="1" i="0" lang="en-US" sz="1000" u="none" cap="none" strike="noStrike">
                <a:solidFill>
                  <a:srgbClr val="1C212A"/>
                </a:solidFill>
                <a:latin typeface="Calibri"/>
                <a:ea typeface="Calibri"/>
                <a:cs typeface="Calibri"/>
                <a:sym typeface="Calibri"/>
              </a:rPr>
              <a:t>NbS &amp; restoration</a:t>
            </a:r>
            <a:endParaRPr b="0" i="0" sz="1000" u="none" cap="none" strike="noStrike">
              <a:solidFill>
                <a:schemeClr val="dk1"/>
              </a:solidFill>
              <a:latin typeface="Calibri"/>
              <a:ea typeface="Calibri"/>
              <a:cs typeface="Calibri"/>
              <a:sym typeface="Calibri"/>
            </a:endParaRPr>
          </a:p>
        </p:txBody>
      </p:sp>
      <p:sp>
        <p:nvSpPr>
          <p:cNvPr id="889" name="Google Shape;889;p32"/>
          <p:cNvSpPr/>
          <p:nvPr/>
        </p:nvSpPr>
        <p:spPr>
          <a:xfrm>
            <a:off x="2898648" y="5303520"/>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2"/>
          <p:cNvSpPr txBox="1"/>
          <p:nvPr/>
        </p:nvSpPr>
        <p:spPr>
          <a:xfrm>
            <a:off x="2990088" y="530352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Restoration change detection</a:t>
            </a:r>
            <a:endParaRPr b="0" i="0" sz="850" u="none" cap="none" strike="noStrike">
              <a:solidFill>
                <a:schemeClr val="dk1"/>
              </a:solidFill>
              <a:latin typeface="Calibri"/>
              <a:ea typeface="Calibri"/>
              <a:cs typeface="Calibri"/>
              <a:sym typeface="Calibri"/>
            </a:endParaRPr>
          </a:p>
        </p:txBody>
      </p:sp>
      <p:sp>
        <p:nvSpPr>
          <p:cNvPr id="891" name="Google Shape;891;p32"/>
          <p:cNvSpPr/>
          <p:nvPr/>
        </p:nvSpPr>
        <p:spPr>
          <a:xfrm>
            <a:off x="5792724" y="5303520"/>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2"/>
          <p:cNvSpPr txBox="1"/>
          <p:nvPr/>
        </p:nvSpPr>
        <p:spPr>
          <a:xfrm>
            <a:off x="5884164" y="530352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Area + survival accounting</a:t>
            </a:r>
            <a:endParaRPr b="0" i="0" sz="850" u="none" cap="none" strike="noStrike">
              <a:solidFill>
                <a:schemeClr val="dk1"/>
              </a:solidFill>
              <a:latin typeface="Calibri"/>
              <a:ea typeface="Calibri"/>
              <a:cs typeface="Calibri"/>
              <a:sym typeface="Calibri"/>
            </a:endParaRPr>
          </a:p>
        </p:txBody>
      </p:sp>
      <p:sp>
        <p:nvSpPr>
          <p:cNvPr id="893" name="Google Shape;893;p32"/>
          <p:cNvSpPr/>
          <p:nvPr/>
        </p:nvSpPr>
        <p:spPr>
          <a:xfrm>
            <a:off x="8686800" y="5303520"/>
            <a:ext cx="2825496" cy="297180"/>
          </a:xfrm>
          <a:prstGeom prst="roundRect">
            <a:avLst>
              <a:gd fmla="val 15385"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2"/>
          <p:cNvSpPr txBox="1"/>
          <p:nvPr/>
        </p:nvSpPr>
        <p:spPr>
          <a:xfrm>
            <a:off x="8778240" y="5303520"/>
            <a:ext cx="2642616" cy="2971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850"/>
              <a:buFont typeface="Calibri"/>
              <a:buNone/>
            </a:pPr>
            <a:r>
              <a:rPr b="0" i="0" lang="en-US" sz="850" u="none" cap="none" strike="noStrike">
                <a:solidFill>
                  <a:srgbClr val="1C212A"/>
                </a:solidFill>
                <a:latin typeface="Calibri"/>
                <a:ea typeface="Calibri"/>
                <a:cs typeface="Calibri"/>
                <a:sym typeface="Calibri"/>
              </a:rPr>
              <a:t>Projected benefit</a:t>
            </a:r>
            <a:endParaRPr b="0" i="0" sz="850" u="none" cap="none" strike="noStrike">
              <a:solidFill>
                <a:schemeClr val="dk1"/>
              </a:solidFill>
              <a:latin typeface="Calibri"/>
              <a:ea typeface="Calibri"/>
              <a:cs typeface="Calibri"/>
              <a:sym typeface="Calibri"/>
            </a:endParaRPr>
          </a:p>
        </p:txBody>
      </p:sp>
      <p:sp>
        <p:nvSpPr>
          <p:cNvPr id="895" name="Google Shape;895;p32"/>
          <p:cNvSpPr/>
          <p:nvPr/>
        </p:nvSpPr>
        <p:spPr>
          <a:xfrm>
            <a:off x="548640" y="5943600"/>
            <a:ext cx="146304" cy="146304"/>
          </a:xfrm>
          <a:prstGeom prst="roundRect">
            <a:avLst>
              <a:gd fmla="val 25000" name="adj"/>
            </a:avLst>
          </a:prstGeom>
          <a:solidFill>
            <a:srgbClr val="E4EFEA"/>
          </a:solidFill>
          <a:ln cap="flat" cmpd="sng" w="952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2"/>
          <p:cNvSpPr txBox="1"/>
          <p:nvPr/>
        </p:nvSpPr>
        <p:spPr>
          <a:xfrm>
            <a:off x="749808" y="589788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Built — reuse</a:t>
            </a:r>
            <a:endParaRPr b="0" i="0" sz="950" u="none" cap="none" strike="noStrike">
              <a:solidFill>
                <a:schemeClr val="dk1"/>
              </a:solidFill>
              <a:latin typeface="Calibri"/>
              <a:ea typeface="Calibri"/>
              <a:cs typeface="Calibri"/>
              <a:sym typeface="Calibri"/>
            </a:endParaRPr>
          </a:p>
        </p:txBody>
      </p:sp>
      <p:sp>
        <p:nvSpPr>
          <p:cNvPr id="897" name="Google Shape;897;p32"/>
          <p:cNvSpPr/>
          <p:nvPr/>
        </p:nvSpPr>
        <p:spPr>
          <a:xfrm>
            <a:off x="2880360" y="5943600"/>
            <a:ext cx="146304" cy="146304"/>
          </a:xfrm>
          <a:prstGeom prst="roundRect">
            <a:avLst>
              <a:gd fmla="val 25000" name="adj"/>
            </a:avLst>
          </a:prstGeom>
          <a:solidFill>
            <a:srgbClr val="EAEEF5"/>
          </a:solidFill>
          <a:ln cap="flat" cmpd="sng" w="952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32"/>
          <p:cNvSpPr txBox="1"/>
          <p:nvPr/>
        </p:nvSpPr>
        <p:spPr>
          <a:xfrm>
            <a:off x="3081528" y="589788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Adopt a partner</a:t>
            </a:r>
            <a:endParaRPr b="0" i="0" sz="950" u="none" cap="none" strike="noStrike">
              <a:solidFill>
                <a:schemeClr val="dk1"/>
              </a:solidFill>
              <a:latin typeface="Calibri"/>
              <a:ea typeface="Calibri"/>
              <a:cs typeface="Calibri"/>
              <a:sym typeface="Calibri"/>
            </a:endParaRPr>
          </a:p>
        </p:txBody>
      </p:sp>
      <p:sp>
        <p:nvSpPr>
          <p:cNvPr id="899" name="Google Shape;899;p32"/>
          <p:cNvSpPr/>
          <p:nvPr/>
        </p:nvSpPr>
        <p:spPr>
          <a:xfrm>
            <a:off x="5212080" y="5943600"/>
            <a:ext cx="146304" cy="146304"/>
          </a:xfrm>
          <a:prstGeom prst="roundRect">
            <a:avLst>
              <a:gd fmla="val 25000" name="adj"/>
            </a:avLst>
          </a:prstGeom>
          <a:solidFill>
            <a:srgbClr val="F7ECD9"/>
          </a:solidFill>
          <a:ln cap="flat" cmpd="sng" w="952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2"/>
          <p:cNvSpPr txBox="1"/>
          <p:nvPr/>
        </p:nvSpPr>
        <p:spPr>
          <a:xfrm>
            <a:off x="5413248" y="589788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New build work</a:t>
            </a:r>
            <a:endParaRPr b="0" i="0" sz="950" u="none" cap="none" strike="noStrike">
              <a:solidFill>
                <a:schemeClr val="dk1"/>
              </a:solidFill>
              <a:latin typeface="Calibri"/>
              <a:ea typeface="Calibri"/>
              <a:cs typeface="Calibri"/>
              <a:sym typeface="Calibri"/>
            </a:endParaRPr>
          </a:p>
        </p:txBody>
      </p:sp>
      <p:sp>
        <p:nvSpPr>
          <p:cNvPr id="901" name="Google Shape;901;p32"/>
          <p:cNvSpPr/>
          <p:nvPr/>
        </p:nvSpPr>
        <p:spPr>
          <a:xfrm>
            <a:off x="7543800" y="5943600"/>
            <a:ext cx="146304" cy="146304"/>
          </a:xfrm>
          <a:prstGeom prst="roundRect">
            <a:avLst>
              <a:gd fmla="val 25000" name="adj"/>
            </a:avLst>
          </a:prstGeom>
          <a:solidFill>
            <a:srgbClr val="F7E8E8"/>
          </a:solidFill>
          <a:ln cap="flat" cmpd="sng" w="952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2"/>
          <p:cNvSpPr txBox="1"/>
          <p:nvPr/>
        </p:nvSpPr>
        <p:spPr>
          <a:xfrm>
            <a:off x="7744968" y="589788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Gap — flag it</a:t>
            </a:r>
            <a:endParaRPr b="0" i="0" sz="950" u="none" cap="none" strike="noStrike">
              <a:solidFill>
                <a:schemeClr val="dk1"/>
              </a:solidFill>
              <a:latin typeface="Calibri"/>
              <a:ea typeface="Calibri"/>
              <a:cs typeface="Calibri"/>
              <a:sym typeface="Calibri"/>
            </a:endParaRPr>
          </a:p>
        </p:txBody>
      </p:sp>
      <p:sp>
        <p:nvSpPr>
          <p:cNvPr id="903" name="Google Shape;903;p32"/>
          <p:cNvSpPr/>
          <p:nvPr/>
        </p:nvSpPr>
        <p:spPr>
          <a:xfrm>
            <a:off x="9875520" y="5943600"/>
            <a:ext cx="146304" cy="146304"/>
          </a:xfrm>
          <a:prstGeom prst="roundRect">
            <a:avLst>
              <a:gd fmla="val 25000" name="adj"/>
            </a:avLst>
          </a:prstGeom>
          <a:solidFill>
            <a:srgbClr val="EEF1F4"/>
          </a:solidFill>
          <a:ln cap="flat" cmpd="sng" w="9525">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2"/>
          <p:cNvSpPr txBox="1"/>
          <p:nvPr/>
        </p:nvSpPr>
        <p:spPr>
          <a:xfrm>
            <a:off x="10076688" y="5897880"/>
            <a:ext cx="23774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Out of scope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33"/>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What the NRM matrix says — and the one pipeline behind it</a:t>
            </a:r>
            <a:endParaRPr b="0" i="0" sz="3000" u="none" cap="none" strike="noStrike">
              <a:solidFill>
                <a:schemeClr val="dk1"/>
              </a:solidFill>
              <a:latin typeface="Calibri"/>
              <a:ea typeface="Calibri"/>
              <a:cs typeface="Calibri"/>
              <a:sym typeface="Calibri"/>
            </a:endParaRPr>
          </a:p>
        </p:txBody>
      </p:sp>
      <p:sp>
        <p:nvSpPr>
          <p:cNvPr id="911" name="Google Shape;911;p33"/>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912" name="Google Shape;912;p33"/>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§06</a:t>
            </a:r>
            <a:endParaRPr b="0" i="0" sz="800" u="none" cap="none" strike="noStrike">
              <a:solidFill>
                <a:schemeClr val="dk1"/>
              </a:solidFill>
              <a:latin typeface="Calibri"/>
              <a:ea typeface="Calibri"/>
              <a:cs typeface="Calibri"/>
              <a:sym typeface="Calibri"/>
            </a:endParaRPr>
          </a:p>
        </p:txBody>
      </p:sp>
      <p:sp>
        <p:nvSpPr>
          <p:cNvPr id="913" name="Google Shape;913;p33"/>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29</a:t>
            </a:r>
            <a:endParaRPr b="0" i="0" sz="800" u="none" cap="none" strike="noStrike">
              <a:solidFill>
                <a:schemeClr val="dk1"/>
              </a:solidFill>
              <a:latin typeface="Calibri"/>
              <a:ea typeface="Calibri"/>
              <a:cs typeface="Calibri"/>
              <a:sym typeface="Calibri"/>
            </a:endParaRPr>
          </a:p>
        </p:txBody>
      </p:sp>
      <p:sp>
        <p:nvSpPr>
          <p:cNvPr id="914" name="Google Shape;914;p33"/>
          <p:cNvSpPr/>
          <p:nvPr/>
        </p:nvSpPr>
        <p:spPr>
          <a:xfrm>
            <a:off x="502920" y="1572768"/>
            <a:ext cx="11155680" cy="914400"/>
          </a:xfrm>
          <a:prstGeom prst="roundRect">
            <a:avLst>
              <a:gd fmla="val 6000"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3"/>
          <p:cNvSpPr txBox="1"/>
          <p:nvPr/>
        </p:nvSpPr>
        <p:spPr>
          <a:xfrm>
            <a:off x="713232" y="1664208"/>
            <a:ext cx="107899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Strongest platform on Clock 1.  </a:t>
            </a:r>
            <a:r>
              <a:rPr b="0" i="0" lang="en-US" sz="1150" u="none" cap="none" strike="noStrike">
                <a:solidFill>
                  <a:srgbClr val="4D5763"/>
                </a:solidFill>
                <a:latin typeface="Calibri"/>
                <a:ea typeface="Calibri"/>
                <a:cs typeface="Calibri"/>
                <a:sym typeface="Calibri"/>
              </a:rPr>
              <a:t>SERVIR owns working alerting assets for land cover, mining, charcoal, water and protected areas. Five of those 'built' cells are regional — Ecuador, Guyana, Ghana, Cambodia, Acre/Ucayali. Generalising five regional tools is a different, and easier, job than building five new ones.</a:t>
            </a:r>
            <a:endParaRPr b="0" i="0" sz="1150" u="none" cap="none" strike="noStrike">
              <a:solidFill>
                <a:schemeClr val="dk1"/>
              </a:solidFill>
              <a:latin typeface="Calibri"/>
              <a:ea typeface="Calibri"/>
              <a:cs typeface="Calibri"/>
              <a:sym typeface="Calibri"/>
            </a:endParaRPr>
          </a:p>
        </p:txBody>
      </p:sp>
      <p:sp>
        <p:nvSpPr>
          <p:cNvPr id="916" name="Google Shape;916;p33"/>
          <p:cNvSpPr/>
          <p:nvPr/>
        </p:nvSpPr>
        <p:spPr>
          <a:xfrm>
            <a:off x="502920" y="2606040"/>
            <a:ext cx="11155680" cy="914400"/>
          </a:xfrm>
          <a:prstGeom prst="roundRect">
            <a:avLst>
              <a:gd fmla="val 6000" name="adj"/>
            </a:avLst>
          </a:prstGeom>
          <a:solidFill>
            <a:srgbClr val="F7E8E8"/>
          </a:solidFill>
          <a:ln cap="flat" cmpd="sng" w="12700">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3"/>
          <p:cNvSpPr txBox="1"/>
          <p:nvPr/>
        </p:nvSpPr>
        <p:spPr>
          <a:xfrm>
            <a:off x="713232" y="2697480"/>
            <a:ext cx="107899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Weakest on Clock 3 — and that is the column funders ask about.  </a:t>
            </a:r>
            <a:r>
              <a:rPr b="0" i="0" lang="en-US" sz="1150" u="none" cap="none" strike="noStrike">
                <a:solidFill>
                  <a:srgbClr val="4D5763"/>
                </a:solidFill>
                <a:latin typeface="Calibri"/>
                <a:ea typeface="Calibri"/>
                <a:cs typeface="Calibri"/>
                <a:sym typeface="Calibri"/>
              </a:rPr>
              <a:t>Nine of twelve scenario cells are build-or-gap, while scenario projection is precisely what a REDD+ or TFFF conversation needs. The Acre/Ucayali ecosystem-services service is the one strong scenario cell and the template for the rest of that column.</a:t>
            </a:r>
            <a:endParaRPr b="0" i="0" sz="1150" u="none" cap="none" strike="noStrike">
              <a:solidFill>
                <a:schemeClr val="dk1"/>
              </a:solidFill>
              <a:latin typeface="Calibri"/>
              <a:ea typeface="Calibri"/>
              <a:cs typeface="Calibri"/>
              <a:sym typeface="Calibri"/>
            </a:endParaRPr>
          </a:p>
        </p:txBody>
      </p:sp>
      <p:sp>
        <p:nvSpPr>
          <p:cNvPr id="918" name="Google Shape;918;p33"/>
          <p:cNvSpPr txBox="1"/>
          <p:nvPr/>
        </p:nvSpPr>
        <p:spPr>
          <a:xfrm>
            <a:off x="502920" y="358444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500"/>
              <a:buFont typeface="Roboto Condensed"/>
              <a:buNone/>
            </a:pPr>
            <a:r>
              <a:rPr b="1" i="0" lang="en-US" sz="1500" u="none" cap="none" strike="noStrike">
                <a:solidFill>
                  <a:srgbClr val="1C212A"/>
                </a:solidFill>
                <a:latin typeface="Roboto Condensed"/>
                <a:ea typeface="Roboto Condensed"/>
                <a:cs typeface="Roboto Condensed"/>
                <a:sym typeface="Roboto Condensed"/>
              </a:rPr>
              <a:t>N2 — one change-detection pipeline, read two ways</a:t>
            </a:r>
            <a:endParaRPr b="0" i="0" sz="1500" u="none" cap="none" strike="noStrike">
              <a:solidFill>
                <a:schemeClr val="dk1"/>
              </a:solidFill>
              <a:latin typeface="Calibri"/>
              <a:ea typeface="Calibri"/>
              <a:cs typeface="Calibri"/>
              <a:sym typeface="Calibri"/>
            </a:endParaRPr>
          </a:p>
        </p:txBody>
      </p:sp>
      <p:sp>
        <p:nvSpPr>
          <p:cNvPr id="919" name="Google Shape;919;p33"/>
          <p:cNvSpPr/>
          <p:nvPr/>
        </p:nvSpPr>
        <p:spPr>
          <a:xfrm>
            <a:off x="502920" y="3968496"/>
            <a:ext cx="3200400" cy="1188720"/>
          </a:xfrm>
          <a:prstGeom prst="roundRect">
            <a:avLst>
              <a:gd fmla="val 4615" name="adj"/>
            </a:avLst>
          </a:prstGeom>
          <a:solidFill>
            <a:srgbClr val="EEF4E0"/>
          </a:solidFill>
          <a:ln cap="flat" cmpd="sng" w="15875">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3"/>
          <p:cNvSpPr txBox="1"/>
          <p:nvPr/>
        </p:nvSpPr>
        <p:spPr>
          <a:xfrm>
            <a:off x="658368" y="3968496"/>
            <a:ext cx="292608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000"/>
              <a:buFont typeface="Consolas"/>
              <a:buNone/>
            </a:pPr>
            <a:r>
              <a:rPr b="0" i="0" lang="en-US" sz="1000" u="none" cap="none" strike="noStrike">
                <a:solidFill>
                  <a:srgbClr val="1C212A"/>
                </a:solidFill>
                <a:latin typeface="Consolas"/>
                <a:ea typeface="Consolas"/>
                <a:cs typeface="Consolas"/>
                <a:sym typeface="Consolas"/>
              </a:rPr>
              <a:t>detect(change)</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C212A"/>
              </a:buClr>
              <a:buSzPts val="1000"/>
              <a:buFont typeface="Consolas"/>
              <a:buNone/>
            </a:pPr>
            <a:r>
              <a:rPr b="0" i="0" lang="en-US" sz="1000" u="none" cap="none" strike="noStrike">
                <a:solidFill>
                  <a:srgbClr val="1C212A"/>
                </a:solidFill>
                <a:latin typeface="Consolas"/>
                <a:ea typeface="Consolas"/>
                <a:cs typeface="Consolas"/>
                <a:sym typeface="Consolas"/>
              </a:rPr>
              <a:t>  → LandCoverChange</a:t>
            </a:r>
            <a:endParaRPr b="0" i="0" sz="1000" u="none" cap="none" strike="noStrike">
              <a:solidFill>
                <a:schemeClr val="dk1"/>
              </a:solidFill>
              <a:latin typeface="Calibri"/>
              <a:ea typeface="Calibri"/>
              <a:cs typeface="Calibri"/>
              <a:sym typeface="Calibri"/>
            </a:endParaRPr>
          </a:p>
        </p:txBody>
      </p:sp>
      <p:cxnSp>
        <p:nvCxnSpPr>
          <p:cNvPr id="921" name="Google Shape;921;p33"/>
          <p:cNvCxnSpPr/>
          <p:nvPr/>
        </p:nvCxnSpPr>
        <p:spPr>
          <a:xfrm flipH="1" rot="10800000">
            <a:off x="3767328" y="4242816"/>
            <a:ext cx="457200" cy="320040"/>
          </a:xfrm>
          <a:prstGeom prst="straightConnector1">
            <a:avLst/>
          </a:prstGeom>
          <a:noFill/>
          <a:ln cap="flat" cmpd="sng" w="15875">
            <a:solidFill>
              <a:srgbClr val="6D6E71"/>
            </a:solidFill>
            <a:prstDash val="solid"/>
            <a:round/>
            <a:headEnd len="sm" w="sm" type="none"/>
            <a:tailEnd len="med" w="med" type="triangle"/>
          </a:ln>
        </p:spPr>
      </p:cxnSp>
      <p:cxnSp>
        <p:nvCxnSpPr>
          <p:cNvPr id="922" name="Google Shape;922;p33"/>
          <p:cNvCxnSpPr/>
          <p:nvPr/>
        </p:nvCxnSpPr>
        <p:spPr>
          <a:xfrm>
            <a:off x="3767328" y="4562856"/>
            <a:ext cx="457200" cy="365760"/>
          </a:xfrm>
          <a:prstGeom prst="straightConnector1">
            <a:avLst/>
          </a:prstGeom>
          <a:noFill/>
          <a:ln cap="flat" cmpd="sng" w="15875">
            <a:solidFill>
              <a:srgbClr val="6D6E71"/>
            </a:solidFill>
            <a:prstDash val="solid"/>
            <a:round/>
            <a:headEnd len="sm" w="sm" type="none"/>
            <a:tailEnd len="med" w="med" type="triangle"/>
          </a:ln>
        </p:spPr>
      </p:cxnSp>
      <p:sp>
        <p:nvSpPr>
          <p:cNvPr id="923" name="Google Shape;923;p33"/>
          <p:cNvSpPr/>
          <p:nvPr/>
        </p:nvSpPr>
        <p:spPr>
          <a:xfrm>
            <a:off x="4315968" y="3968496"/>
            <a:ext cx="7342632" cy="548640"/>
          </a:xfrm>
          <a:prstGeom prst="roundRect">
            <a:avLst>
              <a:gd fmla="val 10000" name="adj"/>
            </a:avLst>
          </a:prstGeom>
          <a:solidFill>
            <a:srgbClr val="FFFFFF"/>
          </a:solidFill>
          <a:ln cap="flat" cmpd="sng" w="15875">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3"/>
          <p:cNvSpPr txBox="1"/>
          <p:nvPr/>
        </p:nvSpPr>
        <p:spPr>
          <a:xfrm>
            <a:off x="4480560" y="3968496"/>
            <a:ext cx="7040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2C2C"/>
              </a:buClr>
              <a:buSzPts val="850"/>
              <a:buFont typeface="Consolas"/>
              <a:buNone/>
            </a:pPr>
            <a:r>
              <a:rPr b="0" i="0" lang="en-US" sz="850" u="none" cap="none" strike="noStrike">
                <a:solidFill>
                  <a:srgbClr val="9B2C2C"/>
                </a:solidFill>
                <a:latin typeface="Consolas"/>
                <a:ea typeface="Consolas"/>
                <a:cs typeface="Consolas"/>
                <a:sym typeface="Consolas"/>
              </a:rPr>
              <a:t>READ AS ENFORCEMENT   </a:t>
            </a:r>
            <a:r>
              <a:rPr b="0" i="0" lang="en-US" sz="1000" u="none" cap="none" strike="noStrike">
                <a:solidFill>
                  <a:srgbClr val="4D5763"/>
                </a:solidFill>
                <a:latin typeface="Calibri"/>
                <a:ea typeface="Calibri"/>
                <a:cs typeface="Calibri"/>
                <a:sym typeface="Calibri"/>
              </a:rPr>
              <a:t>cross-reference protected area, concession and territory → unauthorised? → route to enforcement</a:t>
            </a:r>
            <a:endParaRPr b="0" i="0" sz="850" u="none" cap="none" strike="noStrike">
              <a:solidFill>
                <a:schemeClr val="dk1"/>
              </a:solidFill>
              <a:latin typeface="Calibri"/>
              <a:ea typeface="Calibri"/>
              <a:cs typeface="Calibri"/>
              <a:sym typeface="Calibri"/>
            </a:endParaRPr>
          </a:p>
        </p:txBody>
      </p:sp>
      <p:sp>
        <p:nvSpPr>
          <p:cNvPr id="925" name="Google Shape;925;p33"/>
          <p:cNvSpPr/>
          <p:nvPr/>
        </p:nvSpPr>
        <p:spPr>
          <a:xfrm>
            <a:off x="4315968" y="4608576"/>
            <a:ext cx="7342632" cy="548640"/>
          </a:xfrm>
          <a:prstGeom prst="roundRect">
            <a:avLst>
              <a:gd fmla="val 10000" name="adj"/>
            </a:avLst>
          </a:prstGeom>
          <a:solidFill>
            <a:srgbClr val="FFFFFF"/>
          </a:solidFill>
          <a:ln cap="flat" cmpd="sng" w="1587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3"/>
          <p:cNvSpPr txBox="1"/>
          <p:nvPr/>
        </p:nvSpPr>
        <p:spPr>
          <a:xfrm>
            <a:off x="4480560" y="4608576"/>
            <a:ext cx="7040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B52"/>
              </a:buClr>
              <a:buSzPts val="850"/>
              <a:buFont typeface="Consolas"/>
              <a:buNone/>
            </a:pPr>
            <a:r>
              <a:rPr b="0" i="0" lang="en-US" sz="850" u="none" cap="none" strike="noStrike">
                <a:solidFill>
                  <a:srgbClr val="1F6B52"/>
                </a:solidFill>
                <a:latin typeface="Consolas"/>
                <a:ea typeface="Consolas"/>
                <a:cs typeface="Consolas"/>
                <a:sym typeface="Consolas"/>
              </a:rPr>
              <a:t>READ AS ACCOUNTING   </a:t>
            </a:r>
            <a:r>
              <a:rPr b="0" i="0" lang="en-US" sz="1000" u="none" cap="none" strike="noStrike">
                <a:solidFill>
                  <a:srgbClr val="4D5763"/>
                </a:solidFill>
                <a:latin typeface="Calibri"/>
                <a:ea typeface="Calibri"/>
                <a:cs typeface="Calibri"/>
                <a:sym typeface="Calibri"/>
              </a:rPr>
              <a:t>authorised change → activity data → NFMS methodology → MRV report (N5)</a:t>
            </a:r>
            <a:endParaRPr b="0" i="0" sz="850" u="none" cap="none" strike="noStrike">
              <a:solidFill>
                <a:schemeClr val="dk1"/>
              </a:solidFill>
              <a:latin typeface="Calibri"/>
              <a:ea typeface="Calibri"/>
              <a:cs typeface="Calibri"/>
              <a:sym typeface="Calibri"/>
            </a:endParaRPr>
          </a:p>
        </p:txBody>
      </p:sp>
      <p:sp>
        <p:nvSpPr>
          <p:cNvPr id="927" name="Google Shape;927;p33"/>
          <p:cNvSpPr/>
          <p:nvPr/>
        </p:nvSpPr>
        <p:spPr>
          <a:xfrm>
            <a:off x="502920" y="5349240"/>
            <a:ext cx="11155680" cy="685800"/>
          </a:xfrm>
          <a:prstGeom prst="roundRect">
            <a:avLst>
              <a:gd fmla="val 8000"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3"/>
          <p:cNvSpPr txBox="1"/>
          <p:nvPr/>
        </p:nvSpPr>
        <p:spPr>
          <a:xfrm>
            <a:off x="713232" y="5440680"/>
            <a:ext cx="10789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An illegal-mining alert and a REDD+ activity-data update are the same signal,  </a:t>
            </a:r>
            <a:r>
              <a:rPr b="0" i="0" lang="en-US" sz="1150" u="none" cap="none" strike="noStrike">
                <a:solidFill>
                  <a:srgbClr val="4D5763"/>
                </a:solidFill>
                <a:latin typeface="Calibri"/>
                <a:ea typeface="Calibri"/>
                <a:cs typeface="Calibri"/>
                <a:sym typeface="Calibri"/>
              </a:rPr>
              <a:t>read for two purposes. Building them separately duplicates the expensive part — detection — to avoid duplicating the cheap part, routing.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34"/>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The rights and accounting layers</a:t>
            </a:r>
            <a:endParaRPr b="0" i="0" sz="3000" u="none" cap="none" strike="noStrike">
              <a:solidFill>
                <a:schemeClr val="dk1"/>
              </a:solidFill>
              <a:latin typeface="Calibri"/>
              <a:ea typeface="Calibri"/>
              <a:cs typeface="Calibri"/>
              <a:sym typeface="Calibri"/>
            </a:endParaRPr>
          </a:p>
        </p:txBody>
      </p:sp>
      <p:sp>
        <p:nvSpPr>
          <p:cNvPr id="935" name="Google Shape;935;p34"/>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Global Risk asks who is exposed. NRM asks whose land this is, who may change it, and what the change was worth.</a:t>
            </a:r>
            <a:endParaRPr b="0" i="0" sz="1350" u="none" cap="none" strike="noStrike">
              <a:solidFill>
                <a:schemeClr val="dk1"/>
              </a:solidFill>
              <a:latin typeface="Calibri"/>
              <a:ea typeface="Calibri"/>
              <a:cs typeface="Calibri"/>
              <a:sym typeface="Calibri"/>
            </a:endParaRPr>
          </a:p>
        </p:txBody>
      </p:sp>
      <p:sp>
        <p:nvSpPr>
          <p:cNvPr id="936" name="Google Shape;936;p34"/>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937" name="Google Shape;937;p34"/>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§06</a:t>
            </a:r>
            <a:endParaRPr b="0" i="0" sz="800" u="none" cap="none" strike="noStrike">
              <a:solidFill>
                <a:schemeClr val="dk1"/>
              </a:solidFill>
              <a:latin typeface="Calibri"/>
              <a:ea typeface="Calibri"/>
              <a:cs typeface="Calibri"/>
              <a:sym typeface="Calibri"/>
            </a:endParaRPr>
          </a:p>
        </p:txBody>
      </p:sp>
      <p:sp>
        <p:nvSpPr>
          <p:cNvPr id="938" name="Google Shape;938;p34"/>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30</a:t>
            </a:r>
            <a:endParaRPr b="0" i="0" sz="800" u="none" cap="none" strike="noStrike">
              <a:solidFill>
                <a:schemeClr val="dk1"/>
              </a:solidFill>
              <a:latin typeface="Calibri"/>
              <a:ea typeface="Calibri"/>
              <a:cs typeface="Calibri"/>
              <a:sym typeface="Calibri"/>
            </a:endParaRPr>
          </a:p>
        </p:txBody>
      </p:sp>
      <p:graphicFrame>
        <p:nvGraphicFramePr>
          <p:cNvPr id="939" name="Google Shape;939;p34"/>
          <p:cNvGraphicFramePr/>
          <p:nvPr/>
        </p:nvGraphicFramePr>
        <p:xfrm>
          <a:off x="502920" y="1627632"/>
          <a:ext cx="3000000" cy="3000000"/>
        </p:xfrm>
        <a:graphic>
          <a:graphicData uri="http://schemas.openxmlformats.org/drawingml/2006/table">
            <a:tbl>
              <a:tblPr>
                <a:noFill/>
                <a:tableStyleId>{0B7ADE64-2C2D-4D68-BEA2-7A829558A485}</a:tableStyleId>
              </a:tblPr>
              <a:tblGrid>
                <a:gridCol w="1280150"/>
                <a:gridCol w="2743200"/>
                <a:gridCol w="4206250"/>
                <a:gridCol w="2926075"/>
              </a:tblGrid>
              <a:tr h="411475">
                <a:tc>
                  <a:txBody>
                    <a:bodyPr/>
                    <a:lstStyle/>
                    <a:p>
                      <a:pPr indent="0" lvl="0" marL="0" marR="0" rtl="0" algn="l">
                        <a:spcBef>
                          <a:spcPts val="0"/>
                        </a:spcBef>
                        <a:spcAft>
                          <a:spcPts val="0"/>
                        </a:spcAft>
                        <a:buClr>
                          <a:srgbClr val="FFFFFF"/>
                        </a:buClr>
                        <a:buSzPts val="950"/>
                        <a:buFont typeface="Consolas"/>
                        <a:buNone/>
                      </a:pPr>
                      <a:r>
                        <a:rPr b="1" lang="en-US" sz="950" u="none" cap="none" strike="noStrike">
                          <a:solidFill>
                            <a:srgbClr val="FFFFFF"/>
                          </a:solidFill>
                          <a:latin typeface="Consolas"/>
                          <a:ea typeface="Consolas"/>
                          <a:cs typeface="Consolas"/>
                          <a:sym typeface="Consolas"/>
                        </a:rPr>
                        <a:t>Stack</a:t>
                      </a:r>
                      <a:endParaRPr sz="9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950"/>
                        <a:buFont typeface="Consolas"/>
                        <a:buNone/>
                      </a:pPr>
                      <a:r>
                        <a:rPr b="1" lang="en-US" sz="950" u="none" cap="none" strike="noStrike">
                          <a:solidFill>
                            <a:srgbClr val="FFFFFF"/>
                          </a:solidFill>
                          <a:latin typeface="Consolas"/>
                          <a:ea typeface="Consolas"/>
                          <a:cs typeface="Consolas"/>
                          <a:sym typeface="Consolas"/>
                        </a:rPr>
                        <a:t>Layer</a:t>
                      </a:r>
                      <a:endParaRPr sz="9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950"/>
                        <a:buFont typeface="Consolas"/>
                        <a:buNone/>
                      </a:pPr>
                      <a:r>
                        <a:rPr b="1" lang="en-US" sz="950" u="none" cap="none" strike="noStrike">
                          <a:solidFill>
                            <a:srgbClr val="FFFFFF"/>
                          </a:solidFill>
                          <a:latin typeface="Consolas"/>
                          <a:ea typeface="Consolas"/>
                          <a:cs typeface="Consolas"/>
                          <a:sym typeface="Consolas"/>
                        </a:rPr>
                        <a:t>Source</a:t>
                      </a:r>
                      <a:endParaRPr sz="9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950"/>
                        <a:buFont typeface="Consolas"/>
                        <a:buNone/>
                      </a:pPr>
                      <a:r>
                        <a:rPr b="1" lang="en-US" sz="950" u="none" cap="none" strike="noStrike">
                          <a:solidFill>
                            <a:srgbClr val="FFFFFF"/>
                          </a:solidFill>
                          <a:latin typeface="Consolas"/>
                          <a:ea typeface="Consolas"/>
                          <a:cs typeface="Consolas"/>
                          <a:sym typeface="Consolas"/>
                        </a:rPr>
                        <a:t>Open question</a:t>
                      </a:r>
                      <a:endParaRPr sz="9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r>
              <a:tr h="411475">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Backbone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Land cover &amp; change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RLCMS + Collect Earth Online, harmonised with ESA CCI / Esri LULC</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None — SERVIR's strongest existing asset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411475">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People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Indigenous &amp; community territories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RAISG (Amazon) + national cadastres — the TerraOnTrack precedent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No global layer; Amazon-strong, elsewhere thin</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411475">
                <a:tc>
                  <a:txBody>
                    <a:bodyPr/>
                    <a:lstStyle/>
                    <a:p>
                      <a:pPr indent="0" lvl="0" marL="0" marR="0" rtl="0" algn="l">
                        <a:spcBef>
                          <a:spcPts val="0"/>
                        </a:spcBef>
                        <a:spcAft>
                          <a:spcPts val="0"/>
                        </a:spcAft>
                        <a:buClr>
                          <a:schemeClr val="dk1"/>
                        </a:buClr>
                        <a:buSzPts val="950"/>
                        <a:buFont typeface="Calibri"/>
                        <a:buNone/>
                      </a:pPr>
                      <a:r>
                        <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Enforcement footprint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SMART patrol coverage and effort data</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Held by PA authorities, not openly published</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411475">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Environment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Protected areas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WDPA / IUCN — the same layer §04 joins as its Nature stack</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One licence decision covers both platforms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411475">
                <a:tc>
                  <a:txBody>
                    <a:bodyPr/>
                    <a:lstStyle/>
                    <a:p>
                      <a:pPr indent="0" lvl="0" marL="0" marR="0" rtl="0" algn="l">
                        <a:spcBef>
                          <a:spcPts val="0"/>
                        </a:spcBef>
                        <a:spcAft>
                          <a:spcPts val="0"/>
                        </a:spcAft>
                        <a:buClr>
                          <a:schemeClr val="dk1"/>
                        </a:buClr>
                        <a:buSzPts val="950"/>
                        <a:buFont typeface="Calibri"/>
                        <a:buNone/>
                      </a:pPr>
                      <a:r>
                        <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Biodiversity &amp; species range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IBAT (paid, STAR) or GBIF + Planetary Computer (open)</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Genuine build-vs-licence decision, still open</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411475">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Assets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Carbon stock</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ESA CCI Biomass + NASA GEDI</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Usable today; underused in official FREL submissions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411475">
                <a:tc>
                  <a:txBody>
                    <a:bodyPr/>
                    <a:lstStyle/>
                    <a:p>
                      <a:pPr indent="0" lvl="0" marL="0" marR="0" rtl="0" algn="l">
                        <a:spcBef>
                          <a:spcPts val="0"/>
                        </a:spcBef>
                        <a:spcAft>
                          <a:spcPts val="0"/>
                        </a:spcAft>
                        <a:buClr>
                          <a:schemeClr val="dk1"/>
                        </a:buClr>
                        <a:buSzPts val="950"/>
                        <a:buFont typeface="Calibri"/>
                        <a:buNone/>
                      </a:pPr>
                      <a:r>
                        <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Concessions &amp; licences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National mining and forestry registries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The weakest layer in the platform</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bl>
          </a:graphicData>
        </a:graphic>
      </p:graphicFrame>
      <p:sp>
        <p:nvSpPr>
          <p:cNvPr id="940" name="Google Shape;940;p34"/>
          <p:cNvSpPr/>
          <p:nvPr/>
        </p:nvSpPr>
        <p:spPr>
          <a:xfrm>
            <a:off x="502920" y="4709160"/>
            <a:ext cx="11155680" cy="1417320"/>
          </a:xfrm>
          <a:prstGeom prst="roundRect">
            <a:avLst>
              <a:gd fmla="val 3871" name="adj"/>
            </a:avLst>
          </a:prstGeom>
          <a:solidFill>
            <a:srgbClr val="F7E8E8"/>
          </a:solidFill>
          <a:ln cap="flat" cmpd="sng" w="12700">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4"/>
          <p:cNvSpPr txBox="1"/>
          <p:nvPr/>
        </p:nvSpPr>
        <p:spPr>
          <a:xfrm>
            <a:off x="713232" y="4800600"/>
            <a:ext cx="10789920"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The concession-boundary problem, named out loud.  </a:t>
            </a:r>
            <a:r>
              <a:rPr b="0" i="0" lang="en-US" sz="1150" u="none" cap="none" strike="noStrike">
                <a:solidFill>
                  <a:srgbClr val="4D5763"/>
                </a:solidFill>
                <a:latin typeface="Calibri"/>
                <a:ea typeface="Calibri"/>
                <a:cs typeface="Calibri"/>
                <a:sym typeface="Calibri"/>
              </a:rPr>
              <a:t>Every enforcement claim the platform makes — 'this logging is illegal', 'this mine is outside its licence' — rests on a concession layer that is national, inconsistently published, and in several countries not public at all. The platform can detect change with high confidence and still be unable to say whether it was permitted. Until that layer is sourced country by country, Protect Nature outputs should read as 'unattributed change detected', not as an allegation. In the N1 contract, authorised: unknown is the honest default.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35"/>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The credibility guardrail, and the one architecturally different agent</a:t>
            </a:r>
            <a:endParaRPr b="0" i="0" sz="3000" u="none" cap="none" strike="noStrike">
              <a:solidFill>
                <a:schemeClr val="dk1"/>
              </a:solidFill>
              <a:latin typeface="Calibri"/>
              <a:ea typeface="Calibri"/>
              <a:cs typeface="Calibri"/>
              <a:sym typeface="Calibri"/>
            </a:endParaRPr>
          </a:p>
        </p:txBody>
      </p:sp>
      <p:sp>
        <p:nvSpPr>
          <p:cNvPr id="948" name="Google Shape;948;p35"/>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949" name="Google Shape;949;p35"/>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§06</a:t>
            </a:r>
            <a:endParaRPr b="0" i="0" sz="800" u="none" cap="none" strike="noStrike">
              <a:solidFill>
                <a:schemeClr val="dk1"/>
              </a:solidFill>
              <a:latin typeface="Calibri"/>
              <a:ea typeface="Calibri"/>
              <a:cs typeface="Calibri"/>
              <a:sym typeface="Calibri"/>
            </a:endParaRPr>
          </a:p>
        </p:txBody>
      </p:sp>
      <p:sp>
        <p:nvSpPr>
          <p:cNvPr id="950" name="Google Shape;950;p35"/>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31</a:t>
            </a:r>
            <a:endParaRPr b="0" i="0" sz="800" u="none" cap="none" strike="noStrike">
              <a:solidFill>
                <a:schemeClr val="dk1"/>
              </a:solidFill>
              <a:latin typeface="Calibri"/>
              <a:ea typeface="Calibri"/>
              <a:cs typeface="Calibri"/>
              <a:sym typeface="Calibri"/>
            </a:endParaRPr>
          </a:p>
        </p:txBody>
      </p:sp>
      <p:sp>
        <p:nvSpPr>
          <p:cNvPr id="951" name="Google Shape;951;p35"/>
          <p:cNvSpPr/>
          <p:nvPr/>
        </p:nvSpPr>
        <p:spPr>
          <a:xfrm>
            <a:off x="502920" y="1572768"/>
            <a:ext cx="11155680" cy="1280160"/>
          </a:xfrm>
          <a:prstGeom prst="roundRect">
            <a:avLst>
              <a:gd fmla="val 4286" name="adj"/>
            </a:avLst>
          </a:prstGeom>
          <a:solidFill>
            <a:srgbClr val="F7E8E8"/>
          </a:solidFill>
          <a:ln cap="flat" cmpd="sng" w="12700">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5"/>
          <p:cNvSpPr txBox="1"/>
          <p:nvPr/>
        </p:nvSpPr>
        <p:spPr>
          <a:xfrm>
            <a:off x="713232" y="1664208"/>
            <a:ext cx="107899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N6 — why the boundary is architectural, not editorial.  </a:t>
            </a:r>
            <a:r>
              <a:rPr b="0" i="0" lang="en-US" sz="1150" u="none" cap="none" strike="noStrike">
                <a:solidFill>
                  <a:srgbClr val="4D5763"/>
                </a:solidFill>
                <a:latin typeface="Calibri"/>
                <a:ea typeface="Calibri"/>
                <a:cs typeface="Calibri"/>
                <a:sym typeface="Calibri"/>
              </a:rPr>
              <a:t>A 2023 investigation (The Guardian, Die Zeit, SourceMaterial) found more than 90% of Verra's rainforest REDD+ credits likely did not represent genuine emissions reductions, largely through inflated deforestation baselines. Verra disputed it, then substantially overhauled its methodology; its CEO resigned shortly after. That history is the direct reason the MRV output path terminates at a report — and no agent in the system has a tool that mints a credit.</a:t>
            </a:r>
            <a:endParaRPr b="0" i="0" sz="1150" u="none" cap="none" strike="noStrike">
              <a:solidFill>
                <a:schemeClr val="dk1"/>
              </a:solidFill>
              <a:latin typeface="Calibri"/>
              <a:ea typeface="Calibri"/>
              <a:cs typeface="Calibri"/>
              <a:sym typeface="Calibri"/>
            </a:endParaRPr>
          </a:p>
        </p:txBody>
      </p:sp>
      <p:sp>
        <p:nvSpPr>
          <p:cNvPr id="953" name="Google Shape;953;p35"/>
          <p:cNvSpPr/>
          <p:nvPr/>
        </p:nvSpPr>
        <p:spPr>
          <a:xfrm>
            <a:off x="502920" y="2999232"/>
            <a:ext cx="11155680" cy="1143000"/>
          </a:xfrm>
          <a:prstGeom prst="roundRect">
            <a:avLst>
              <a:gd fmla="val 4800"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5"/>
          <p:cNvSpPr txBox="1"/>
          <p:nvPr/>
        </p:nvSpPr>
        <p:spPr>
          <a:xfrm>
            <a:off x="713232" y="3090672"/>
            <a:ext cx="1078992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N4 — the Wildlife Trafficking Signal Agent is not an EO detector.  </a:t>
            </a:r>
            <a:r>
              <a:rPr b="0" i="0" lang="en-US" sz="1150" u="none" cap="none" strike="noStrike">
                <a:solidFill>
                  <a:srgbClr val="4D5763"/>
                </a:solidFill>
                <a:latin typeface="Calibri"/>
                <a:ea typeface="Calibri"/>
                <a:cs typeface="Calibri"/>
                <a:sym typeface="Calibri"/>
              </a:rPr>
              <a:t>Remote sensing cannot meaningfully detect the trade or movement of wildlife products. That module is a data-integration layer over ground-based systems — MegaDetector inference on camera-trap imagery, SMART for case management. Scoping it as another detector is the mistake to avoid; Decision #4 sequences it behind mining and logging for exactly this reason.</a:t>
            </a:r>
            <a:endParaRPr b="0" i="0" sz="1150" u="none" cap="none" strike="noStrike">
              <a:solidFill>
                <a:schemeClr val="dk1"/>
              </a:solidFill>
              <a:latin typeface="Calibri"/>
              <a:ea typeface="Calibri"/>
              <a:cs typeface="Calibri"/>
              <a:sym typeface="Calibri"/>
            </a:endParaRPr>
          </a:p>
        </p:txBody>
      </p:sp>
      <p:graphicFrame>
        <p:nvGraphicFramePr>
          <p:cNvPr id="955" name="Google Shape;955;p35"/>
          <p:cNvGraphicFramePr/>
          <p:nvPr/>
        </p:nvGraphicFramePr>
        <p:xfrm>
          <a:off x="502920" y="4297680"/>
          <a:ext cx="3000000" cy="3000000"/>
        </p:xfrm>
        <a:graphic>
          <a:graphicData uri="http://schemas.openxmlformats.org/drawingml/2006/table">
            <a:tbl>
              <a:tblPr>
                <a:noFill/>
                <a:tableStyleId>{0B7ADE64-2C2D-4D68-BEA2-7A829558A485}</a:tableStyleId>
              </a:tblPr>
              <a:tblGrid>
                <a:gridCol w="2743200"/>
                <a:gridCol w="3291850"/>
                <a:gridCol w="5120650"/>
              </a:tblGrid>
              <a:tr h="384050">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Agent</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Tools</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Workflow</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r>
              <a:tr h="384050">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Land Cover &amp; Change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RLCMS + CEO + GLAD/GFW</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Classify → detect change → tag each event for Protect Nature or NbS consumption</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Illegal Mining Detection</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CoMiMo + RAMI + mining-detector</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Candidate change → score against the tool with regional authority → route to enforcement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384050">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Illegal Logging / Deforestation</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GFW stack (shared with §05's EUDR agent)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Alerts → cross-reference PA and concession → unauthorised to enforcement, authorised to MRV</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REDD+ / MRV</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SEPAL + FAO Open Foris methodology</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Activity data per NFMS methodology → MRV report in the receiving registry's format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384050">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Biodiversity &amp; Valuation</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IBAT or GBIF+PC stack + InVEST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Run STAR (or open approximation) and InVEST → attach limitations and currency disclosure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36"/>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NRM — documented use cases</a:t>
            </a:r>
            <a:endParaRPr b="0" i="0" sz="3000" u="none" cap="none" strike="noStrike">
              <a:solidFill>
                <a:schemeClr val="dk1"/>
              </a:solidFill>
              <a:latin typeface="Calibri"/>
              <a:ea typeface="Calibri"/>
              <a:cs typeface="Calibri"/>
              <a:sym typeface="Calibri"/>
            </a:endParaRPr>
          </a:p>
        </p:txBody>
      </p:sp>
      <p:sp>
        <p:nvSpPr>
          <p:cNvPr id="962" name="Google Shape;962;p36"/>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The best-documented platform in the archive: seventeen of nineteen cases name an institution, most at ministry level.</a:t>
            </a:r>
            <a:endParaRPr b="0" i="0" sz="1350" u="none" cap="none" strike="noStrike">
              <a:solidFill>
                <a:schemeClr val="dk1"/>
              </a:solidFill>
              <a:latin typeface="Calibri"/>
              <a:ea typeface="Calibri"/>
              <a:cs typeface="Calibri"/>
              <a:sym typeface="Calibri"/>
            </a:endParaRPr>
          </a:p>
        </p:txBody>
      </p:sp>
      <p:sp>
        <p:nvSpPr>
          <p:cNvPr id="963" name="Google Shape;963;p36"/>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964" name="Google Shape;964;p36"/>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§06</a:t>
            </a:r>
            <a:endParaRPr b="0" i="0" sz="800" u="none" cap="none" strike="noStrike">
              <a:solidFill>
                <a:schemeClr val="dk1"/>
              </a:solidFill>
              <a:latin typeface="Calibri"/>
              <a:ea typeface="Calibri"/>
              <a:cs typeface="Calibri"/>
              <a:sym typeface="Calibri"/>
            </a:endParaRPr>
          </a:p>
        </p:txBody>
      </p:sp>
      <p:sp>
        <p:nvSpPr>
          <p:cNvPr id="965" name="Google Shape;965;p36"/>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32</a:t>
            </a:r>
            <a:endParaRPr b="0" i="0" sz="800" u="none" cap="none" strike="noStrike">
              <a:solidFill>
                <a:schemeClr val="dk1"/>
              </a:solidFill>
              <a:latin typeface="Calibri"/>
              <a:ea typeface="Calibri"/>
              <a:cs typeface="Calibri"/>
              <a:sym typeface="Calibri"/>
            </a:endParaRPr>
          </a:p>
        </p:txBody>
      </p:sp>
      <p:sp>
        <p:nvSpPr>
          <p:cNvPr id="966" name="Google Shape;966;p36"/>
          <p:cNvSpPr/>
          <p:nvPr/>
        </p:nvSpPr>
        <p:spPr>
          <a:xfrm>
            <a:off x="502920" y="148132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6"/>
          <p:cNvSpPr txBox="1"/>
          <p:nvPr/>
        </p:nvSpPr>
        <p:spPr>
          <a:xfrm>
            <a:off x="685800" y="160020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HKH · ICIMOD</a:t>
            </a:r>
            <a:endParaRPr b="0" i="0" sz="800" u="none" cap="none" strike="noStrike">
              <a:solidFill>
                <a:schemeClr val="dk1"/>
              </a:solidFill>
              <a:latin typeface="Calibri"/>
              <a:ea typeface="Calibri"/>
              <a:cs typeface="Calibri"/>
              <a:sym typeface="Calibri"/>
            </a:endParaRPr>
          </a:p>
        </p:txBody>
      </p:sp>
      <p:sp>
        <p:nvSpPr>
          <p:cNvPr id="968" name="Google Shape;968;p36"/>
          <p:cNvSpPr txBox="1"/>
          <p:nvPr/>
        </p:nvSpPr>
        <p:spPr>
          <a:xfrm>
            <a:off x="685800" y="179222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National Land Cover Monitoring — Nepal</a:t>
            </a:r>
            <a:endParaRPr b="0" i="0" sz="1250" u="none" cap="none" strike="noStrike">
              <a:solidFill>
                <a:schemeClr val="dk1"/>
              </a:solidFill>
              <a:latin typeface="Calibri"/>
              <a:ea typeface="Calibri"/>
              <a:cs typeface="Calibri"/>
              <a:sym typeface="Calibri"/>
            </a:endParaRPr>
          </a:p>
        </p:txBody>
      </p:sp>
      <p:sp>
        <p:nvSpPr>
          <p:cNvPr id="969" name="Google Shape;969;p36"/>
          <p:cNvSpPr txBox="1"/>
          <p:nvPr/>
        </p:nvSpPr>
        <p:spPr>
          <a:xfrm>
            <a:off x="685800" y="224942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Forest Research and Training Centre (FRTC)</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Tracking forest change and preparing Nepal's long-term NDC strategy</a:t>
            </a:r>
            <a:endParaRPr b="0" i="0" sz="800" u="none" cap="none" strike="noStrike">
              <a:solidFill>
                <a:schemeClr val="dk1"/>
              </a:solidFill>
              <a:latin typeface="Calibri"/>
              <a:ea typeface="Calibri"/>
              <a:cs typeface="Calibri"/>
              <a:sym typeface="Calibri"/>
            </a:endParaRPr>
          </a:p>
        </p:txBody>
      </p:sp>
      <p:sp>
        <p:nvSpPr>
          <p:cNvPr id="970" name="Google Shape;970;p36"/>
          <p:cNvSpPr txBox="1"/>
          <p:nvPr/>
        </p:nvSpPr>
        <p:spPr>
          <a:xfrm>
            <a:off x="685800" y="318211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LAND COVER × CLOCK 2 — STARTING HUB</a:t>
            </a:r>
            <a:endParaRPr b="0" i="0" sz="800" u="none" cap="none" strike="noStrike">
              <a:solidFill>
                <a:schemeClr val="dk1"/>
              </a:solidFill>
              <a:latin typeface="Calibri"/>
              <a:ea typeface="Calibri"/>
              <a:cs typeface="Calibri"/>
              <a:sym typeface="Calibri"/>
            </a:endParaRPr>
          </a:p>
        </p:txBody>
      </p:sp>
      <p:sp>
        <p:nvSpPr>
          <p:cNvPr id="971" name="Google Shape;971;p36"/>
          <p:cNvSpPr/>
          <p:nvPr/>
        </p:nvSpPr>
        <p:spPr>
          <a:xfrm>
            <a:off x="4282440" y="148132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36"/>
          <p:cNvSpPr txBox="1"/>
          <p:nvPr/>
        </p:nvSpPr>
        <p:spPr>
          <a:xfrm>
            <a:off x="4465320" y="160020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SE ASIA · ADPC</a:t>
            </a:r>
            <a:endParaRPr b="0" i="0" sz="800" u="none" cap="none" strike="noStrike">
              <a:solidFill>
                <a:schemeClr val="dk1"/>
              </a:solidFill>
              <a:latin typeface="Calibri"/>
              <a:ea typeface="Calibri"/>
              <a:cs typeface="Calibri"/>
              <a:sym typeface="Calibri"/>
            </a:endParaRPr>
          </a:p>
        </p:txBody>
      </p:sp>
      <p:sp>
        <p:nvSpPr>
          <p:cNvPr id="973" name="Google Shape;973;p36"/>
          <p:cNvSpPr txBox="1"/>
          <p:nvPr/>
        </p:nvSpPr>
        <p:spPr>
          <a:xfrm>
            <a:off x="4465320" y="179222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Protected Area Alerts — Cambodia</a:t>
            </a:r>
            <a:endParaRPr b="0" i="0" sz="1250" u="none" cap="none" strike="noStrike">
              <a:solidFill>
                <a:schemeClr val="dk1"/>
              </a:solidFill>
              <a:latin typeface="Calibri"/>
              <a:ea typeface="Calibri"/>
              <a:cs typeface="Calibri"/>
              <a:sym typeface="Calibri"/>
            </a:endParaRPr>
          </a:p>
        </p:txBody>
      </p:sp>
      <p:sp>
        <p:nvSpPr>
          <p:cNvPr id="974" name="Google Shape;974;p36"/>
          <p:cNvSpPr txBox="1"/>
          <p:nvPr/>
        </p:nvSpPr>
        <p:spPr>
          <a:xfrm>
            <a:off x="4465320" y="224942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Ministry of Environment; Provincial Dept; UNDP</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Where rangers patrol — prioritising scarce resources at Prey Lang</a:t>
            </a:r>
            <a:endParaRPr b="0" i="0" sz="800" u="none" cap="none" strike="noStrike">
              <a:solidFill>
                <a:schemeClr val="dk1"/>
              </a:solidFill>
              <a:latin typeface="Calibri"/>
              <a:ea typeface="Calibri"/>
              <a:cs typeface="Calibri"/>
              <a:sym typeface="Calibri"/>
            </a:endParaRPr>
          </a:p>
        </p:txBody>
      </p:sp>
      <p:sp>
        <p:nvSpPr>
          <p:cNvPr id="975" name="Google Shape;975;p36"/>
          <p:cNvSpPr txBox="1"/>
          <p:nvPr/>
        </p:nvSpPr>
        <p:spPr>
          <a:xfrm>
            <a:off x="4465320" y="318211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BIODIVERSITY × CLOCK 1 · ENFORCEMENT</a:t>
            </a:r>
            <a:endParaRPr b="0" i="0" sz="800" u="none" cap="none" strike="noStrike">
              <a:solidFill>
                <a:schemeClr val="dk1"/>
              </a:solidFill>
              <a:latin typeface="Calibri"/>
              <a:ea typeface="Calibri"/>
              <a:cs typeface="Calibri"/>
              <a:sym typeface="Calibri"/>
            </a:endParaRPr>
          </a:p>
        </p:txBody>
      </p:sp>
      <p:sp>
        <p:nvSpPr>
          <p:cNvPr id="976" name="Google Shape;976;p36"/>
          <p:cNvSpPr/>
          <p:nvPr/>
        </p:nvSpPr>
        <p:spPr>
          <a:xfrm>
            <a:off x="8061960" y="148132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6"/>
          <p:cNvSpPr txBox="1"/>
          <p:nvPr/>
        </p:nvSpPr>
        <p:spPr>
          <a:xfrm>
            <a:off x="8244840" y="160020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AMAZONIA</a:t>
            </a:r>
            <a:endParaRPr b="0" i="0" sz="800" u="none" cap="none" strike="noStrike">
              <a:solidFill>
                <a:schemeClr val="dk1"/>
              </a:solidFill>
              <a:latin typeface="Calibri"/>
              <a:ea typeface="Calibri"/>
              <a:cs typeface="Calibri"/>
              <a:sym typeface="Calibri"/>
            </a:endParaRPr>
          </a:p>
        </p:txBody>
      </p:sp>
      <p:sp>
        <p:nvSpPr>
          <p:cNvPr id="978" name="Google Shape;978;p36"/>
          <p:cNvSpPr txBox="1"/>
          <p:nvPr/>
        </p:nvSpPr>
        <p:spPr>
          <a:xfrm>
            <a:off x="8244840" y="179222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RAMI — radar mining monitoring, Peru</a:t>
            </a:r>
            <a:endParaRPr b="0" i="0" sz="1250" u="none" cap="none" strike="noStrike">
              <a:solidFill>
                <a:schemeClr val="dk1"/>
              </a:solidFill>
              <a:latin typeface="Calibri"/>
              <a:ea typeface="Calibri"/>
              <a:cs typeface="Calibri"/>
              <a:sym typeface="Calibri"/>
            </a:endParaRPr>
          </a:p>
        </p:txBody>
      </p:sp>
      <p:sp>
        <p:nvSpPr>
          <p:cNvPr id="979" name="Google Shape;979;p36"/>
          <p:cNvSpPr txBox="1"/>
          <p:nvPr/>
        </p:nvSpPr>
        <p:spPr>
          <a:xfrm>
            <a:off x="8244840" y="224942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MINAM; Conservación Amazónica; Alliance CIAT; SIG</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Where to target eradication of illegal mining and monitor permitted concessions</a:t>
            </a:r>
            <a:endParaRPr b="0" i="0" sz="800" u="none" cap="none" strike="noStrike">
              <a:solidFill>
                <a:schemeClr val="dk1"/>
              </a:solidFill>
              <a:latin typeface="Calibri"/>
              <a:ea typeface="Calibri"/>
              <a:cs typeface="Calibri"/>
              <a:sym typeface="Calibri"/>
            </a:endParaRPr>
          </a:p>
        </p:txBody>
      </p:sp>
      <p:sp>
        <p:nvSpPr>
          <p:cNvPr id="980" name="Google Shape;980;p36"/>
          <p:cNvSpPr txBox="1"/>
          <p:nvPr/>
        </p:nvSpPr>
        <p:spPr>
          <a:xfrm>
            <a:off x="8244840" y="318211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MINING × CLOCK 1 · CONCESSIONS</a:t>
            </a:r>
            <a:endParaRPr b="0" i="0" sz="800" u="none" cap="none" strike="noStrike">
              <a:solidFill>
                <a:schemeClr val="dk1"/>
              </a:solidFill>
              <a:latin typeface="Calibri"/>
              <a:ea typeface="Calibri"/>
              <a:cs typeface="Calibri"/>
              <a:sym typeface="Calibri"/>
            </a:endParaRPr>
          </a:p>
        </p:txBody>
      </p:sp>
      <p:sp>
        <p:nvSpPr>
          <p:cNvPr id="981" name="Google Shape;981;p36"/>
          <p:cNvSpPr/>
          <p:nvPr/>
        </p:nvSpPr>
        <p:spPr>
          <a:xfrm>
            <a:off x="502920" y="367588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36"/>
          <p:cNvSpPr txBox="1"/>
          <p:nvPr/>
        </p:nvSpPr>
        <p:spPr>
          <a:xfrm>
            <a:off x="685800" y="379476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AMAZONIA</a:t>
            </a:r>
            <a:endParaRPr b="0" i="0" sz="800" u="none" cap="none" strike="noStrike">
              <a:solidFill>
                <a:schemeClr val="dk1"/>
              </a:solidFill>
              <a:latin typeface="Calibri"/>
              <a:ea typeface="Calibri"/>
              <a:cs typeface="Calibri"/>
              <a:sym typeface="Calibri"/>
            </a:endParaRPr>
          </a:p>
        </p:txBody>
      </p:sp>
      <p:sp>
        <p:nvSpPr>
          <p:cNvPr id="983" name="Google Shape;983;p36"/>
          <p:cNvSpPr txBox="1"/>
          <p:nvPr/>
        </p:nvSpPr>
        <p:spPr>
          <a:xfrm>
            <a:off x="685800" y="398678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CoMiMo — Colombian mining monitoring</a:t>
            </a:r>
            <a:endParaRPr b="0" i="0" sz="1250" u="none" cap="none" strike="noStrike">
              <a:solidFill>
                <a:schemeClr val="dk1"/>
              </a:solidFill>
              <a:latin typeface="Calibri"/>
              <a:ea typeface="Calibri"/>
              <a:cs typeface="Calibri"/>
              <a:sym typeface="Calibri"/>
            </a:endParaRPr>
          </a:p>
        </p:txBody>
      </p:sp>
      <p:sp>
        <p:nvSpPr>
          <p:cNvPr id="984" name="Google Shape;984;p36"/>
          <p:cNvSpPr txBox="1"/>
          <p:nvPr/>
        </p:nvSpPr>
        <p:spPr>
          <a:xfrm>
            <a:off x="685800" y="444398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Min. of Environment; ANLA; Univ. del Rosario</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Which municipalities and sites environmental authorities investigate</a:t>
            </a:r>
            <a:endParaRPr b="0" i="0" sz="800" u="none" cap="none" strike="noStrike">
              <a:solidFill>
                <a:schemeClr val="dk1"/>
              </a:solidFill>
              <a:latin typeface="Calibri"/>
              <a:ea typeface="Calibri"/>
              <a:cs typeface="Calibri"/>
              <a:sym typeface="Calibri"/>
            </a:endParaRPr>
          </a:p>
        </p:txBody>
      </p:sp>
      <p:sp>
        <p:nvSpPr>
          <p:cNvPr id="985" name="Google Shape;985;p36"/>
          <p:cNvSpPr txBox="1"/>
          <p:nvPr/>
        </p:nvSpPr>
        <p:spPr>
          <a:xfrm>
            <a:off x="685800" y="537667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MINING × CLOCK 1 · COMMUNITY VALIDATION</a:t>
            </a:r>
            <a:endParaRPr b="0" i="0" sz="800" u="none" cap="none" strike="noStrike">
              <a:solidFill>
                <a:schemeClr val="dk1"/>
              </a:solidFill>
              <a:latin typeface="Calibri"/>
              <a:ea typeface="Calibri"/>
              <a:cs typeface="Calibri"/>
              <a:sym typeface="Calibri"/>
            </a:endParaRPr>
          </a:p>
        </p:txBody>
      </p:sp>
      <p:sp>
        <p:nvSpPr>
          <p:cNvPr id="986" name="Google Shape;986;p36"/>
          <p:cNvSpPr/>
          <p:nvPr/>
        </p:nvSpPr>
        <p:spPr>
          <a:xfrm>
            <a:off x="4282440" y="367588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6"/>
          <p:cNvSpPr txBox="1"/>
          <p:nvPr/>
        </p:nvSpPr>
        <p:spPr>
          <a:xfrm>
            <a:off x="4465320" y="379476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SE ASIA / MEKONG</a:t>
            </a:r>
            <a:endParaRPr b="0" i="0" sz="800" u="none" cap="none" strike="noStrike">
              <a:solidFill>
                <a:schemeClr val="dk1"/>
              </a:solidFill>
              <a:latin typeface="Calibri"/>
              <a:ea typeface="Calibri"/>
              <a:cs typeface="Calibri"/>
              <a:sym typeface="Calibri"/>
            </a:endParaRPr>
          </a:p>
        </p:txBody>
      </p:sp>
      <p:sp>
        <p:nvSpPr>
          <p:cNvPr id="988" name="Google Shape;988;p36"/>
          <p:cNvSpPr txBox="1"/>
          <p:nvPr/>
        </p:nvSpPr>
        <p:spPr>
          <a:xfrm>
            <a:off x="4465320" y="398678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Regional Land Cover Monitoring System</a:t>
            </a:r>
            <a:endParaRPr b="0" i="0" sz="1250" u="none" cap="none" strike="noStrike">
              <a:solidFill>
                <a:schemeClr val="dk1"/>
              </a:solidFill>
              <a:latin typeface="Calibri"/>
              <a:ea typeface="Calibri"/>
              <a:cs typeface="Calibri"/>
              <a:sym typeface="Calibri"/>
            </a:endParaRPr>
          </a:p>
        </p:txBody>
      </p:sp>
      <p:sp>
        <p:nvSpPr>
          <p:cNvPr id="989" name="Google Shape;989;p36"/>
          <p:cNvSpPr txBox="1"/>
          <p:nvPr/>
        </p:nvSpPr>
        <p:spPr>
          <a:xfrm>
            <a:off x="4465320" y="444398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USAID/Cambodia; CI; WCS; WWF; FFI; DENR Philippines</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Carbon emissions reporting for UN REDD+; Vietnam rice extent for water allocation</a:t>
            </a:r>
            <a:endParaRPr b="0" i="0" sz="800" u="none" cap="none" strike="noStrike">
              <a:solidFill>
                <a:schemeClr val="dk1"/>
              </a:solidFill>
              <a:latin typeface="Calibri"/>
              <a:ea typeface="Calibri"/>
              <a:cs typeface="Calibri"/>
              <a:sym typeface="Calibri"/>
            </a:endParaRPr>
          </a:p>
        </p:txBody>
      </p:sp>
      <p:sp>
        <p:nvSpPr>
          <p:cNvPr id="990" name="Google Shape;990;p36"/>
          <p:cNvSpPr txBox="1"/>
          <p:nvPr/>
        </p:nvSpPr>
        <p:spPr>
          <a:xfrm>
            <a:off x="4465320" y="537667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THE N2 FORK, ALREADY IN PRODUCTION</a:t>
            </a:r>
            <a:endParaRPr b="0" i="0" sz="800" u="none" cap="none" strike="noStrike">
              <a:solidFill>
                <a:schemeClr val="dk1"/>
              </a:solidFill>
              <a:latin typeface="Calibri"/>
              <a:ea typeface="Calibri"/>
              <a:cs typeface="Calibri"/>
              <a:sym typeface="Calibri"/>
            </a:endParaRPr>
          </a:p>
        </p:txBody>
      </p:sp>
      <p:sp>
        <p:nvSpPr>
          <p:cNvPr id="991" name="Google Shape;991;p36"/>
          <p:cNvSpPr/>
          <p:nvPr/>
        </p:nvSpPr>
        <p:spPr>
          <a:xfrm>
            <a:off x="8061960" y="3675888"/>
            <a:ext cx="3596640" cy="2011680"/>
          </a:xfrm>
          <a:prstGeom prst="roundRect">
            <a:avLst>
              <a:gd fmla="val 2727"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6"/>
          <p:cNvSpPr txBox="1"/>
          <p:nvPr/>
        </p:nvSpPr>
        <p:spPr>
          <a:xfrm>
            <a:off x="8244840" y="3794760"/>
            <a:ext cx="32308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AMAZONIA</a:t>
            </a:r>
            <a:endParaRPr b="0" i="0" sz="800" u="none" cap="none" strike="noStrike">
              <a:solidFill>
                <a:schemeClr val="dk1"/>
              </a:solidFill>
              <a:latin typeface="Calibri"/>
              <a:ea typeface="Calibri"/>
              <a:cs typeface="Calibri"/>
              <a:sym typeface="Calibri"/>
            </a:endParaRPr>
          </a:p>
        </p:txBody>
      </p:sp>
      <p:sp>
        <p:nvSpPr>
          <p:cNvPr id="993" name="Google Shape;993;p36"/>
          <p:cNvSpPr txBox="1"/>
          <p:nvPr/>
        </p:nvSpPr>
        <p:spPr>
          <a:xfrm>
            <a:off x="8244840" y="3986784"/>
            <a:ext cx="323088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250"/>
              <a:buFont typeface="Calibri"/>
              <a:buNone/>
            </a:pPr>
            <a:r>
              <a:rPr b="1" i="0" lang="en-US" sz="1250" u="none" cap="none" strike="noStrike">
                <a:solidFill>
                  <a:srgbClr val="1C212A"/>
                </a:solidFill>
                <a:latin typeface="Calibri"/>
                <a:ea typeface="Calibri"/>
                <a:cs typeface="Calibri"/>
                <a:sym typeface="Calibri"/>
              </a:rPr>
              <a:t>Forest change &amp; ecosystem services — Acre/Ucayali</a:t>
            </a:r>
            <a:endParaRPr b="0" i="0" sz="1250" u="none" cap="none" strike="noStrike">
              <a:solidFill>
                <a:schemeClr val="dk1"/>
              </a:solidFill>
              <a:latin typeface="Calibri"/>
              <a:ea typeface="Calibri"/>
              <a:cs typeface="Calibri"/>
              <a:sym typeface="Calibri"/>
            </a:endParaRPr>
          </a:p>
        </p:txBody>
      </p:sp>
      <p:sp>
        <p:nvSpPr>
          <p:cNvPr id="994" name="Google Shape;994;p36"/>
          <p:cNvSpPr txBox="1"/>
          <p:nvPr/>
        </p:nvSpPr>
        <p:spPr>
          <a:xfrm>
            <a:off x="8244840" y="4443984"/>
            <a:ext cx="3230880" cy="91440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USER  </a:t>
            </a:r>
            <a:r>
              <a:rPr b="0" i="0" lang="en-US" sz="1000" u="none" cap="none" strike="noStrike">
                <a:solidFill>
                  <a:srgbClr val="1C212A"/>
                </a:solidFill>
                <a:latin typeface="Calibri"/>
                <a:ea typeface="Calibri"/>
                <a:cs typeface="Calibri"/>
                <a:sym typeface="Calibri"/>
              </a:rPr>
              <a:t>SEMAPI-Acre; CPI-Acre; Gobierno Regional de Ucayali</a:t>
            </a:r>
            <a:br>
              <a:rPr b="0" i="0" lang="en-US" sz="1000" u="none" cap="none" strike="noStrike">
                <a:solidFill>
                  <a:srgbClr val="1C212A"/>
                </a:solidFill>
                <a:latin typeface="Calibri"/>
                <a:ea typeface="Calibri"/>
                <a:cs typeface="Calibri"/>
                <a:sym typeface="Calibri"/>
              </a:rPr>
            </a:br>
            <a:r>
              <a:rPr b="0" i="0" lang="en-US" sz="800" u="none" cap="none" strike="noStrike">
                <a:solidFill>
                  <a:srgbClr val="6D6E71"/>
                </a:solidFill>
                <a:latin typeface="Consolas"/>
                <a:ea typeface="Consolas"/>
                <a:cs typeface="Consolas"/>
                <a:sym typeface="Consolas"/>
              </a:rPr>
              <a:t>DECISION  </a:t>
            </a:r>
            <a:r>
              <a:rPr b="0" i="0" lang="en-US" sz="1000" u="none" cap="none" strike="noStrike">
                <a:solidFill>
                  <a:srgbClr val="4D5763"/>
                </a:solidFill>
                <a:latin typeface="Calibri"/>
                <a:ea typeface="Calibri"/>
                <a:cs typeface="Calibri"/>
                <a:sym typeface="Calibri"/>
              </a:rPr>
              <a:t>Trade-offs of a transnational transport corridor against forest and hydrological services</a:t>
            </a:r>
            <a:endParaRPr b="0" i="0" sz="800" u="none" cap="none" strike="noStrike">
              <a:solidFill>
                <a:schemeClr val="dk1"/>
              </a:solidFill>
              <a:latin typeface="Calibri"/>
              <a:ea typeface="Calibri"/>
              <a:cs typeface="Calibri"/>
              <a:sym typeface="Calibri"/>
            </a:endParaRPr>
          </a:p>
        </p:txBody>
      </p:sp>
      <p:sp>
        <p:nvSpPr>
          <p:cNvPr id="995" name="Google Shape;995;p36"/>
          <p:cNvSpPr txBox="1"/>
          <p:nvPr/>
        </p:nvSpPr>
        <p:spPr>
          <a:xfrm>
            <a:off x="8244840" y="5376672"/>
            <a:ext cx="32308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80B0"/>
              </a:buClr>
              <a:buSzPts val="800"/>
              <a:buFont typeface="Consolas"/>
              <a:buNone/>
            </a:pPr>
            <a:r>
              <a:rPr b="0" i="0" lang="en-US" sz="800" u="none" cap="none" strike="noStrike">
                <a:solidFill>
                  <a:srgbClr val="2380B0"/>
                </a:solidFill>
                <a:latin typeface="Consolas"/>
                <a:ea typeface="Consolas"/>
                <a:cs typeface="Consolas"/>
                <a:sym typeface="Consolas"/>
              </a:rPr>
              <a:t>ECOSYSTEM SERVICES × CLOCK 3</a:t>
            </a:r>
            <a:endParaRPr b="0" i="0" sz="800" u="none" cap="none" strike="noStrike">
              <a:solidFill>
                <a:schemeClr val="dk1"/>
              </a:solidFill>
              <a:latin typeface="Calibri"/>
              <a:ea typeface="Calibri"/>
              <a:cs typeface="Calibri"/>
              <a:sym typeface="Calibri"/>
            </a:endParaRPr>
          </a:p>
        </p:txBody>
      </p:sp>
      <p:sp>
        <p:nvSpPr>
          <p:cNvPr id="996" name="Google Shape;996;p36"/>
          <p:cNvSpPr/>
          <p:nvPr/>
        </p:nvSpPr>
        <p:spPr>
          <a:xfrm>
            <a:off x="502920" y="5779008"/>
            <a:ext cx="11155680" cy="594360"/>
          </a:xfrm>
          <a:prstGeom prst="roundRect">
            <a:avLst>
              <a:gd fmla="val 9231"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36"/>
          <p:cNvSpPr txBox="1"/>
          <p:nvPr/>
        </p:nvSpPr>
        <p:spPr>
          <a:xfrm>
            <a:off x="713232" y="5870448"/>
            <a:ext cx="10789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The hub-footprint mismatch, again.  </a:t>
            </a:r>
            <a:r>
              <a:rPr b="0" i="0" lang="en-US" sz="1150" u="none" cap="none" strike="noStrike">
                <a:solidFill>
                  <a:srgbClr val="4D5763"/>
                </a:solidFill>
                <a:latin typeface="Calibri"/>
                <a:ea typeface="Calibri"/>
                <a:cs typeface="Calibri"/>
                <a:sym typeface="Calibri"/>
              </a:rPr>
              <a:t>LCEM starts in South Asia and its Nepal flagship is genuinely strong — but eight of twelve documented cases sit in Amazonia, where the mining, mangrove and scenario assets that fill the hardest cells were built. Worth deciding deliberately rather than inheriting.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37"/>
          <p:cNvSpPr/>
          <p:nvPr/>
        </p:nvSpPr>
        <p:spPr>
          <a:xfrm>
            <a:off x="0" y="0"/>
            <a:ext cx="12161520" cy="6858000"/>
          </a:xfrm>
          <a:prstGeom prst="rect">
            <a:avLst/>
          </a:prstGeom>
          <a:solidFill>
            <a:srgbClr val="1C21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37"/>
          <p:cNvSpPr/>
          <p:nvPr/>
        </p:nvSpPr>
        <p:spPr>
          <a:xfrm>
            <a:off x="9509760" y="-1280160"/>
            <a:ext cx="4754880" cy="4754880"/>
          </a:xfrm>
          <a:prstGeom prst="ellipse">
            <a:avLst/>
          </a:prstGeom>
          <a:solidFill>
            <a:srgbClr val="1A6389">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37"/>
          <p:cNvSpPr txBox="1"/>
          <p:nvPr/>
        </p:nvSpPr>
        <p:spPr>
          <a:xfrm>
            <a:off x="822960" y="228600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D8C8"/>
              </a:buClr>
              <a:buSzPts val="1500"/>
              <a:buFont typeface="Consolas"/>
              <a:buNone/>
            </a:pPr>
            <a:r>
              <a:rPr b="0" i="0" lang="en-US" sz="1500" u="none" cap="none" strike="noStrike">
                <a:solidFill>
                  <a:srgbClr val="7CD8C8"/>
                </a:solidFill>
                <a:latin typeface="Consolas"/>
                <a:ea typeface="Consolas"/>
                <a:cs typeface="Consolas"/>
                <a:sym typeface="Consolas"/>
              </a:rPr>
              <a:t>07 / 08</a:t>
            </a:r>
            <a:endParaRPr b="0" i="0" sz="1500" u="none" cap="none" strike="noStrike">
              <a:solidFill>
                <a:schemeClr val="dk1"/>
              </a:solidFill>
              <a:latin typeface="Calibri"/>
              <a:ea typeface="Calibri"/>
              <a:cs typeface="Calibri"/>
              <a:sym typeface="Calibri"/>
            </a:endParaRPr>
          </a:p>
        </p:txBody>
      </p:sp>
      <p:sp>
        <p:nvSpPr>
          <p:cNvPr id="1006" name="Google Shape;1006;p37"/>
          <p:cNvSpPr txBox="1"/>
          <p:nvPr/>
        </p:nvSpPr>
        <p:spPr>
          <a:xfrm>
            <a:off x="822960" y="2743200"/>
            <a:ext cx="96012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Roboto Condensed"/>
              <a:buNone/>
            </a:pPr>
            <a:r>
              <a:rPr b="1" i="0" lang="en-US" sz="4000" u="none" cap="none" strike="noStrike">
                <a:solidFill>
                  <a:srgbClr val="FFFFFF"/>
                </a:solidFill>
                <a:latin typeface="Roboto Condensed"/>
                <a:ea typeface="Roboto Condensed"/>
                <a:cs typeface="Roboto Condensed"/>
                <a:sym typeface="Roboto Condensed"/>
              </a:rPr>
              <a:t>Shared Infrastructure, Decisions &amp; Roadmap</a:t>
            </a:r>
            <a:endParaRPr b="0" i="0" sz="4000" u="none" cap="none" strike="noStrike">
              <a:solidFill>
                <a:schemeClr val="dk1"/>
              </a:solidFill>
              <a:latin typeface="Calibri"/>
              <a:ea typeface="Calibri"/>
              <a:cs typeface="Calibri"/>
              <a:sym typeface="Calibri"/>
            </a:endParaRPr>
          </a:p>
        </p:txBody>
      </p:sp>
      <p:sp>
        <p:nvSpPr>
          <p:cNvPr id="1007" name="Google Shape;1007;p37"/>
          <p:cNvSpPr txBox="1"/>
          <p:nvPr/>
        </p:nvSpPr>
        <p:spPr>
          <a:xfrm>
            <a:off x="822960" y="3840480"/>
            <a:ext cx="87782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D6E6"/>
              </a:buClr>
              <a:buSzPts val="1500"/>
              <a:buFont typeface="Calibri"/>
              <a:buNone/>
            </a:pPr>
            <a:r>
              <a:rPr b="0" i="0" lang="en-US" sz="1500" u="none" cap="none" strike="noStrike">
                <a:solidFill>
                  <a:srgbClr val="C4D6E6"/>
                </a:solidFill>
                <a:latin typeface="Calibri"/>
                <a:ea typeface="Calibri"/>
                <a:cs typeface="Calibri"/>
                <a:sym typeface="Calibri"/>
              </a:rPr>
              <a:t>Three organizational domains. One system. Twenty-two decisions, one of which now gates everything else.</a:t>
            </a:r>
            <a:endParaRPr b="0" i="0" sz="1500" u="none" cap="none" strike="noStrike">
              <a:solidFill>
                <a:schemeClr val="dk1"/>
              </a:solidFill>
              <a:latin typeface="Calibri"/>
              <a:ea typeface="Calibri"/>
              <a:cs typeface="Calibri"/>
              <a:sym typeface="Calibri"/>
            </a:endParaRPr>
          </a:p>
        </p:txBody>
      </p:sp>
      <p:sp>
        <p:nvSpPr>
          <p:cNvPr id="1008" name="Google Shape;1008;p37"/>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8CA8"/>
              </a:buClr>
              <a:buSzPts val="800"/>
              <a:buFont typeface="Consolas"/>
              <a:buNone/>
            </a:pPr>
            <a:r>
              <a:rPr b="0" i="0" lang="en-US" sz="800" u="none" cap="none" strike="noStrike">
                <a:solidFill>
                  <a:srgbClr val="6E8CA8"/>
                </a:solidFill>
                <a:latin typeface="Consolas"/>
                <a:ea typeface="Consolas"/>
                <a:cs typeface="Consolas"/>
                <a:sym typeface="Consolas"/>
              </a:rPr>
              <a:t>33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38"/>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Five sharing points, built once</a:t>
            </a:r>
            <a:endParaRPr b="0" i="0" sz="3000" u="none" cap="none" strike="noStrike">
              <a:solidFill>
                <a:schemeClr val="dk1"/>
              </a:solidFill>
              <a:latin typeface="Calibri"/>
              <a:ea typeface="Calibri"/>
              <a:cs typeface="Calibri"/>
              <a:sym typeface="Calibri"/>
            </a:endParaRPr>
          </a:p>
        </p:txBody>
      </p:sp>
      <p:sp>
        <p:nvSpPr>
          <p:cNvPr id="1015" name="Google Shape;1015;p38"/>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'Global Risk Platform' describes who scoped and funded a capability — not a separate system a user has to go find it in.</a:t>
            </a:r>
            <a:endParaRPr b="0" i="0" sz="1350" u="none" cap="none" strike="noStrike">
              <a:solidFill>
                <a:schemeClr val="dk1"/>
              </a:solidFill>
              <a:latin typeface="Calibri"/>
              <a:ea typeface="Calibri"/>
              <a:cs typeface="Calibri"/>
              <a:sym typeface="Calibri"/>
            </a:endParaRPr>
          </a:p>
        </p:txBody>
      </p:sp>
      <p:sp>
        <p:nvSpPr>
          <p:cNvPr id="1016" name="Google Shape;1016;p38"/>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1017" name="Google Shape;1017;p38"/>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§07</a:t>
            </a:r>
            <a:endParaRPr b="0" i="0" sz="800" u="none" cap="none" strike="noStrike">
              <a:solidFill>
                <a:schemeClr val="dk1"/>
              </a:solidFill>
              <a:latin typeface="Calibri"/>
              <a:ea typeface="Calibri"/>
              <a:cs typeface="Calibri"/>
              <a:sym typeface="Calibri"/>
            </a:endParaRPr>
          </a:p>
        </p:txBody>
      </p:sp>
      <p:sp>
        <p:nvSpPr>
          <p:cNvPr id="1018" name="Google Shape;1018;p38"/>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34</a:t>
            </a:r>
            <a:endParaRPr b="0" i="0" sz="800" u="none" cap="none" strike="noStrike">
              <a:solidFill>
                <a:schemeClr val="dk1"/>
              </a:solidFill>
              <a:latin typeface="Calibri"/>
              <a:ea typeface="Calibri"/>
              <a:cs typeface="Calibri"/>
              <a:sym typeface="Calibri"/>
            </a:endParaRPr>
          </a:p>
        </p:txBody>
      </p:sp>
      <p:graphicFrame>
        <p:nvGraphicFramePr>
          <p:cNvPr id="1019" name="Google Shape;1019;p38"/>
          <p:cNvGraphicFramePr/>
          <p:nvPr/>
        </p:nvGraphicFramePr>
        <p:xfrm>
          <a:off x="502920" y="1645920"/>
          <a:ext cx="3000000" cy="3000000"/>
        </p:xfrm>
        <a:graphic>
          <a:graphicData uri="http://schemas.openxmlformats.org/drawingml/2006/table">
            <a:tbl>
              <a:tblPr>
                <a:noFill/>
                <a:tableStyleId>{0B7ADE64-2C2D-4D68-BEA2-7A829558A485}</a:tableStyleId>
              </a:tblPr>
              <a:tblGrid>
                <a:gridCol w="3200400"/>
                <a:gridCol w="2377450"/>
                <a:gridCol w="3108950"/>
                <a:gridCol w="2468875"/>
              </a:tblGrid>
              <a:tr h="457200">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Shared signal</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Global Risk</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Food Security</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NRM</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r>
              <a:tr h="457200">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Deforestation / land-disturbance alerts</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EUDR compliance module</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Protect Nature module</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Climate &amp; hazard data</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Hazard models</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Climate-adjusted calendars, yield forecasts</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457200">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Land cover &amp; change</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Exposure layer (assets + nature)</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Field/crop-type layer (cropland baseline)</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Platform backbone by definition</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GEOGloWS streamflow</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Flood hazard module</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Irrigation-water availability</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Water-resource / wetland monitoring</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457200">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NASA Harvest methodology</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In-season yield estimation (primary)</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Cropland classification (adjacent)</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bl>
          </a:graphicData>
        </a:graphic>
      </p:graphicFrame>
      <p:sp>
        <p:nvSpPr>
          <p:cNvPr id="1020" name="Google Shape;1020;p38"/>
          <p:cNvSpPr/>
          <p:nvPr/>
        </p:nvSpPr>
        <p:spPr>
          <a:xfrm>
            <a:off x="502920" y="4114800"/>
            <a:ext cx="11155680" cy="914400"/>
          </a:xfrm>
          <a:prstGeom prst="roundRect">
            <a:avLst>
              <a:gd fmla="val 6000"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8"/>
          <p:cNvSpPr txBox="1"/>
          <p:nvPr/>
        </p:nvSpPr>
        <p:spPr>
          <a:xfrm>
            <a:off x="713232" y="4206240"/>
            <a:ext cx="107899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What makes the sharing real rather than aspirational:  </a:t>
            </a:r>
            <a:r>
              <a:rPr b="0" i="0" lang="en-US" sz="1150" u="none" cap="none" strike="noStrike">
                <a:solidFill>
                  <a:srgbClr val="4D5763"/>
                </a:solidFill>
                <a:latin typeface="Calibri"/>
                <a:ea typeface="Calibri"/>
                <a:cs typeface="Calibri"/>
                <a:sym typeface="Calibri"/>
              </a:rPr>
              <a:t>the three contracts — E1 HazardFootprint, F1 FieldObservation, N1 LandCoverChange — are deliberately the same shape, and E3 = F3 = N3 is literally one join service. Every future build decision defaults to 'build this once, in the shared system, tagged with which domain scoped it.'</a:t>
            </a:r>
            <a:endParaRPr b="0" i="0" sz="1150" u="none" cap="none" strike="noStrike">
              <a:solidFill>
                <a:schemeClr val="dk1"/>
              </a:solidFill>
              <a:latin typeface="Calibri"/>
              <a:ea typeface="Calibri"/>
              <a:cs typeface="Calibri"/>
              <a:sym typeface="Calibri"/>
            </a:endParaRPr>
          </a:p>
        </p:txBody>
      </p:sp>
      <p:sp>
        <p:nvSpPr>
          <p:cNvPr id="1022" name="Google Shape;1022;p38"/>
          <p:cNvSpPr/>
          <p:nvPr/>
        </p:nvSpPr>
        <p:spPr>
          <a:xfrm>
            <a:off x="502920" y="5166360"/>
            <a:ext cx="11155680" cy="777240"/>
          </a:xfrm>
          <a:prstGeom prst="roundRect">
            <a:avLst>
              <a:gd fmla="val 7059"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38"/>
          <p:cNvSpPr txBox="1"/>
          <p:nvPr/>
        </p:nvSpPr>
        <p:spPr>
          <a:xfrm>
            <a:off x="713232" y="5257800"/>
            <a:ext cx="107899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Hub footprint — a real mismatch, flagged not hidden.  </a:t>
            </a:r>
            <a:r>
              <a:rPr b="0" i="0" lang="en-US" sz="1150" u="none" cap="none" strike="noStrike">
                <a:solidFill>
                  <a:srgbClr val="4D5763"/>
                </a:solidFill>
                <a:latin typeface="Calibri"/>
                <a:ea typeface="Calibri"/>
                <a:cs typeface="Calibri"/>
                <a:sym typeface="Calibri"/>
              </a:rPr>
              <a:t>Food Security's documented demand sits in E&amp;S Africa and West Africa, not its named associated hubs. NRM's sits in Amazonia, not its South Asia starting hub. Sequencing capacity investment should follow where the use cases already are.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39"/>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Decisions status board</a:t>
            </a:r>
            <a:endParaRPr b="0" i="0" sz="3000" u="none" cap="none" strike="noStrike">
              <a:solidFill>
                <a:schemeClr val="dk1"/>
              </a:solidFill>
              <a:latin typeface="Calibri"/>
              <a:ea typeface="Calibri"/>
              <a:cs typeface="Calibri"/>
              <a:sym typeface="Calibri"/>
            </a:endParaRPr>
          </a:p>
        </p:txBody>
      </p:sp>
      <p:sp>
        <p:nvSpPr>
          <p:cNvPr id="1030" name="Google Shape;1030;p39"/>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22 tracked decisions. Decision #14's residual is now closed by the §02 inventory.</a:t>
            </a:r>
            <a:endParaRPr b="0" i="0" sz="1350" u="none" cap="none" strike="noStrike">
              <a:solidFill>
                <a:schemeClr val="dk1"/>
              </a:solidFill>
              <a:latin typeface="Calibri"/>
              <a:ea typeface="Calibri"/>
              <a:cs typeface="Calibri"/>
              <a:sym typeface="Calibri"/>
            </a:endParaRPr>
          </a:p>
        </p:txBody>
      </p:sp>
      <p:sp>
        <p:nvSpPr>
          <p:cNvPr id="1031" name="Google Shape;1031;p39"/>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1032" name="Google Shape;1032;p39"/>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§08</a:t>
            </a:r>
            <a:endParaRPr b="0" i="0" sz="800" u="none" cap="none" strike="noStrike">
              <a:solidFill>
                <a:schemeClr val="dk1"/>
              </a:solidFill>
              <a:latin typeface="Calibri"/>
              <a:ea typeface="Calibri"/>
              <a:cs typeface="Calibri"/>
              <a:sym typeface="Calibri"/>
            </a:endParaRPr>
          </a:p>
        </p:txBody>
      </p:sp>
      <p:sp>
        <p:nvSpPr>
          <p:cNvPr id="1033" name="Google Shape;1033;p39"/>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35</a:t>
            </a:r>
            <a:endParaRPr b="0" i="0" sz="800" u="none" cap="none" strike="noStrike">
              <a:solidFill>
                <a:schemeClr val="dk1"/>
              </a:solidFill>
              <a:latin typeface="Calibri"/>
              <a:ea typeface="Calibri"/>
              <a:cs typeface="Calibri"/>
              <a:sym typeface="Calibri"/>
            </a:endParaRPr>
          </a:p>
        </p:txBody>
      </p:sp>
      <p:sp>
        <p:nvSpPr>
          <p:cNvPr id="1034" name="Google Shape;1034;p39"/>
          <p:cNvSpPr/>
          <p:nvPr/>
        </p:nvSpPr>
        <p:spPr>
          <a:xfrm>
            <a:off x="502920" y="1627632"/>
            <a:ext cx="2651760" cy="1188720"/>
          </a:xfrm>
          <a:prstGeom prst="roundRect">
            <a:avLst>
              <a:gd fmla="val 5385"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9"/>
          <p:cNvSpPr txBox="1"/>
          <p:nvPr/>
        </p:nvSpPr>
        <p:spPr>
          <a:xfrm>
            <a:off x="704088" y="173736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B52"/>
              </a:buClr>
              <a:buSzPts val="3200"/>
              <a:buFont typeface="Roboto Condensed"/>
              <a:buNone/>
            </a:pPr>
            <a:r>
              <a:rPr b="1" i="0" lang="en-US" sz="3200" u="none" cap="none" strike="noStrike">
                <a:solidFill>
                  <a:srgbClr val="1F6B52"/>
                </a:solidFill>
                <a:latin typeface="Roboto Condensed"/>
                <a:ea typeface="Roboto Condensed"/>
                <a:cs typeface="Roboto Condensed"/>
                <a:sym typeface="Roboto Condensed"/>
              </a:rPr>
              <a:t>14</a:t>
            </a:r>
            <a:endParaRPr b="0" i="0" sz="3200" u="none" cap="none" strike="noStrike">
              <a:solidFill>
                <a:schemeClr val="dk1"/>
              </a:solidFill>
              <a:latin typeface="Calibri"/>
              <a:ea typeface="Calibri"/>
              <a:cs typeface="Calibri"/>
              <a:sym typeface="Calibri"/>
            </a:endParaRPr>
          </a:p>
        </p:txBody>
      </p:sp>
      <p:sp>
        <p:nvSpPr>
          <p:cNvPr id="1036" name="Google Shape;1036;p39"/>
          <p:cNvSpPr txBox="1"/>
          <p:nvPr/>
        </p:nvSpPr>
        <p:spPr>
          <a:xfrm>
            <a:off x="704088" y="2249424"/>
            <a:ext cx="2286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RESOLVED</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with a direction</a:t>
            </a:r>
            <a:endParaRPr b="0" i="0" sz="800" u="none" cap="none" strike="noStrike">
              <a:solidFill>
                <a:schemeClr val="dk1"/>
              </a:solidFill>
              <a:latin typeface="Calibri"/>
              <a:ea typeface="Calibri"/>
              <a:cs typeface="Calibri"/>
              <a:sym typeface="Calibri"/>
            </a:endParaRPr>
          </a:p>
        </p:txBody>
      </p:sp>
      <p:sp>
        <p:nvSpPr>
          <p:cNvPr id="1037" name="Google Shape;1037;p39"/>
          <p:cNvSpPr/>
          <p:nvPr/>
        </p:nvSpPr>
        <p:spPr>
          <a:xfrm>
            <a:off x="3346704" y="1627632"/>
            <a:ext cx="2651760" cy="1188720"/>
          </a:xfrm>
          <a:prstGeom prst="roundRect">
            <a:avLst>
              <a:gd fmla="val 5385"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9"/>
          <p:cNvSpPr txBox="1"/>
          <p:nvPr/>
        </p:nvSpPr>
        <p:spPr>
          <a:xfrm>
            <a:off x="3547872" y="173736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2C2C"/>
              </a:buClr>
              <a:buSzPts val="3200"/>
              <a:buFont typeface="Roboto Condensed"/>
              <a:buNone/>
            </a:pPr>
            <a:r>
              <a:rPr b="1" i="0" lang="en-US" sz="3200" u="none" cap="none" strike="noStrike">
                <a:solidFill>
                  <a:srgbClr val="9B2C2C"/>
                </a:solidFill>
                <a:latin typeface="Roboto Condensed"/>
                <a:ea typeface="Roboto Condensed"/>
                <a:cs typeface="Roboto Condensed"/>
                <a:sym typeface="Roboto Condensed"/>
              </a:rPr>
              <a:t>8</a:t>
            </a:r>
            <a:endParaRPr b="0" i="0" sz="3200" u="none" cap="none" strike="noStrike">
              <a:solidFill>
                <a:schemeClr val="dk1"/>
              </a:solidFill>
              <a:latin typeface="Calibri"/>
              <a:ea typeface="Calibri"/>
              <a:cs typeface="Calibri"/>
              <a:sym typeface="Calibri"/>
            </a:endParaRPr>
          </a:p>
        </p:txBody>
      </p:sp>
      <p:sp>
        <p:nvSpPr>
          <p:cNvPr id="1039" name="Google Shape;1039;p39"/>
          <p:cNvSpPr txBox="1"/>
          <p:nvPr/>
        </p:nvSpPr>
        <p:spPr>
          <a:xfrm>
            <a:off x="3547872" y="2249424"/>
            <a:ext cx="2286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OPEN</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none with an owner</a:t>
            </a:r>
            <a:endParaRPr b="0" i="0" sz="800" u="none" cap="none" strike="noStrike">
              <a:solidFill>
                <a:schemeClr val="dk1"/>
              </a:solidFill>
              <a:latin typeface="Calibri"/>
              <a:ea typeface="Calibri"/>
              <a:cs typeface="Calibri"/>
              <a:sym typeface="Calibri"/>
            </a:endParaRPr>
          </a:p>
        </p:txBody>
      </p:sp>
      <p:sp>
        <p:nvSpPr>
          <p:cNvPr id="1040" name="Google Shape;1040;p39"/>
          <p:cNvSpPr/>
          <p:nvPr/>
        </p:nvSpPr>
        <p:spPr>
          <a:xfrm>
            <a:off x="6190488" y="1627632"/>
            <a:ext cx="2651760" cy="1188720"/>
          </a:xfrm>
          <a:prstGeom prst="roundRect">
            <a:avLst>
              <a:gd fmla="val 5385"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9"/>
          <p:cNvSpPr txBox="1"/>
          <p:nvPr/>
        </p:nvSpPr>
        <p:spPr>
          <a:xfrm>
            <a:off x="6391656" y="173736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F3D"/>
              </a:buClr>
              <a:buSzPts val="3200"/>
              <a:buFont typeface="Roboto Condensed"/>
              <a:buNone/>
            </a:pPr>
            <a:r>
              <a:rPr b="1" i="0" lang="en-US" sz="3200" u="none" cap="none" strike="noStrike">
                <a:solidFill>
                  <a:srgbClr val="91AF3D"/>
                </a:solidFill>
                <a:latin typeface="Roboto Condensed"/>
                <a:ea typeface="Roboto Condensed"/>
                <a:cs typeface="Roboto Condensed"/>
                <a:sym typeface="Roboto Condensed"/>
              </a:rPr>
              <a:t>1</a:t>
            </a:r>
            <a:endParaRPr b="0" i="0" sz="3200" u="none" cap="none" strike="noStrike">
              <a:solidFill>
                <a:schemeClr val="dk1"/>
              </a:solidFill>
              <a:latin typeface="Calibri"/>
              <a:ea typeface="Calibri"/>
              <a:cs typeface="Calibri"/>
              <a:sym typeface="Calibri"/>
            </a:endParaRPr>
          </a:p>
        </p:txBody>
      </p:sp>
      <p:sp>
        <p:nvSpPr>
          <p:cNvPr id="1042" name="Google Shape;1042;p39"/>
          <p:cNvSpPr txBox="1"/>
          <p:nvPr/>
        </p:nvSpPr>
        <p:spPr>
          <a:xfrm>
            <a:off x="6391656" y="2249424"/>
            <a:ext cx="2286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REMAINING</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upstream blocker</a:t>
            </a:r>
            <a:endParaRPr b="0" i="0" sz="800" u="none" cap="none" strike="noStrike">
              <a:solidFill>
                <a:schemeClr val="dk1"/>
              </a:solidFill>
              <a:latin typeface="Calibri"/>
              <a:ea typeface="Calibri"/>
              <a:cs typeface="Calibri"/>
              <a:sym typeface="Calibri"/>
            </a:endParaRPr>
          </a:p>
        </p:txBody>
      </p:sp>
      <p:sp>
        <p:nvSpPr>
          <p:cNvPr id="1043" name="Google Shape;1043;p39"/>
          <p:cNvSpPr/>
          <p:nvPr/>
        </p:nvSpPr>
        <p:spPr>
          <a:xfrm>
            <a:off x="9034272" y="1627632"/>
            <a:ext cx="2651760" cy="1188720"/>
          </a:xfrm>
          <a:prstGeom prst="roundRect">
            <a:avLst>
              <a:gd fmla="val 5385"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39"/>
          <p:cNvSpPr txBox="1"/>
          <p:nvPr/>
        </p:nvSpPr>
        <p:spPr>
          <a:xfrm>
            <a:off x="9235440" y="173736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E88"/>
              </a:buClr>
              <a:buSzPts val="3200"/>
              <a:buFont typeface="Roboto Condensed"/>
              <a:buNone/>
            </a:pPr>
            <a:r>
              <a:rPr b="1" i="0" lang="en-US" sz="3200" u="none" cap="none" strike="noStrike">
                <a:solidFill>
                  <a:srgbClr val="485E88"/>
                </a:solidFill>
                <a:latin typeface="Roboto Condensed"/>
                <a:ea typeface="Roboto Condensed"/>
                <a:cs typeface="Roboto Condensed"/>
                <a:sym typeface="Roboto Condensed"/>
              </a:rPr>
              <a:t>1</a:t>
            </a:r>
            <a:endParaRPr b="0" i="0" sz="3200" u="none" cap="none" strike="noStrike">
              <a:solidFill>
                <a:schemeClr val="dk1"/>
              </a:solidFill>
              <a:latin typeface="Calibri"/>
              <a:ea typeface="Calibri"/>
              <a:cs typeface="Calibri"/>
              <a:sym typeface="Calibri"/>
            </a:endParaRPr>
          </a:p>
        </p:txBody>
      </p:sp>
      <p:sp>
        <p:nvSpPr>
          <p:cNvPr id="1045" name="Google Shape;1045;p39"/>
          <p:cNvSpPr txBox="1"/>
          <p:nvPr/>
        </p:nvSpPr>
        <p:spPr>
          <a:xfrm>
            <a:off x="9235440" y="2249424"/>
            <a:ext cx="2286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CLOSED THIS ROUND</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#14 — the inventory</a:t>
            </a:r>
            <a:endParaRPr b="0" i="0" sz="800" u="none" cap="none" strike="noStrike">
              <a:solidFill>
                <a:schemeClr val="dk1"/>
              </a:solidFill>
              <a:latin typeface="Calibri"/>
              <a:ea typeface="Calibri"/>
              <a:cs typeface="Calibri"/>
              <a:sym typeface="Calibri"/>
            </a:endParaRPr>
          </a:p>
        </p:txBody>
      </p:sp>
      <p:sp>
        <p:nvSpPr>
          <p:cNvPr id="1046" name="Google Shape;1046;p39"/>
          <p:cNvSpPr/>
          <p:nvPr/>
        </p:nvSpPr>
        <p:spPr>
          <a:xfrm>
            <a:off x="502920" y="2971800"/>
            <a:ext cx="11155680" cy="777240"/>
          </a:xfrm>
          <a:prstGeom prst="roundRect">
            <a:avLst>
              <a:gd fmla="val 7059"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9"/>
          <p:cNvSpPr txBox="1"/>
          <p:nvPr/>
        </p:nvSpPr>
        <p:spPr>
          <a:xfrm>
            <a:off x="713232" y="3063240"/>
            <a:ext cx="107899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One decision now gates everything else — #12.  </a:t>
            </a:r>
            <a:r>
              <a:rPr b="0" i="0" lang="en-US" sz="1150" u="none" cap="none" strike="noStrike">
                <a:solidFill>
                  <a:srgbClr val="4D5763"/>
                </a:solidFill>
                <a:latin typeface="Calibri"/>
                <a:ea typeface="Calibri"/>
                <a:cs typeface="Calibri"/>
                <a:sym typeface="Calibri"/>
              </a:rPr>
              <a:t>With the migration inventory complete, contacting SERVIR-AI/global-platform's three maintainers is the single remaining upstream blocker before Decision #9's first three agents can start.</a:t>
            </a:r>
            <a:endParaRPr b="0" i="0" sz="1150" u="none" cap="none" strike="noStrike">
              <a:solidFill>
                <a:schemeClr val="dk1"/>
              </a:solidFill>
              <a:latin typeface="Calibri"/>
              <a:ea typeface="Calibri"/>
              <a:cs typeface="Calibri"/>
              <a:sym typeface="Calibri"/>
            </a:endParaRPr>
          </a:p>
        </p:txBody>
      </p:sp>
      <p:graphicFrame>
        <p:nvGraphicFramePr>
          <p:cNvPr id="1048" name="Google Shape;1048;p39"/>
          <p:cNvGraphicFramePr/>
          <p:nvPr/>
        </p:nvGraphicFramePr>
        <p:xfrm>
          <a:off x="502920" y="3886200"/>
          <a:ext cx="3000000" cy="3000000"/>
        </p:xfrm>
        <a:graphic>
          <a:graphicData uri="http://schemas.openxmlformats.org/drawingml/2006/table">
            <a:tbl>
              <a:tblPr>
                <a:noFill/>
                <a:tableStyleId>{0B7ADE64-2C2D-4D68-BEA2-7A829558A485}</a:tableStyleId>
              </a:tblPr>
              <a:tblGrid>
                <a:gridCol w="548650"/>
                <a:gridCol w="4023350"/>
                <a:gridCol w="6583675"/>
              </a:tblGrid>
              <a:tr h="384050">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Open decision</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Why it matters to the matrices</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r>
              <a:tr h="384050">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13</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Crop-model licensing — DSSAT vs PCSE/WOFOST</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Clock 3 of the entire Food Security matrix waits on this bake-off; it has not been scoped</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20</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Crop-type coverage prioritisation for servir-aces</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Six commodity rows in Fig. 4 are waiting on the prioritisation</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384050">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17</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Exposure-data refresh cadence &amp; licensing</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One IBAT licence decision covers both §04's Nature stack and §06's biodiversity layer</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18</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Regional hub governance for local overrides</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E1 makes the override technically trivial; accountability for it is the actual gap</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384050">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19</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EUDR application-date reconfirmation</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Dates have moved twice; nothing should be promised to a user before reconfirming</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NEW: concession &amp; licence boundaries</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Not yet numbered, but it blocks the authorised field in N1 and every enforcement claim</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40"/>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Four-phase roadmap</a:t>
            </a:r>
            <a:endParaRPr b="0" i="0" sz="3000" u="none" cap="none" strike="noStrike">
              <a:solidFill>
                <a:schemeClr val="dk1"/>
              </a:solidFill>
              <a:latin typeface="Calibri"/>
              <a:ea typeface="Calibri"/>
              <a:cs typeface="Calibri"/>
              <a:sym typeface="Calibri"/>
            </a:endParaRPr>
          </a:p>
        </p:txBody>
      </p:sp>
      <p:sp>
        <p:nvSpPr>
          <p:cNvPr id="1055" name="Google Shape;1055;p40"/>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Per the GeoAI Strategy — the sequencing this entire plan builds toward.</a:t>
            </a:r>
            <a:endParaRPr b="0" i="0" sz="1350" u="none" cap="none" strike="noStrike">
              <a:solidFill>
                <a:schemeClr val="dk1"/>
              </a:solidFill>
              <a:latin typeface="Calibri"/>
              <a:ea typeface="Calibri"/>
              <a:cs typeface="Calibri"/>
              <a:sym typeface="Calibri"/>
            </a:endParaRPr>
          </a:p>
        </p:txBody>
      </p:sp>
      <p:sp>
        <p:nvSpPr>
          <p:cNvPr id="1056" name="Google Shape;1056;p40"/>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1057" name="Google Shape;1057;p40"/>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§08</a:t>
            </a:r>
            <a:endParaRPr b="0" i="0" sz="800" u="none" cap="none" strike="noStrike">
              <a:solidFill>
                <a:schemeClr val="dk1"/>
              </a:solidFill>
              <a:latin typeface="Calibri"/>
              <a:ea typeface="Calibri"/>
              <a:cs typeface="Calibri"/>
              <a:sym typeface="Calibri"/>
            </a:endParaRPr>
          </a:p>
        </p:txBody>
      </p:sp>
      <p:sp>
        <p:nvSpPr>
          <p:cNvPr id="1058" name="Google Shape;1058;p40"/>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36</a:t>
            </a:r>
            <a:endParaRPr b="0" i="0" sz="800" u="none" cap="none" strike="noStrike">
              <a:solidFill>
                <a:schemeClr val="dk1"/>
              </a:solidFill>
              <a:latin typeface="Calibri"/>
              <a:ea typeface="Calibri"/>
              <a:cs typeface="Calibri"/>
              <a:sym typeface="Calibri"/>
            </a:endParaRPr>
          </a:p>
        </p:txBody>
      </p:sp>
      <p:sp>
        <p:nvSpPr>
          <p:cNvPr id="1059" name="Google Shape;1059;p40"/>
          <p:cNvSpPr/>
          <p:nvPr/>
        </p:nvSpPr>
        <p:spPr>
          <a:xfrm>
            <a:off x="1600200" y="1691640"/>
            <a:ext cx="475488" cy="475488"/>
          </a:xfrm>
          <a:prstGeom prst="ellipse">
            <a:avLst/>
          </a:prstGeom>
          <a:solidFill>
            <a:srgbClr val="2380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40"/>
          <p:cNvSpPr txBox="1"/>
          <p:nvPr/>
        </p:nvSpPr>
        <p:spPr>
          <a:xfrm>
            <a:off x="1600200" y="1691640"/>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Roboto Condensed"/>
              <a:buNone/>
            </a:pPr>
            <a:r>
              <a:rPr b="1" i="0" lang="en-US" sz="1700" u="none" cap="none" strike="noStrike">
                <a:solidFill>
                  <a:srgbClr val="FFFFFF"/>
                </a:solidFill>
                <a:latin typeface="Roboto Condensed"/>
                <a:ea typeface="Roboto Condensed"/>
                <a:cs typeface="Roboto Condensed"/>
                <a:sym typeface="Roboto Condensed"/>
              </a:rPr>
              <a:t>I</a:t>
            </a:r>
            <a:endParaRPr b="0" i="0" sz="1700" u="none" cap="none" strike="noStrike">
              <a:solidFill>
                <a:schemeClr val="dk1"/>
              </a:solidFill>
              <a:latin typeface="Calibri"/>
              <a:ea typeface="Calibri"/>
              <a:cs typeface="Calibri"/>
              <a:sym typeface="Calibri"/>
            </a:endParaRPr>
          </a:p>
        </p:txBody>
      </p:sp>
      <p:cxnSp>
        <p:nvCxnSpPr>
          <p:cNvPr id="1061" name="Google Shape;1061;p40"/>
          <p:cNvCxnSpPr/>
          <p:nvPr/>
        </p:nvCxnSpPr>
        <p:spPr>
          <a:xfrm>
            <a:off x="2130552" y="1929384"/>
            <a:ext cx="1170432" cy="0"/>
          </a:xfrm>
          <a:prstGeom prst="straightConnector1">
            <a:avLst/>
          </a:prstGeom>
          <a:noFill/>
          <a:ln cap="flat" cmpd="sng" w="25400">
            <a:solidFill>
              <a:srgbClr val="E0E6EC"/>
            </a:solidFill>
            <a:prstDash val="solid"/>
            <a:round/>
            <a:headEnd len="sm" w="sm" type="none"/>
            <a:tailEnd len="sm" w="sm" type="none"/>
          </a:ln>
        </p:spPr>
      </p:cxnSp>
      <p:sp>
        <p:nvSpPr>
          <p:cNvPr id="1062" name="Google Shape;1062;p40"/>
          <p:cNvSpPr txBox="1"/>
          <p:nvPr/>
        </p:nvSpPr>
        <p:spPr>
          <a:xfrm>
            <a:off x="502920" y="2286000"/>
            <a:ext cx="26517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380B0"/>
              </a:buClr>
              <a:buSzPts val="850"/>
              <a:buFont typeface="Consolas"/>
              <a:buNone/>
            </a:pPr>
            <a:r>
              <a:rPr b="0" i="0" lang="en-US" sz="850" u="none" cap="none" strike="noStrike">
                <a:solidFill>
                  <a:srgbClr val="2380B0"/>
                </a:solidFill>
                <a:latin typeface="Consolas"/>
                <a:ea typeface="Consolas"/>
                <a:cs typeface="Consolas"/>
                <a:sym typeface="Consolas"/>
              </a:rPr>
              <a:t>2026 · UNDERWAY</a:t>
            </a:r>
            <a:endParaRPr b="0" i="0" sz="850" u="none" cap="none" strike="noStrike">
              <a:solidFill>
                <a:schemeClr val="dk1"/>
              </a:solidFill>
              <a:latin typeface="Calibri"/>
              <a:ea typeface="Calibri"/>
              <a:cs typeface="Calibri"/>
              <a:sym typeface="Calibri"/>
            </a:endParaRPr>
          </a:p>
        </p:txBody>
      </p:sp>
      <p:sp>
        <p:nvSpPr>
          <p:cNvPr id="1063" name="Google Shape;1063;p40"/>
          <p:cNvSpPr txBox="1"/>
          <p:nvPr/>
        </p:nvSpPr>
        <p:spPr>
          <a:xfrm>
            <a:off x="502920" y="2523744"/>
            <a:ext cx="26517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Platform Development</a:t>
            </a:r>
            <a:endParaRPr b="0" i="0" sz="1350" u="none" cap="none" strike="noStrike">
              <a:solidFill>
                <a:schemeClr val="dk1"/>
              </a:solidFill>
              <a:latin typeface="Calibri"/>
              <a:ea typeface="Calibri"/>
              <a:cs typeface="Calibri"/>
              <a:sym typeface="Calibri"/>
            </a:endParaRPr>
          </a:p>
        </p:txBody>
      </p:sp>
      <p:sp>
        <p:nvSpPr>
          <p:cNvPr id="1064" name="Google Shape;1064;p40"/>
          <p:cNvSpPr/>
          <p:nvPr/>
        </p:nvSpPr>
        <p:spPr>
          <a:xfrm>
            <a:off x="502920" y="3035808"/>
            <a:ext cx="2651760" cy="1965960"/>
          </a:xfrm>
          <a:prstGeom prst="roundRect">
            <a:avLst>
              <a:gd fmla="val 2791"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40"/>
          <p:cNvSpPr txBox="1"/>
          <p:nvPr/>
        </p:nvSpPr>
        <p:spPr>
          <a:xfrm>
            <a:off x="685800" y="3154680"/>
            <a:ext cx="228600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Stand up the gateway and shared capability layer. Define the three contracts (E1/F1/N1) and the shared join service. Wrap the first three agents — Flood Risk, Field &amp; Crop-Type, Land Cover &amp; Change. Execute the §02 migration triage.</a:t>
            </a:r>
            <a:endParaRPr b="0" i="0" sz="950" u="none" cap="none" strike="noStrike">
              <a:solidFill>
                <a:schemeClr val="dk1"/>
              </a:solidFill>
              <a:latin typeface="Calibri"/>
              <a:ea typeface="Calibri"/>
              <a:cs typeface="Calibri"/>
              <a:sym typeface="Calibri"/>
            </a:endParaRPr>
          </a:p>
        </p:txBody>
      </p:sp>
      <p:sp>
        <p:nvSpPr>
          <p:cNvPr id="1066" name="Google Shape;1066;p40"/>
          <p:cNvSpPr/>
          <p:nvPr/>
        </p:nvSpPr>
        <p:spPr>
          <a:xfrm>
            <a:off x="4443984" y="1691640"/>
            <a:ext cx="475488" cy="475488"/>
          </a:xfrm>
          <a:prstGeom prst="ellipse">
            <a:avLst/>
          </a:prstGeom>
          <a:solidFill>
            <a:srgbClr val="91AF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40"/>
          <p:cNvSpPr txBox="1"/>
          <p:nvPr/>
        </p:nvSpPr>
        <p:spPr>
          <a:xfrm>
            <a:off x="4443984" y="1691640"/>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Roboto Condensed"/>
              <a:buNone/>
            </a:pPr>
            <a:r>
              <a:rPr b="1" i="0" lang="en-US" sz="1700" u="none" cap="none" strike="noStrike">
                <a:solidFill>
                  <a:srgbClr val="FFFFFF"/>
                </a:solidFill>
                <a:latin typeface="Roboto Condensed"/>
                <a:ea typeface="Roboto Condensed"/>
                <a:cs typeface="Roboto Condensed"/>
                <a:sym typeface="Roboto Condensed"/>
              </a:rPr>
              <a:t>II</a:t>
            </a:r>
            <a:endParaRPr b="0" i="0" sz="1700" u="none" cap="none" strike="noStrike">
              <a:solidFill>
                <a:schemeClr val="dk1"/>
              </a:solidFill>
              <a:latin typeface="Calibri"/>
              <a:ea typeface="Calibri"/>
              <a:cs typeface="Calibri"/>
              <a:sym typeface="Calibri"/>
            </a:endParaRPr>
          </a:p>
        </p:txBody>
      </p:sp>
      <p:cxnSp>
        <p:nvCxnSpPr>
          <p:cNvPr id="1068" name="Google Shape;1068;p40"/>
          <p:cNvCxnSpPr/>
          <p:nvPr/>
        </p:nvCxnSpPr>
        <p:spPr>
          <a:xfrm>
            <a:off x="4974336" y="1929384"/>
            <a:ext cx="1170432" cy="0"/>
          </a:xfrm>
          <a:prstGeom prst="straightConnector1">
            <a:avLst/>
          </a:prstGeom>
          <a:noFill/>
          <a:ln cap="flat" cmpd="sng" w="25400">
            <a:solidFill>
              <a:srgbClr val="E0E6EC"/>
            </a:solidFill>
            <a:prstDash val="solid"/>
            <a:round/>
            <a:headEnd len="sm" w="sm" type="none"/>
            <a:tailEnd len="sm" w="sm" type="none"/>
          </a:ln>
        </p:spPr>
      </p:cxnSp>
      <p:sp>
        <p:nvSpPr>
          <p:cNvPr id="1069" name="Google Shape;1069;p40"/>
          <p:cNvSpPr txBox="1"/>
          <p:nvPr/>
        </p:nvSpPr>
        <p:spPr>
          <a:xfrm>
            <a:off x="3346704" y="2286000"/>
            <a:ext cx="26517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1AF3D"/>
              </a:buClr>
              <a:buSzPts val="850"/>
              <a:buFont typeface="Consolas"/>
              <a:buNone/>
            </a:pPr>
            <a:r>
              <a:rPr b="0" i="0" lang="en-US" sz="850" u="none" cap="none" strike="noStrike">
                <a:solidFill>
                  <a:srgbClr val="91AF3D"/>
                </a:solidFill>
                <a:latin typeface="Consolas"/>
                <a:ea typeface="Consolas"/>
                <a:cs typeface="Consolas"/>
                <a:sym typeface="Consolas"/>
              </a:rPr>
              <a:t>2027–28</a:t>
            </a:r>
            <a:endParaRPr b="0" i="0" sz="850" u="none" cap="none" strike="noStrike">
              <a:solidFill>
                <a:schemeClr val="dk1"/>
              </a:solidFill>
              <a:latin typeface="Calibri"/>
              <a:ea typeface="Calibri"/>
              <a:cs typeface="Calibri"/>
              <a:sym typeface="Calibri"/>
            </a:endParaRPr>
          </a:p>
        </p:txBody>
      </p:sp>
      <p:sp>
        <p:nvSpPr>
          <p:cNvPr id="1070" name="Google Shape;1070;p40"/>
          <p:cNvSpPr txBox="1"/>
          <p:nvPr/>
        </p:nvSpPr>
        <p:spPr>
          <a:xfrm>
            <a:off x="3346704" y="2523744"/>
            <a:ext cx="26517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Case-Study Expansion</a:t>
            </a:r>
            <a:endParaRPr b="0" i="0" sz="1350" u="none" cap="none" strike="noStrike">
              <a:solidFill>
                <a:schemeClr val="dk1"/>
              </a:solidFill>
              <a:latin typeface="Calibri"/>
              <a:ea typeface="Calibri"/>
              <a:cs typeface="Calibri"/>
              <a:sym typeface="Calibri"/>
            </a:endParaRPr>
          </a:p>
        </p:txBody>
      </p:sp>
      <p:sp>
        <p:nvSpPr>
          <p:cNvPr id="1071" name="Google Shape;1071;p40"/>
          <p:cNvSpPr/>
          <p:nvPr/>
        </p:nvSpPr>
        <p:spPr>
          <a:xfrm>
            <a:off x="3346704" y="3035808"/>
            <a:ext cx="2651760" cy="1965960"/>
          </a:xfrm>
          <a:prstGeom prst="roundRect">
            <a:avLst>
              <a:gd fmla="val 2791"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40"/>
          <p:cNvSpPr txBox="1"/>
          <p:nvPr/>
        </p:nvSpPr>
        <p:spPr>
          <a:xfrm>
            <a:off x="3529584" y="3154680"/>
            <a:ext cx="228600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Fill the partner and new-build cells across §04–06. Run the DSSAT/PCSE bake-off (#13). Prioritise servir-aces crop coverage (#20). Source concession boundaries country by country.</a:t>
            </a:r>
            <a:endParaRPr b="0" i="0" sz="950" u="none" cap="none" strike="noStrike">
              <a:solidFill>
                <a:schemeClr val="dk1"/>
              </a:solidFill>
              <a:latin typeface="Calibri"/>
              <a:ea typeface="Calibri"/>
              <a:cs typeface="Calibri"/>
              <a:sym typeface="Calibri"/>
            </a:endParaRPr>
          </a:p>
        </p:txBody>
      </p:sp>
      <p:sp>
        <p:nvSpPr>
          <p:cNvPr id="1073" name="Google Shape;1073;p40"/>
          <p:cNvSpPr/>
          <p:nvPr/>
        </p:nvSpPr>
        <p:spPr>
          <a:xfrm>
            <a:off x="7287768" y="1691640"/>
            <a:ext cx="475488" cy="475488"/>
          </a:xfrm>
          <a:prstGeom prst="ellipse">
            <a:avLst/>
          </a:prstGeom>
          <a:solidFill>
            <a:srgbClr val="485E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40"/>
          <p:cNvSpPr txBox="1"/>
          <p:nvPr/>
        </p:nvSpPr>
        <p:spPr>
          <a:xfrm>
            <a:off x="7287768" y="1691640"/>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Roboto Condensed"/>
              <a:buNone/>
            </a:pPr>
            <a:r>
              <a:rPr b="1" i="0" lang="en-US" sz="1700" u="none" cap="none" strike="noStrike">
                <a:solidFill>
                  <a:srgbClr val="FFFFFF"/>
                </a:solidFill>
                <a:latin typeface="Roboto Condensed"/>
                <a:ea typeface="Roboto Condensed"/>
                <a:cs typeface="Roboto Condensed"/>
                <a:sym typeface="Roboto Condensed"/>
              </a:rPr>
              <a:t>III</a:t>
            </a:r>
            <a:endParaRPr b="0" i="0" sz="1700" u="none" cap="none" strike="noStrike">
              <a:solidFill>
                <a:schemeClr val="dk1"/>
              </a:solidFill>
              <a:latin typeface="Calibri"/>
              <a:ea typeface="Calibri"/>
              <a:cs typeface="Calibri"/>
              <a:sym typeface="Calibri"/>
            </a:endParaRPr>
          </a:p>
        </p:txBody>
      </p:sp>
      <p:cxnSp>
        <p:nvCxnSpPr>
          <p:cNvPr id="1075" name="Google Shape;1075;p40"/>
          <p:cNvCxnSpPr/>
          <p:nvPr/>
        </p:nvCxnSpPr>
        <p:spPr>
          <a:xfrm>
            <a:off x="7818120" y="1929384"/>
            <a:ext cx="1170432" cy="0"/>
          </a:xfrm>
          <a:prstGeom prst="straightConnector1">
            <a:avLst/>
          </a:prstGeom>
          <a:noFill/>
          <a:ln cap="flat" cmpd="sng" w="25400">
            <a:solidFill>
              <a:srgbClr val="E0E6EC"/>
            </a:solidFill>
            <a:prstDash val="solid"/>
            <a:round/>
            <a:headEnd len="sm" w="sm" type="none"/>
            <a:tailEnd len="sm" w="sm" type="none"/>
          </a:ln>
        </p:spPr>
      </p:cxnSp>
      <p:sp>
        <p:nvSpPr>
          <p:cNvPr id="1076" name="Google Shape;1076;p40"/>
          <p:cNvSpPr txBox="1"/>
          <p:nvPr/>
        </p:nvSpPr>
        <p:spPr>
          <a:xfrm>
            <a:off x="6190488" y="2286000"/>
            <a:ext cx="26517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85E88"/>
              </a:buClr>
              <a:buSzPts val="850"/>
              <a:buFont typeface="Consolas"/>
              <a:buNone/>
            </a:pPr>
            <a:r>
              <a:rPr b="0" i="0" lang="en-US" sz="850" u="none" cap="none" strike="noStrike">
                <a:solidFill>
                  <a:srgbClr val="485E88"/>
                </a:solidFill>
                <a:latin typeface="Consolas"/>
                <a:ea typeface="Consolas"/>
                <a:cs typeface="Consolas"/>
                <a:sym typeface="Consolas"/>
              </a:rPr>
              <a:t>2028–29</a:t>
            </a:r>
            <a:endParaRPr b="0" i="0" sz="850" u="none" cap="none" strike="noStrike">
              <a:solidFill>
                <a:schemeClr val="dk1"/>
              </a:solidFill>
              <a:latin typeface="Calibri"/>
              <a:ea typeface="Calibri"/>
              <a:cs typeface="Calibri"/>
              <a:sym typeface="Calibri"/>
            </a:endParaRPr>
          </a:p>
        </p:txBody>
      </p:sp>
      <p:sp>
        <p:nvSpPr>
          <p:cNvPr id="1077" name="Google Shape;1077;p40"/>
          <p:cNvSpPr txBox="1"/>
          <p:nvPr/>
        </p:nvSpPr>
        <p:spPr>
          <a:xfrm>
            <a:off x="6190488" y="2523744"/>
            <a:ext cx="26517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Generalization &amp; Integration</a:t>
            </a:r>
            <a:endParaRPr b="0" i="0" sz="1350" u="none" cap="none" strike="noStrike">
              <a:solidFill>
                <a:schemeClr val="dk1"/>
              </a:solidFill>
              <a:latin typeface="Calibri"/>
              <a:ea typeface="Calibri"/>
              <a:cs typeface="Calibri"/>
              <a:sym typeface="Calibri"/>
            </a:endParaRPr>
          </a:p>
        </p:txBody>
      </p:sp>
      <p:sp>
        <p:nvSpPr>
          <p:cNvPr id="1078" name="Google Shape;1078;p40"/>
          <p:cNvSpPr/>
          <p:nvPr/>
        </p:nvSpPr>
        <p:spPr>
          <a:xfrm>
            <a:off x="6190488" y="3035808"/>
            <a:ext cx="2651760" cy="1965960"/>
          </a:xfrm>
          <a:prstGeom prst="roundRect">
            <a:avLst>
              <a:gd fmla="val 2791"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40"/>
          <p:cNvSpPr txBox="1"/>
          <p:nvPr/>
        </p:nvSpPr>
        <p:spPr>
          <a:xfrm>
            <a:off x="6373368" y="3154680"/>
            <a:ext cx="228600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Cross-platform Agent2Agent federation matures. Shared infrastructure fully consolidated. Regional hub overrides governed (#18). Generalise the five regional NRM tools.</a:t>
            </a:r>
            <a:endParaRPr b="0" i="0" sz="950" u="none" cap="none" strike="noStrike">
              <a:solidFill>
                <a:schemeClr val="dk1"/>
              </a:solidFill>
              <a:latin typeface="Calibri"/>
              <a:ea typeface="Calibri"/>
              <a:cs typeface="Calibri"/>
              <a:sym typeface="Calibri"/>
            </a:endParaRPr>
          </a:p>
        </p:txBody>
      </p:sp>
      <p:sp>
        <p:nvSpPr>
          <p:cNvPr id="1080" name="Google Shape;1080;p40"/>
          <p:cNvSpPr/>
          <p:nvPr/>
        </p:nvSpPr>
        <p:spPr>
          <a:xfrm>
            <a:off x="10131552" y="1691640"/>
            <a:ext cx="475488" cy="475488"/>
          </a:xfrm>
          <a:prstGeom prst="ellipse">
            <a:avLst/>
          </a:prstGeom>
          <a:solidFill>
            <a:srgbClr val="1C21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40"/>
          <p:cNvSpPr txBox="1"/>
          <p:nvPr/>
        </p:nvSpPr>
        <p:spPr>
          <a:xfrm>
            <a:off x="10131552" y="1691640"/>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0"/>
              <a:buFont typeface="Roboto Condensed"/>
              <a:buNone/>
            </a:pPr>
            <a:r>
              <a:rPr b="1" i="0" lang="en-US" sz="1700" u="none" cap="none" strike="noStrike">
                <a:solidFill>
                  <a:srgbClr val="FFFFFF"/>
                </a:solidFill>
                <a:latin typeface="Roboto Condensed"/>
                <a:ea typeface="Roboto Condensed"/>
                <a:cs typeface="Roboto Condensed"/>
                <a:sym typeface="Roboto Condensed"/>
              </a:rPr>
              <a:t>IV</a:t>
            </a:r>
            <a:endParaRPr b="0" i="0" sz="1700" u="none" cap="none" strike="noStrike">
              <a:solidFill>
                <a:schemeClr val="dk1"/>
              </a:solidFill>
              <a:latin typeface="Calibri"/>
              <a:ea typeface="Calibri"/>
              <a:cs typeface="Calibri"/>
              <a:sym typeface="Calibri"/>
            </a:endParaRPr>
          </a:p>
        </p:txBody>
      </p:sp>
      <p:sp>
        <p:nvSpPr>
          <p:cNvPr id="1082" name="Google Shape;1082;p40"/>
          <p:cNvSpPr txBox="1"/>
          <p:nvPr/>
        </p:nvSpPr>
        <p:spPr>
          <a:xfrm>
            <a:off x="9034272" y="2286000"/>
            <a:ext cx="26517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12A"/>
              </a:buClr>
              <a:buSzPts val="850"/>
              <a:buFont typeface="Consolas"/>
              <a:buNone/>
            </a:pPr>
            <a:r>
              <a:rPr b="0" i="0" lang="en-US" sz="850" u="none" cap="none" strike="noStrike">
                <a:solidFill>
                  <a:srgbClr val="1C212A"/>
                </a:solidFill>
                <a:latin typeface="Consolas"/>
                <a:ea typeface="Consolas"/>
                <a:cs typeface="Consolas"/>
                <a:sym typeface="Consolas"/>
              </a:rPr>
              <a:t>2029–30</a:t>
            </a:r>
            <a:endParaRPr b="0" i="0" sz="850" u="none" cap="none" strike="noStrike">
              <a:solidFill>
                <a:schemeClr val="dk1"/>
              </a:solidFill>
              <a:latin typeface="Calibri"/>
              <a:ea typeface="Calibri"/>
              <a:cs typeface="Calibri"/>
              <a:sym typeface="Calibri"/>
            </a:endParaRPr>
          </a:p>
        </p:txBody>
      </p:sp>
      <p:sp>
        <p:nvSpPr>
          <p:cNvPr id="1083" name="Google Shape;1083;p40"/>
          <p:cNvSpPr txBox="1"/>
          <p:nvPr/>
        </p:nvSpPr>
        <p:spPr>
          <a:xfrm>
            <a:off x="9034272" y="2523744"/>
            <a:ext cx="26517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Institutionalization</a:t>
            </a:r>
            <a:endParaRPr b="0" i="0" sz="1350" u="none" cap="none" strike="noStrike">
              <a:solidFill>
                <a:schemeClr val="dk1"/>
              </a:solidFill>
              <a:latin typeface="Calibri"/>
              <a:ea typeface="Calibri"/>
              <a:cs typeface="Calibri"/>
              <a:sym typeface="Calibri"/>
            </a:endParaRPr>
          </a:p>
        </p:txBody>
      </p:sp>
      <p:sp>
        <p:nvSpPr>
          <p:cNvPr id="1084" name="Google Shape;1084;p40"/>
          <p:cNvSpPr/>
          <p:nvPr/>
        </p:nvSpPr>
        <p:spPr>
          <a:xfrm>
            <a:off x="9034272" y="3035808"/>
            <a:ext cx="2651760" cy="1965960"/>
          </a:xfrm>
          <a:prstGeom prst="roundRect">
            <a:avLst>
              <a:gd fmla="val 2791"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40"/>
          <p:cNvSpPr txBox="1"/>
          <p:nvPr/>
        </p:nvSpPr>
        <p:spPr>
          <a:xfrm>
            <a:off x="9217152" y="3154680"/>
            <a:ext cx="228600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950"/>
              <a:buFont typeface="Calibri"/>
              <a:buNone/>
            </a:pPr>
            <a:r>
              <a:rPr b="0" i="0" lang="en-US" sz="950" u="none" cap="none" strike="noStrike">
                <a:solidFill>
                  <a:srgbClr val="4D5763"/>
                </a:solidFill>
                <a:latin typeface="Calibri"/>
                <a:ea typeface="Calibri"/>
                <a:cs typeface="Calibri"/>
                <a:sym typeface="Calibri"/>
              </a:rPr>
              <a:t>The capacity ladder reaches research-lead cohorts across hubs. Compute and funding model (#15) settled for long-run operation.</a:t>
            </a:r>
            <a:endParaRPr b="0" i="0" sz="950" u="none" cap="none" strike="noStrike">
              <a:solidFill>
                <a:schemeClr val="dk1"/>
              </a:solidFill>
              <a:latin typeface="Calibri"/>
              <a:ea typeface="Calibri"/>
              <a:cs typeface="Calibri"/>
              <a:sym typeface="Calibri"/>
            </a:endParaRPr>
          </a:p>
        </p:txBody>
      </p:sp>
      <p:sp>
        <p:nvSpPr>
          <p:cNvPr id="1086" name="Google Shape;1086;p40"/>
          <p:cNvSpPr/>
          <p:nvPr/>
        </p:nvSpPr>
        <p:spPr>
          <a:xfrm>
            <a:off x="502920" y="5257800"/>
            <a:ext cx="11155680" cy="731520"/>
          </a:xfrm>
          <a:prstGeom prst="roundRect">
            <a:avLst>
              <a:gd fmla="val 7500"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40"/>
          <p:cNvSpPr txBox="1"/>
          <p:nvPr/>
        </p:nvSpPr>
        <p:spPr>
          <a:xfrm>
            <a:off x="713232" y="5349240"/>
            <a:ext cx="10789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Phase I is the whole of 2026 and it is already underway.  </a:t>
            </a:r>
            <a:r>
              <a:rPr b="0" i="0" lang="en-US" sz="1150" u="none" cap="none" strike="noStrike">
                <a:solidFill>
                  <a:srgbClr val="4D5763"/>
                </a:solidFill>
                <a:latin typeface="Calibri"/>
                <a:ea typeface="Calibri"/>
                <a:cs typeface="Calibri"/>
                <a:sym typeface="Calibri"/>
              </a:rPr>
              <a:t>Its critical path runs through Decision #12 — one conversation — then the migration triage, then three agents built against three contracts.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41"/>
          <p:cNvSpPr/>
          <p:nvPr/>
        </p:nvSpPr>
        <p:spPr>
          <a:xfrm>
            <a:off x="0" y="0"/>
            <a:ext cx="12161520" cy="6858000"/>
          </a:xfrm>
          <a:prstGeom prst="rect">
            <a:avLst/>
          </a:prstGeom>
          <a:solidFill>
            <a:srgbClr val="1C21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41"/>
          <p:cNvSpPr/>
          <p:nvPr/>
        </p:nvSpPr>
        <p:spPr>
          <a:xfrm>
            <a:off x="9509760" y="-1280160"/>
            <a:ext cx="4754880" cy="4754880"/>
          </a:xfrm>
          <a:prstGeom prst="ellipse">
            <a:avLst/>
          </a:prstGeom>
          <a:solidFill>
            <a:srgbClr val="1A6389">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41"/>
          <p:cNvSpPr txBox="1"/>
          <p:nvPr/>
        </p:nvSpPr>
        <p:spPr>
          <a:xfrm>
            <a:off x="822960" y="228600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D8C8"/>
              </a:buClr>
              <a:buSzPts val="1500"/>
              <a:buFont typeface="Consolas"/>
              <a:buNone/>
            </a:pPr>
            <a:r>
              <a:rPr b="0" i="0" lang="en-US" sz="1500" u="none" cap="none" strike="noStrike">
                <a:solidFill>
                  <a:srgbClr val="7CD8C8"/>
                </a:solidFill>
                <a:latin typeface="Consolas"/>
                <a:ea typeface="Consolas"/>
                <a:cs typeface="Consolas"/>
                <a:sym typeface="Consolas"/>
              </a:rPr>
              <a:t>09</a:t>
            </a:r>
            <a:endParaRPr b="0" i="0" sz="1500" u="none" cap="none" strike="noStrike">
              <a:solidFill>
                <a:schemeClr val="dk1"/>
              </a:solidFill>
              <a:latin typeface="Calibri"/>
              <a:ea typeface="Calibri"/>
              <a:cs typeface="Calibri"/>
              <a:sym typeface="Calibri"/>
            </a:endParaRPr>
          </a:p>
        </p:txBody>
      </p:sp>
      <p:sp>
        <p:nvSpPr>
          <p:cNvPr id="1096" name="Google Shape;1096;p41"/>
          <p:cNvSpPr txBox="1"/>
          <p:nvPr/>
        </p:nvSpPr>
        <p:spPr>
          <a:xfrm>
            <a:off x="822960" y="2743200"/>
            <a:ext cx="96012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Roboto Condensed"/>
              <a:buNone/>
            </a:pPr>
            <a:r>
              <a:rPr b="1" i="0" lang="en-US" sz="4000" u="none" cap="none" strike="noStrike">
                <a:solidFill>
                  <a:srgbClr val="FFFFFF"/>
                </a:solidFill>
                <a:latin typeface="Roboto Condensed"/>
                <a:ea typeface="Roboto Condensed"/>
                <a:cs typeface="Roboto Condensed"/>
                <a:sym typeface="Roboto Condensed"/>
              </a:rPr>
              <a:t>Service Inventory Across the Hubs</a:t>
            </a:r>
            <a:endParaRPr b="0" i="0" sz="4000" u="none" cap="none" strike="noStrike">
              <a:solidFill>
                <a:schemeClr val="dk1"/>
              </a:solidFill>
              <a:latin typeface="Calibri"/>
              <a:ea typeface="Calibri"/>
              <a:cs typeface="Calibri"/>
              <a:sym typeface="Calibri"/>
            </a:endParaRPr>
          </a:p>
        </p:txBody>
      </p:sp>
      <p:sp>
        <p:nvSpPr>
          <p:cNvPr id="1097" name="Google Shape;1097;p41"/>
          <p:cNvSpPr txBox="1"/>
          <p:nvPr/>
        </p:nvSpPr>
        <p:spPr>
          <a:xfrm>
            <a:off x="822960" y="3840480"/>
            <a:ext cx="87782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D6E6"/>
              </a:buClr>
              <a:buSzPts val="1500"/>
              <a:buFont typeface="Calibri"/>
              <a:buNone/>
            </a:pPr>
            <a:r>
              <a:rPr b="0" i="0" lang="en-US" sz="1500" u="none" cap="none" strike="noStrike">
                <a:solidFill>
                  <a:srgbClr val="C4D6E6"/>
                </a:solidFill>
                <a:latin typeface="Calibri"/>
                <a:ea typeface="Calibri"/>
                <a:cs typeface="Calibri"/>
                <a:sym typeface="Calibri"/>
              </a:rPr>
              <a:t>123 services completed, started or retired across six hubs — the asset base the three matrices sit on, and the demand evidence behind them.</a:t>
            </a:r>
            <a:endParaRPr b="0" i="0" sz="1500" u="none" cap="none" strike="noStrike">
              <a:solidFill>
                <a:schemeClr val="dk1"/>
              </a:solidFill>
              <a:latin typeface="Calibri"/>
              <a:ea typeface="Calibri"/>
              <a:cs typeface="Calibri"/>
              <a:sym typeface="Calibri"/>
            </a:endParaRPr>
          </a:p>
        </p:txBody>
      </p:sp>
      <p:sp>
        <p:nvSpPr>
          <p:cNvPr id="1098" name="Google Shape;1098;p41"/>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8CA8"/>
              </a:buClr>
              <a:buSzPts val="800"/>
              <a:buFont typeface="Consolas"/>
              <a:buNone/>
            </a:pPr>
            <a:r>
              <a:rPr b="0" i="0" lang="en-US" sz="800" u="none" cap="none" strike="noStrike">
                <a:solidFill>
                  <a:srgbClr val="6E8CA8"/>
                </a:solidFill>
                <a:latin typeface="Consolas"/>
                <a:ea typeface="Consolas"/>
                <a:cs typeface="Consolas"/>
                <a:sym typeface="Consolas"/>
              </a:rPr>
              <a:t>37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42"/>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The portfolio at a glance</a:t>
            </a:r>
            <a:endParaRPr b="0" i="0" sz="3000" u="none" cap="none" strike="noStrike">
              <a:solidFill>
                <a:schemeClr val="dk1"/>
              </a:solidFill>
              <a:latin typeface="Calibri"/>
              <a:ea typeface="Calibri"/>
              <a:cs typeface="Calibri"/>
              <a:sym typeface="Calibri"/>
            </a:endParaRPr>
          </a:p>
        </p:txBody>
      </p:sp>
      <p:sp>
        <p:nvSpPr>
          <p:cNvPr id="1105" name="Google Shape;1105;p42"/>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Crawled from each hub's own catalogue on 3 September 2026, cross-checked against the SERVIR Global App Center.</a:t>
            </a:r>
            <a:endParaRPr b="0" i="0" sz="1350" u="none" cap="none" strike="noStrike">
              <a:solidFill>
                <a:schemeClr val="dk1"/>
              </a:solidFill>
              <a:latin typeface="Calibri"/>
              <a:ea typeface="Calibri"/>
              <a:cs typeface="Calibri"/>
              <a:sym typeface="Calibri"/>
            </a:endParaRPr>
          </a:p>
        </p:txBody>
      </p:sp>
      <p:sp>
        <p:nvSpPr>
          <p:cNvPr id="1106" name="Google Shape;1106;p42"/>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1107" name="Google Shape;1107;p42"/>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§09</a:t>
            </a:r>
            <a:endParaRPr b="0" i="0" sz="800" u="none" cap="none" strike="noStrike">
              <a:solidFill>
                <a:schemeClr val="dk1"/>
              </a:solidFill>
              <a:latin typeface="Calibri"/>
              <a:ea typeface="Calibri"/>
              <a:cs typeface="Calibri"/>
              <a:sym typeface="Calibri"/>
            </a:endParaRPr>
          </a:p>
        </p:txBody>
      </p:sp>
      <p:sp>
        <p:nvSpPr>
          <p:cNvPr id="1108" name="Google Shape;1108;p42"/>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38</a:t>
            </a:r>
            <a:endParaRPr b="0" i="0" sz="800" u="none" cap="none" strike="noStrike">
              <a:solidFill>
                <a:schemeClr val="dk1"/>
              </a:solidFill>
              <a:latin typeface="Calibri"/>
              <a:ea typeface="Calibri"/>
              <a:cs typeface="Calibri"/>
              <a:sym typeface="Calibri"/>
            </a:endParaRPr>
          </a:p>
        </p:txBody>
      </p:sp>
      <p:sp>
        <p:nvSpPr>
          <p:cNvPr id="1109" name="Google Shape;1109;p42"/>
          <p:cNvSpPr/>
          <p:nvPr/>
        </p:nvSpPr>
        <p:spPr>
          <a:xfrm>
            <a:off x="502920" y="1645920"/>
            <a:ext cx="1700784" cy="1325880"/>
          </a:xfrm>
          <a:prstGeom prst="roundRect">
            <a:avLst>
              <a:gd fmla="val 4828"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42"/>
          <p:cNvSpPr txBox="1"/>
          <p:nvPr/>
        </p:nvSpPr>
        <p:spPr>
          <a:xfrm>
            <a:off x="649224" y="1792224"/>
            <a:ext cx="14173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3200"/>
              <a:buFont typeface="Roboto Condensed"/>
              <a:buNone/>
            </a:pPr>
            <a:r>
              <a:rPr b="1" i="0" lang="en-US" sz="3200" u="none" cap="none" strike="noStrike">
                <a:solidFill>
                  <a:srgbClr val="1A6389"/>
                </a:solidFill>
                <a:latin typeface="Roboto Condensed"/>
                <a:ea typeface="Roboto Condensed"/>
                <a:cs typeface="Roboto Condensed"/>
                <a:sym typeface="Roboto Condensed"/>
              </a:rPr>
              <a:t>123</a:t>
            </a:r>
            <a:endParaRPr b="0" i="0" sz="3200" u="none" cap="none" strike="noStrike">
              <a:solidFill>
                <a:schemeClr val="dk1"/>
              </a:solidFill>
              <a:latin typeface="Calibri"/>
              <a:ea typeface="Calibri"/>
              <a:cs typeface="Calibri"/>
              <a:sym typeface="Calibri"/>
            </a:endParaRPr>
          </a:p>
        </p:txBody>
      </p:sp>
      <p:sp>
        <p:nvSpPr>
          <p:cNvPr id="1111" name="Google Shape;1111;p42"/>
          <p:cNvSpPr txBox="1"/>
          <p:nvPr/>
        </p:nvSpPr>
        <p:spPr>
          <a:xfrm>
            <a:off x="649224" y="2340864"/>
            <a:ext cx="148132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SERVICES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across 6 hubs</a:t>
            </a:r>
            <a:endParaRPr b="0" i="0" sz="750" u="none" cap="none" strike="noStrike">
              <a:solidFill>
                <a:schemeClr val="dk1"/>
              </a:solidFill>
              <a:latin typeface="Calibri"/>
              <a:ea typeface="Calibri"/>
              <a:cs typeface="Calibri"/>
              <a:sym typeface="Calibri"/>
            </a:endParaRPr>
          </a:p>
        </p:txBody>
      </p:sp>
      <p:sp>
        <p:nvSpPr>
          <p:cNvPr id="1112" name="Google Shape;1112;p42"/>
          <p:cNvSpPr/>
          <p:nvPr/>
        </p:nvSpPr>
        <p:spPr>
          <a:xfrm>
            <a:off x="2386584" y="1645920"/>
            <a:ext cx="1700784" cy="1325880"/>
          </a:xfrm>
          <a:prstGeom prst="roundRect">
            <a:avLst>
              <a:gd fmla="val 4828"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42"/>
          <p:cNvSpPr txBox="1"/>
          <p:nvPr/>
        </p:nvSpPr>
        <p:spPr>
          <a:xfrm>
            <a:off x="2532888" y="1792224"/>
            <a:ext cx="14173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B52"/>
              </a:buClr>
              <a:buSzPts val="3200"/>
              <a:buFont typeface="Roboto Condensed"/>
              <a:buNone/>
            </a:pPr>
            <a:r>
              <a:rPr b="1" i="0" lang="en-US" sz="3200" u="none" cap="none" strike="noStrike">
                <a:solidFill>
                  <a:srgbClr val="1F6B52"/>
                </a:solidFill>
                <a:latin typeface="Roboto Condensed"/>
                <a:ea typeface="Roboto Condensed"/>
                <a:cs typeface="Roboto Condensed"/>
                <a:sym typeface="Roboto Condensed"/>
              </a:rPr>
              <a:t>24</a:t>
            </a:r>
            <a:endParaRPr b="0" i="0" sz="3200" u="none" cap="none" strike="noStrike">
              <a:solidFill>
                <a:schemeClr val="dk1"/>
              </a:solidFill>
              <a:latin typeface="Calibri"/>
              <a:ea typeface="Calibri"/>
              <a:cs typeface="Calibri"/>
              <a:sym typeface="Calibri"/>
            </a:endParaRPr>
          </a:p>
        </p:txBody>
      </p:sp>
      <p:sp>
        <p:nvSpPr>
          <p:cNvPr id="1114" name="Google Shape;1114;p42"/>
          <p:cNvSpPr txBox="1"/>
          <p:nvPr/>
        </p:nvSpPr>
        <p:spPr>
          <a:xfrm>
            <a:off x="2532888" y="2340864"/>
            <a:ext cx="148132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OPERATIONAL</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handed over</a:t>
            </a:r>
            <a:endParaRPr b="0" i="0" sz="750" u="none" cap="none" strike="noStrike">
              <a:solidFill>
                <a:schemeClr val="dk1"/>
              </a:solidFill>
              <a:latin typeface="Calibri"/>
              <a:ea typeface="Calibri"/>
              <a:cs typeface="Calibri"/>
              <a:sym typeface="Calibri"/>
            </a:endParaRPr>
          </a:p>
        </p:txBody>
      </p:sp>
      <p:sp>
        <p:nvSpPr>
          <p:cNvPr id="1115" name="Google Shape;1115;p42"/>
          <p:cNvSpPr/>
          <p:nvPr/>
        </p:nvSpPr>
        <p:spPr>
          <a:xfrm>
            <a:off x="4270248" y="1645920"/>
            <a:ext cx="1700784" cy="1325880"/>
          </a:xfrm>
          <a:prstGeom prst="roundRect">
            <a:avLst>
              <a:gd fmla="val 4828"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42"/>
          <p:cNvSpPr txBox="1"/>
          <p:nvPr/>
        </p:nvSpPr>
        <p:spPr>
          <a:xfrm>
            <a:off x="4416552" y="1792224"/>
            <a:ext cx="14173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E88"/>
              </a:buClr>
              <a:buSzPts val="3200"/>
              <a:buFont typeface="Roboto Condensed"/>
              <a:buNone/>
            </a:pPr>
            <a:r>
              <a:rPr b="1" i="0" lang="en-US" sz="3200" u="none" cap="none" strike="noStrike">
                <a:solidFill>
                  <a:srgbClr val="485E88"/>
                </a:solidFill>
                <a:latin typeface="Roboto Condensed"/>
                <a:ea typeface="Roboto Condensed"/>
                <a:cs typeface="Roboto Condensed"/>
                <a:sym typeface="Roboto Condensed"/>
              </a:rPr>
              <a:t>50</a:t>
            </a:r>
            <a:endParaRPr b="0" i="0" sz="3200" u="none" cap="none" strike="noStrike">
              <a:solidFill>
                <a:schemeClr val="dk1"/>
              </a:solidFill>
              <a:latin typeface="Calibri"/>
              <a:ea typeface="Calibri"/>
              <a:cs typeface="Calibri"/>
              <a:sym typeface="Calibri"/>
            </a:endParaRPr>
          </a:p>
        </p:txBody>
      </p:sp>
      <p:sp>
        <p:nvSpPr>
          <p:cNvPr id="1117" name="Google Shape;1117;p42"/>
          <p:cNvSpPr txBox="1"/>
          <p:nvPr/>
        </p:nvSpPr>
        <p:spPr>
          <a:xfrm>
            <a:off x="4416552" y="2340864"/>
            <a:ext cx="148132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ACTIVE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running</a:t>
            </a:r>
            <a:endParaRPr b="0" i="0" sz="750" u="none" cap="none" strike="noStrike">
              <a:solidFill>
                <a:schemeClr val="dk1"/>
              </a:solidFill>
              <a:latin typeface="Calibri"/>
              <a:ea typeface="Calibri"/>
              <a:cs typeface="Calibri"/>
              <a:sym typeface="Calibri"/>
            </a:endParaRPr>
          </a:p>
        </p:txBody>
      </p:sp>
      <p:sp>
        <p:nvSpPr>
          <p:cNvPr id="1118" name="Google Shape;1118;p42"/>
          <p:cNvSpPr/>
          <p:nvPr/>
        </p:nvSpPr>
        <p:spPr>
          <a:xfrm>
            <a:off x="6153912" y="1645920"/>
            <a:ext cx="1700784" cy="1325880"/>
          </a:xfrm>
          <a:prstGeom prst="roundRect">
            <a:avLst>
              <a:gd fmla="val 4828"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42"/>
          <p:cNvSpPr txBox="1"/>
          <p:nvPr/>
        </p:nvSpPr>
        <p:spPr>
          <a:xfrm>
            <a:off x="6300216" y="1792224"/>
            <a:ext cx="14173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5E06"/>
              </a:buClr>
              <a:buSzPts val="3200"/>
              <a:buFont typeface="Roboto Condensed"/>
              <a:buNone/>
            </a:pPr>
            <a:r>
              <a:rPr b="1" i="0" lang="en-US" sz="3200" u="none" cap="none" strike="noStrike">
                <a:solidFill>
                  <a:srgbClr val="8F5E06"/>
                </a:solidFill>
                <a:latin typeface="Roboto Condensed"/>
                <a:ea typeface="Roboto Condensed"/>
                <a:cs typeface="Roboto Condensed"/>
                <a:sym typeface="Roboto Condensed"/>
              </a:rPr>
              <a:t>13</a:t>
            </a:r>
            <a:endParaRPr b="0" i="0" sz="3200" u="none" cap="none" strike="noStrike">
              <a:solidFill>
                <a:schemeClr val="dk1"/>
              </a:solidFill>
              <a:latin typeface="Calibri"/>
              <a:ea typeface="Calibri"/>
              <a:cs typeface="Calibri"/>
              <a:sym typeface="Calibri"/>
            </a:endParaRPr>
          </a:p>
        </p:txBody>
      </p:sp>
      <p:sp>
        <p:nvSpPr>
          <p:cNvPr id="1120" name="Google Shape;1120;p42"/>
          <p:cNvSpPr txBox="1"/>
          <p:nvPr/>
        </p:nvSpPr>
        <p:spPr>
          <a:xfrm>
            <a:off x="6300216" y="2340864"/>
            <a:ext cx="148132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IN DEVELOPMENT</a:t>
            </a:r>
            <a:endParaRPr b="0" i="0" sz="750" u="none" cap="none" strike="noStrike">
              <a:solidFill>
                <a:schemeClr val="dk1"/>
              </a:solidFill>
              <a:latin typeface="Calibri"/>
              <a:ea typeface="Calibri"/>
              <a:cs typeface="Calibri"/>
              <a:sym typeface="Calibri"/>
            </a:endParaRPr>
          </a:p>
        </p:txBody>
      </p:sp>
      <p:sp>
        <p:nvSpPr>
          <p:cNvPr id="1121" name="Google Shape;1121;p42"/>
          <p:cNvSpPr/>
          <p:nvPr/>
        </p:nvSpPr>
        <p:spPr>
          <a:xfrm>
            <a:off x="8037576" y="1645920"/>
            <a:ext cx="1700784" cy="1325880"/>
          </a:xfrm>
          <a:prstGeom prst="roundRect">
            <a:avLst>
              <a:gd fmla="val 4828"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42"/>
          <p:cNvSpPr txBox="1"/>
          <p:nvPr/>
        </p:nvSpPr>
        <p:spPr>
          <a:xfrm>
            <a:off x="8183880" y="1792224"/>
            <a:ext cx="14173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2C2C"/>
              </a:buClr>
              <a:buSzPts val="3200"/>
              <a:buFont typeface="Roboto Condensed"/>
              <a:buNone/>
            </a:pPr>
            <a:r>
              <a:rPr b="1" i="0" lang="en-US" sz="3200" u="none" cap="none" strike="noStrike">
                <a:solidFill>
                  <a:srgbClr val="9B2C2C"/>
                </a:solidFill>
                <a:latin typeface="Roboto Condensed"/>
                <a:ea typeface="Roboto Condensed"/>
                <a:cs typeface="Roboto Condensed"/>
                <a:sym typeface="Roboto Condensed"/>
              </a:rPr>
              <a:t>6</a:t>
            </a:r>
            <a:endParaRPr b="0" i="0" sz="3200" u="none" cap="none" strike="noStrike">
              <a:solidFill>
                <a:schemeClr val="dk1"/>
              </a:solidFill>
              <a:latin typeface="Calibri"/>
              <a:ea typeface="Calibri"/>
              <a:cs typeface="Calibri"/>
              <a:sym typeface="Calibri"/>
            </a:endParaRPr>
          </a:p>
        </p:txBody>
      </p:sp>
      <p:sp>
        <p:nvSpPr>
          <p:cNvPr id="1123" name="Google Shape;1123;p42"/>
          <p:cNvSpPr txBox="1"/>
          <p:nvPr/>
        </p:nvSpPr>
        <p:spPr>
          <a:xfrm>
            <a:off x="8183880" y="2340864"/>
            <a:ext cx="148132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RETIRED</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or dormant</a:t>
            </a:r>
            <a:endParaRPr b="0" i="0" sz="750" u="none" cap="none" strike="noStrike">
              <a:solidFill>
                <a:schemeClr val="dk1"/>
              </a:solidFill>
              <a:latin typeface="Calibri"/>
              <a:ea typeface="Calibri"/>
              <a:cs typeface="Calibri"/>
              <a:sym typeface="Calibri"/>
            </a:endParaRPr>
          </a:p>
        </p:txBody>
      </p:sp>
      <p:sp>
        <p:nvSpPr>
          <p:cNvPr id="1124" name="Google Shape;1124;p42"/>
          <p:cNvSpPr/>
          <p:nvPr/>
        </p:nvSpPr>
        <p:spPr>
          <a:xfrm>
            <a:off x="9921240" y="1645920"/>
            <a:ext cx="1700784" cy="1325880"/>
          </a:xfrm>
          <a:prstGeom prst="roundRect">
            <a:avLst>
              <a:gd fmla="val 4828"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42"/>
          <p:cNvSpPr txBox="1"/>
          <p:nvPr/>
        </p:nvSpPr>
        <p:spPr>
          <a:xfrm>
            <a:off x="10067544" y="1792224"/>
            <a:ext cx="14173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3200"/>
              <a:buFont typeface="Roboto Condensed"/>
              <a:buNone/>
            </a:pPr>
            <a:r>
              <a:rPr b="1" i="0" lang="en-US" sz="3200" u="none" cap="none" strike="noStrike">
                <a:solidFill>
                  <a:srgbClr val="6D6E71"/>
                </a:solidFill>
                <a:latin typeface="Roboto Condensed"/>
                <a:ea typeface="Roboto Condensed"/>
                <a:cs typeface="Roboto Condensed"/>
                <a:sym typeface="Roboto Condensed"/>
              </a:rPr>
              <a:t>30</a:t>
            </a:r>
            <a:endParaRPr b="0" i="0" sz="3200" u="none" cap="none" strike="noStrike">
              <a:solidFill>
                <a:schemeClr val="dk1"/>
              </a:solidFill>
              <a:latin typeface="Calibri"/>
              <a:ea typeface="Calibri"/>
              <a:cs typeface="Calibri"/>
              <a:sym typeface="Calibri"/>
            </a:endParaRPr>
          </a:p>
        </p:txBody>
      </p:sp>
      <p:sp>
        <p:nvSpPr>
          <p:cNvPr id="1126" name="Google Shape;1126;p42"/>
          <p:cNvSpPr txBox="1"/>
          <p:nvPr/>
        </p:nvSpPr>
        <p:spPr>
          <a:xfrm>
            <a:off x="10067544" y="2340864"/>
            <a:ext cx="148132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STATUS UNCLEAR</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D6E71"/>
              </a:buClr>
              <a:buSzPts val="750"/>
              <a:buFont typeface="Consolas"/>
              <a:buNone/>
            </a:pPr>
            <a:r>
              <a:rPr b="0" i="0" lang="en-US" sz="750" u="none" cap="none" strike="noStrike">
                <a:solidFill>
                  <a:srgbClr val="6D6E71"/>
                </a:solidFill>
                <a:latin typeface="Consolas"/>
                <a:ea typeface="Consolas"/>
                <a:cs typeface="Consolas"/>
                <a:sym typeface="Consolas"/>
              </a:rPr>
              <a:t>pages unreachable</a:t>
            </a:r>
            <a:endParaRPr b="0" i="0" sz="750" u="none" cap="none" strike="noStrike">
              <a:solidFill>
                <a:schemeClr val="dk1"/>
              </a:solidFill>
              <a:latin typeface="Calibri"/>
              <a:ea typeface="Calibri"/>
              <a:cs typeface="Calibri"/>
              <a:sym typeface="Calibri"/>
            </a:endParaRPr>
          </a:p>
        </p:txBody>
      </p:sp>
      <p:graphicFrame>
        <p:nvGraphicFramePr>
          <p:cNvPr id="1127" name="Google Shape;1127;p42"/>
          <p:cNvGraphicFramePr/>
          <p:nvPr/>
        </p:nvGraphicFramePr>
        <p:xfrm>
          <a:off x="502920" y="3200400"/>
          <a:ext cx="3000000" cy="3000000"/>
        </p:xfrm>
        <a:graphic>
          <a:graphicData uri="http://schemas.openxmlformats.org/drawingml/2006/table">
            <a:tbl>
              <a:tblPr>
                <a:noFill/>
                <a:tableStyleId>{0B7ADE64-2C2D-4D68-BEA2-7A829558A485}</a:tableStyleId>
              </a:tblPr>
              <a:tblGrid>
                <a:gridCol w="2743200"/>
                <a:gridCol w="2926075"/>
                <a:gridCol w="868675"/>
                <a:gridCol w="4617725"/>
              </a:tblGrid>
              <a:tr h="402325">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Hub</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Lead institution</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Services</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Character</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r>
              <a:tr h="402325">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Hindu Kush Himalaya</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ICIMOD, Kathmandu</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42</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Largest catalogue of any hub — 42 services, open and operating</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Eastern &amp; Southern Africa</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RCMRD, Nairobi</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23</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Thinnest web presence: 8 dead links, 8 unreachable subdomains</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402325">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Tropical South America</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Alliance Bioversity &amp; CIAT, Cali</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22</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Renamed from Amazonia in 2025. SIG builds 6 of these</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Southeast Asia</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ADPC, Bangkok</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18</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9 of 16 tools still scoped to the Lower Mekong specifically</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402325">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West Africa</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ICRISAT-led consortium</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12</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8 named consortium partners; 5 services still in development</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Central America</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CATIE, Costa Rica</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6</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Publishes least of the six; 2 of the 6 in evidence are training</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bl>
          </a:graphicData>
        </a:graphic>
      </p:graphicFrame>
      <p:sp>
        <p:nvSpPr>
          <p:cNvPr id="1128" name="Google Shape;1128;p42"/>
          <p:cNvSpPr/>
          <p:nvPr/>
        </p:nvSpPr>
        <p:spPr>
          <a:xfrm>
            <a:off x="502920" y="5852160"/>
            <a:ext cx="11155680" cy="548640"/>
          </a:xfrm>
          <a:prstGeom prst="roundRect">
            <a:avLst>
              <a:gd fmla="val 10000"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42"/>
          <p:cNvSpPr txBox="1"/>
          <p:nvPr/>
        </p:nvSpPr>
        <p:spPr>
          <a:xfrm>
            <a:off x="713232" y="5943600"/>
            <a:ext cx="10789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Coverage is uneven by construction.  </a:t>
            </a:r>
            <a:r>
              <a:rPr b="0" i="0" lang="en-US" sz="1150" u="none" cap="none" strike="noStrike">
                <a:solidFill>
                  <a:srgbClr val="4D5763"/>
                </a:solidFill>
                <a:latin typeface="Calibri"/>
                <a:ea typeface="Calibri"/>
                <a:cs typeface="Calibri"/>
                <a:sym typeface="Calibri"/>
              </a:rPr>
              <a:t>SERVIR-HKH publishes 42 services; Central America publishes almost nothing. That asymmetry is about documentation, not capacity.</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43"/>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What changed — and what did not</a:t>
            </a:r>
            <a:endParaRPr b="0" i="0" sz="3000" u="none" cap="none" strike="noStrike">
              <a:solidFill>
                <a:schemeClr val="dk1"/>
              </a:solidFill>
              <a:latin typeface="Calibri"/>
              <a:ea typeface="Calibri"/>
              <a:cs typeface="Calibri"/>
              <a:sym typeface="Calibri"/>
            </a:endParaRPr>
          </a:p>
        </p:txBody>
      </p:sp>
      <p:sp>
        <p:nvSpPr>
          <p:cNvPr id="1136" name="Google Shape;1136;p43"/>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1137" name="Google Shape;1137;p43"/>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§09</a:t>
            </a:r>
            <a:endParaRPr b="0" i="0" sz="800" u="none" cap="none" strike="noStrike">
              <a:solidFill>
                <a:schemeClr val="dk1"/>
              </a:solidFill>
              <a:latin typeface="Calibri"/>
              <a:ea typeface="Calibri"/>
              <a:cs typeface="Calibri"/>
              <a:sym typeface="Calibri"/>
            </a:endParaRPr>
          </a:p>
        </p:txBody>
      </p:sp>
      <p:sp>
        <p:nvSpPr>
          <p:cNvPr id="1138" name="Google Shape;1138;p43"/>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39</a:t>
            </a:r>
            <a:endParaRPr b="0" i="0" sz="800" u="none" cap="none" strike="noStrike">
              <a:solidFill>
                <a:schemeClr val="dk1"/>
              </a:solidFill>
              <a:latin typeface="Calibri"/>
              <a:ea typeface="Calibri"/>
              <a:cs typeface="Calibri"/>
              <a:sym typeface="Calibri"/>
            </a:endParaRPr>
          </a:p>
        </p:txBody>
      </p:sp>
      <p:sp>
        <p:nvSpPr>
          <p:cNvPr id="1139" name="Google Shape;1139;p43"/>
          <p:cNvSpPr/>
          <p:nvPr/>
        </p:nvSpPr>
        <p:spPr>
          <a:xfrm>
            <a:off x="502920" y="1600200"/>
            <a:ext cx="11155680" cy="1234440"/>
          </a:xfrm>
          <a:prstGeom prst="roundRect">
            <a:avLst>
              <a:gd fmla="val 4444"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43"/>
          <p:cNvSpPr txBox="1"/>
          <p:nvPr/>
        </p:nvSpPr>
        <p:spPr>
          <a:xfrm>
            <a:off x="713232" y="1691640"/>
            <a:ext cx="1078992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All six hubs are open and operating.  </a:t>
            </a:r>
            <a:r>
              <a:rPr b="0" i="0" lang="en-US" sz="1150" u="none" cap="none" strike="noStrike">
                <a:solidFill>
                  <a:srgbClr val="4D5763"/>
                </a:solidFill>
                <a:latin typeface="Calibri"/>
                <a:ea typeface="Calibri"/>
                <a:cs typeface="Calibri"/>
                <a:sym typeface="Calibri"/>
              </a:rPr>
              <a:t>Several hub sites read as though activity has wound down — SERVIR-HKH's carries wind-down language from a January 2025 phase boundary. Confirmed directly with David, inside the programme: that is documentation lag, not programme status. Treat a hub's web presence as evidence about its publishing, never about its operations. It is also why 30 of 123 services could not be classified — the pages are stale, not the software.</a:t>
            </a:r>
            <a:endParaRPr b="0" i="0" sz="1150" u="none" cap="none" strike="noStrike">
              <a:solidFill>
                <a:schemeClr val="dk1"/>
              </a:solidFill>
              <a:latin typeface="Calibri"/>
              <a:ea typeface="Calibri"/>
              <a:cs typeface="Calibri"/>
              <a:sym typeface="Calibri"/>
            </a:endParaRPr>
          </a:p>
        </p:txBody>
      </p:sp>
      <p:sp>
        <p:nvSpPr>
          <p:cNvPr id="1141" name="Google Shape;1141;p43"/>
          <p:cNvSpPr/>
          <p:nvPr/>
        </p:nvSpPr>
        <p:spPr>
          <a:xfrm>
            <a:off x="502920" y="2971800"/>
            <a:ext cx="11155680" cy="914400"/>
          </a:xfrm>
          <a:prstGeom prst="roundRect">
            <a:avLst>
              <a:gd fmla="val 6000"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43"/>
          <p:cNvSpPr txBox="1"/>
          <p:nvPr/>
        </p:nvSpPr>
        <p:spPr>
          <a:xfrm>
            <a:off x="713232" y="3063240"/>
            <a:ext cx="107899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SERVIR Amazonia was renamed SERVIR Tropical South America in 2025.  </a:t>
            </a:r>
            <a:r>
              <a:rPr b="0" i="0" lang="en-US" sz="1150" u="none" cap="none" strike="noStrike">
                <a:solidFill>
                  <a:srgbClr val="4D5763"/>
                </a:solidFill>
                <a:latin typeface="Calibri"/>
                <a:ea typeface="Calibri"/>
                <a:cs typeface="Calibri"/>
                <a:sym typeface="Calibri"/>
              </a:rPr>
              <a:t>This plan and the Global Risk PDD still say 'Amazonia'. The Food Security PDD already used the new name — which is what the §07 hub-footprint table was actually picking up, rather than a PDD inconsistency.</a:t>
            </a:r>
            <a:endParaRPr b="0" i="0" sz="1150" u="none" cap="none" strike="noStrike">
              <a:solidFill>
                <a:schemeClr val="dk1"/>
              </a:solidFill>
              <a:latin typeface="Calibri"/>
              <a:ea typeface="Calibri"/>
              <a:cs typeface="Calibri"/>
              <a:sym typeface="Calibri"/>
            </a:endParaRPr>
          </a:p>
        </p:txBody>
      </p:sp>
      <p:sp>
        <p:nvSpPr>
          <p:cNvPr id="1143" name="Google Shape;1143;p43"/>
          <p:cNvSpPr/>
          <p:nvPr/>
        </p:nvSpPr>
        <p:spPr>
          <a:xfrm>
            <a:off x="502920" y="4023360"/>
            <a:ext cx="11155680" cy="1234440"/>
          </a:xfrm>
          <a:prstGeom prst="roundRect">
            <a:avLst>
              <a:gd fmla="val 4444"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43"/>
          <p:cNvSpPr txBox="1"/>
          <p:nvPr/>
        </p:nvSpPr>
        <p:spPr>
          <a:xfrm>
            <a:off x="713232" y="4114800"/>
            <a:ext cx="1078992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SERVIR moved from a NASA–USAID partnership to the 'SERVIR Global Collaborative', with hubs now independently led.  </a:t>
            </a:r>
            <a:r>
              <a:rPr b="0" i="0" lang="en-US" sz="1150" u="none" cap="none" strike="noStrike">
                <a:solidFill>
                  <a:srgbClr val="4D5763"/>
                </a:solidFill>
                <a:latin typeface="Calibri"/>
                <a:ea typeface="Calibri"/>
                <a:cs typeface="Calibri"/>
                <a:sym typeface="Calibri"/>
              </a:rPr>
              <a:t>Same foreign-assistance restructuring wave that produced the FEWS NET outage in §05. This changes the character of Decision #18: hub governance for locally-calibrated overrides is no longer an internal sign-off question, it is an agreement between independent institutions. Worth re-scoping rather than just assigning an owner.</a:t>
            </a:r>
            <a:endParaRPr b="0" i="0" sz="1150" u="none" cap="none" strike="noStrike">
              <a:solidFill>
                <a:schemeClr val="dk1"/>
              </a:solidFill>
              <a:latin typeface="Calibri"/>
              <a:ea typeface="Calibri"/>
              <a:cs typeface="Calibri"/>
              <a:sym typeface="Calibri"/>
            </a:endParaRPr>
          </a:p>
        </p:txBody>
      </p:sp>
      <p:sp>
        <p:nvSpPr>
          <p:cNvPr id="1145" name="Google Shape;1145;p43"/>
          <p:cNvSpPr/>
          <p:nvPr/>
        </p:nvSpPr>
        <p:spPr>
          <a:xfrm>
            <a:off x="502920" y="5394960"/>
            <a:ext cx="11155680" cy="777240"/>
          </a:xfrm>
          <a:prstGeom prst="roundRect">
            <a:avLst>
              <a:gd fmla="val 7059"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43"/>
          <p:cNvSpPr txBox="1"/>
          <p:nvPr/>
        </p:nvSpPr>
        <p:spPr>
          <a:xfrm>
            <a:off x="713232" y="5486400"/>
            <a:ext cx="107899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A seventh hub existed and closed.  </a:t>
            </a:r>
            <a:r>
              <a:rPr b="0" i="0" lang="en-US" sz="1150" u="none" cap="none" strike="noStrike">
                <a:solidFill>
                  <a:srgbClr val="4D5763"/>
                </a:solidFill>
                <a:latin typeface="Calibri"/>
                <a:ea typeface="Calibri"/>
                <a:cs typeface="Calibri"/>
                <a:sym typeface="Calibri"/>
              </a:rPr>
              <a:t>The original SERVIR Mesoamerica (Panama, 2005) closed in 2011. The 2019 Central America hub is a re-establishment, not a continuation — so Decision #11's naming equivalence holds for the current hub only.</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44"/>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The duplication finding</a:t>
            </a:r>
            <a:endParaRPr b="0" i="0" sz="3000" u="none" cap="none" strike="noStrike">
              <a:solidFill>
                <a:schemeClr val="dk1"/>
              </a:solidFill>
              <a:latin typeface="Calibri"/>
              <a:ea typeface="Calibri"/>
              <a:cs typeface="Calibri"/>
              <a:sym typeface="Calibri"/>
            </a:endParaRPr>
          </a:p>
        </p:txBody>
      </p:sp>
      <p:sp>
        <p:nvSpPr>
          <p:cNvPr id="1153" name="Google Shape;1153;p44"/>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Counting across hubs rather than within them — this is the §07 argument, with evidence.</a:t>
            </a:r>
            <a:endParaRPr b="0" i="0" sz="1350" u="none" cap="none" strike="noStrike">
              <a:solidFill>
                <a:schemeClr val="dk1"/>
              </a:solidFill>
              <a:latin typeface="Calibri"/>
              <a:ea typeface="Calibri"/>
              <a:cs typeface="Calibri"/>
              <a:sym typeface="Calibri"/>
            </a:endParaRPr>
          </a:p>
        </p:txBody>
      </p:sp>
      <p:sp>
        <p:nvSpPr>
          <p:cNvPr id="1154" name="Google Shape;1154;p44"/>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1155" name="Google Shape;1155;p44"/>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§09</a:t>
            </a:r>
            <a:endParaRPr b="0" i="0" sz="800" u="none" cap="none" strike="noStrike">
              <a:solidFill>
                <a:schemeClr val="dk1"/>
              </a:solidFill>
              <a:latin typeface="Calibri"/>
              <a:ea typeface="Calibri"/>
              <a:cs typeface="Calibri"/>
              <a:sym typeface="Calibri"/>
            </a:endParaRPr>
          </a:p>
        </p:txBody>
      </p:sp>
      <p:sp>
        <p:nvSpPr>
          <p:cNvPr id="1156" name="Google Shape;1156;p44"/>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40</a:t>
            </a:r>
            <a:endParaRPr b="0" i="0" sz="800" u="none" cap="none" strike="noStrike">
              <a:solidFill>
                <a:schemeClr val="dk1"/>
              </a:solidFill>
              <a:latin typeface="Calibri"/>
              <a:ea typeface="Calibri"/>
              <a:cs typeface="Calibri"/>
              <a:sym typeface="Calibri"/>
            </a:endParaRPr>
          </a:p>
        </p:txBody>
      </p:sp>
      <p:sp>
        <p:nvSpPr>
          <p:cNvPr id="1157" name="Google Shape;1157;p44"/>
          <p:cNvSpPr/>
          <p:nvPr/>
        </p:nvSpPr>
        <p:spPr>
          <a:xfrm>
            <a:off x="502920" y="1691640"/>
            <a:ext cx="11155680" cy="1234440"/>
          </a:xfrm>
          <a:prstGeom prst="roundRect">
            <a:avLst>
              <a:gd fmla="val 5185" name="adj"/>
            </a:avLst>
          </a:prstGeom>
          <a:solidFill>
            <a:srgbClr val="FFFFFF"/>
          </a:solidFill>
          <a:ln cap="flat" cmpd="sng" w="15875">
            <a:solidFill>
              <a:srgbClr val="485E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44"/>
          <p:cNvSpPr txBox="1"/>
          <p:nvPr/>
        </p:nvSpPr>
        <p:spPr>
          <a:xfrm>
            <a:off x="731520" y="1874520"/>
            <a:ext cx="1371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85E88"/>
              </a:buClr>
              <a:buSzPts val="3000"/>
              <a:buFont typeface="Roboto Condensed"/>
              <a:buNone/>
            </a:pPr>
            <a:r>
              <a:rPr b="1" i="0" lang="en-US" sz="3000" u="none" cap="none" strike="noStrike">
                <a:solidFill>
                  <a:srgbClr val="485E88"/>
                </a:solidFill>
                <a:latin typeface="Roboto Condensed"/>
                <a:ea typeface="Roboto Condensed"/>
                <a:cs typeface="Roboto Condensed"/>
                <a:sym typeface="Roboto Condensed"/>
              </a:rPr>
              <a:t>11+</a:t>
            </a:r>
            <a:endParaRPr b="0" i="0" sz="3000" u="none" cap="none" strike="noStrike">
              <a:solidFill>
                <a:schemeClr val="dk1"/>
              </a:solidFill>
              <a:latin typeface="Calibri"/>
              <a:ea typeface="Calibri"/>
              <a:cs typeface="Calibri"/>
              <a:sym typeface="Calibri"/>
            </a:endParaRPr>
          </a:p>
        </p:txBody>
      </p:sp>
      <p:sp>
        <p:nvSpPr>
          <p:cNvPr id="1159" name="Google Shape;1159;p44"/>
          <p:cNvSpPr txBox="1"/>
          <p:nvPr/>
        </p:nvSpPr>
        <p:spPr>
          <a:xfrm>
            <a:off x="2148840" y="1856232"/>
            <a:ext cx="9235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500"/>
              <a:buFont typeface="Calibri"/>
              <a:buNone/>
            </a:pPr>
            <a:r>
              <a:rPr b="1" i="0" lang="en-US" sz="1500" u="none" cap="none" strike="noStrike">
                <a:solidFill>
                  <a:srgbClr val="1C212A"/>
                </a:solidFill>
                <a:latin typeface="Calibri"/>
                <a:ea typeface="Calibri"/>
                <a:cs typeface="Calibri"/>
                <a:sym typeface="Calibri"/>
              </a:rPr>
              <a:t>Streamflow and flood forecasting</a:t>
            </a:r>
            <a:endParaRPr b="0" i="0" sz="1500" u="none" cap="none" strike="noStrike">
              <a:solidFill>
                <a:schemeClr val="dk1"/>
              </a:solidFill>
              <a:latin typeface="Calibri"/>
              <a:ea typeface="Calibri"/>
              <a:cs typeface="Calibri"/>
              <a:sym typeface="Calibri"/>
            </a:endParaRPr>
          </a:p>
        </p:txBody>
      </p:sp>
      <p:sp>
        <p:nvSpPr>
          <p:cNvPr id="1160" name="Google Shape;1160;p44"/>
          <p:cNvSpPr txBox="1"/>
          <p:nvPr/>
        </p:nvSpPr>
        <p:spPr>
          <a:xfrm>
            <a:off x="2148840" y="2167128"/>
            <a:ext cx="9235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Three Streamflow Prediction Tools and two Flash Flood tools (HKH) · four GEOGloWS/Tethys portals (Tropical South America) · HYDRAFloods and Historical Flood Analysis (SE Asia) · CREST and the regional streamflow service (E&amp;S Africa)</a:t>
            </a:r>
            <a:endParaRPr b="0" i="0" sz="1050" u="none" cap="none" strike="noStrike">
              <a:solidFill>
                <a:schemeClr val="dk1"/>
              </a:solidFill>
              <a:latin typeface="Calibri"/>
              <a:ea typeface="Calibri"/>
              <a:cs typeface="Calibri"/>
              <a:sym typeface="Calibri"/>
            </a:endParaRPr>
          </a:p>
        </p:txBody>
      </p:sp>
      <p:sp>
        <p:nvSpPr>
          <p:cNvPr id="1161" name="Google Shape;1161;p44"/>
          <p:cNvSpPr/>
          <p:nvPr/>
        </p:nvSpPr>
        <p:spPr>
          <a:xfrm>
            <a:off x="502920" y="3108960"/>
            <a:ext cx="11155680" cy="1234440"/>
          </a:xfrm>
          <a:prstGeom prst="roundRect">
            <a:avLst>
              <a:gd fmla="val 5185" name="adj"/>
            </a:avLst>
          </a:prstGeom>
          <a:solidFill>
            <a:srgbClr val="FFFFFF"/>
          </a:solidFill>
          <a:ln cap="flat" cmpd="sng" w="15875">
            <a:solidFill>
              <a:srgbClr val="1F6B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44"/>
          <p:cNvSpPr txBox="1"/>
          <p:nvPr/>
        </p:nvSpPr>
        <p:spPr>
          <a:xfrm>
            <a:off x="731520" y="3291840"/>
            <a:ext cx="1371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B52"/>
              </a:buClr>
              <a:buSzPts val="3000"/>
              <a:buFont typeface="Roboto Condensed"/>
              <a:buNone/>
            </a:pPr>
            <a:r>
              <a:rPr b="1" i="0" lang="en-US" sz="3000" u="none" cap="none" strike="noStrike">
                <a:solidFill>
                  <a:srgbClr val="1F6B52"/>
                </a:solidFill>
                <a:latin typeface="Roboto Condensed"/>
                <a:ea typeface="Roboto Condensed"/>
                <a:cs typeface="Roboto Condensed"/>
                <a:sym typeface="Roboto Condensed"/>
              </a:rPr>
              <a:t>10+</a:t>
            </a:r>
            <a:endParaRPr b="0" i="0" sz="3000" u="none" cap="none" strike="noStrike">
              <a:solidFill>
                <a:schemeClr val="dk1"/>
              </a:solidFill>
              <a:latin typeface="Calibri"/>
              <a:ea typeface="Calibri"/>
              <a:cs typeface="Calibri"/>
              <a:sym typeface="Calibri"/>
            </a:endParaRPr>
          </a:p>
        </p:txBody>
      </p:sp>
      <p:sp>
        <p:nvSpPr>
          <p:cNvPr id="1163" name="Google Shape;1163;p44"/>
          <p:cNvSpPr txBox="1"/>
          <p:nvPr/>
        </p:nvSpPr>
        <p:spPr>
          <a:xfrm>
            <a:off x="2148840" y="3273552"/>
            <a:ext cx="9235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500"/>
              <a:buFont typeface="Calibri"/>
              <a:buNone/>
            </a:pPr>
            <a:r>
              <a:rPr b="1" i="0" lang="en-US" sz="1500" u="none" cap="none" strike="noStrike">
                <a:solidFill>
                  <a:srgbClr val="1C212A"/>
                </a:solidFill>
                <a:latin typeface="Calibri"/>
                <a:ea typeface="Calibri"/>
                <a:cs typeface="Calibri"/>
                <a:sym typeface="Calibri"/>
              </a:rPr>
              <a:t>Land cover and change</a:t>
            </a:r>
            <a:endParaRPr b="0" i="0" sz="1500" u="none" cap="none" strike="noStrike">
              <a:solidFill>
                <a:schemeClr val="dk1"/>
              </a:solidFill>
              <a:latin typeface="Calibri"/>
              <a:ea typeface="Calibri"/>
              <a:cs typeface="Calibri"/>
              <a:sym typeface="Calibri"/>
            </a:endParaRPr>
          </a:p>
        </p:txBody>
      </p:sp>
      <p:sp>
        <p:nvSpPr>
          <p:cNvPr id="1164" name="Google Shape;1164;p44"/>
          <p:cNvSpPr txBox="1"/>
          <p:nvPr/>
        </p:nvSpPr>
        <p:spPr>
          <a:xfrm>
            <a:off x="2148840" y="3584448"/>
            <a:ext cx="9235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RLCMS in two hubs · NLCMS Nepal · four Land Cover Dynamics databases · GHG-inventory mapping (nine countries) · SINCHI Cobertura · Belize national map</a:t>
            </a:r>
            <a:endParaRPr b="0" i="0" sz="1050" u="none" cap="none" strike="noStrike">
              <a:solidFill>
                <a:schemeClr val="dk1"/>
              </a:solidFill>
              <a:latin typeface="Calibri"/>
              <a:ea typeface="Calibri"/>
              <a:cs typeface="Calibri"/>
              <a:sym typeface="Calibri"/>
            </a:endParaRPr>
          </a:p>
        </p:txBody>
      </p:sp>
      <p:sp>
        <p:nvSpPr>
          <p:cNvPr id="1165" name="Google Shape;1165;p44"/>
          <p:cNvSpPr/>
          <p:nvPr/>
        </p:nvSpPr>
        <p:spPr>
          <a:xfrm>
            <a:off x="502920" y="4526280"/>
            <a:ext cx="11155680" cy="1234440"/>
          </a:xfrm>
          <a:prstGeom prst="roundRect">
            <a:avLst>
              <a:gd fmla="val 5185" name="adj"/>
            </a:avLst>
          </a:prstGeom>
          <a:solidFill>
            <a:srgbClr val="FFFFFF"/>
          </a:solidFill>
          <a:ln cap="flat" cmpd="sng" w="15875">
            <a:solidFill>
              <a:srgbClr val="8F5E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44"/>
          <p:cNvSpPr txBox="1"/>
          <p:nvPr/>
        </p:nvSpPr>
        <p:spPr>
          <a:xfrm>
            <a:off x="731520" y="4709160"/>
            <a:ext cx="1371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5E06"/>
              </a:buClr>
              <a:buSzPts val="3000"/>
              <a:buFont typeface="Roboto Condensed"/>
              <a:buNone/>
            </a:pPr>
            <a:r>
              <a:rPr b="1" i="0" lang="en-US" sz="3000" u="none" cap="none" strike="noStrike">
                <a:solidFill>
                  <a:srgbClr val="8F5E06"/>
                </a:solidFill>
                <a:latin typeface="Roboto Condensed"/>
                <a:ea typeface="Roboto Condensed"/>
                <a:cs typeface="Roboto Condensed"/>
                <a:sym typeface="Roboto Condensed"/>
              </a:rPr>
              <a:t>8+</a:t>
            </a:r>
            <a:endParaRPr b="0" i="0" sz="3000" u="none" cap="none" strike="noStrike">
              <a:solidFill>
                <a:schemeClr val="dk1"/>
              </a:solidFill>
              <a:latin typeface="Calibri"/>
              <a:ea typeface="Calibri"/>
              <a:cs typeface="Calibri"/>
              <a:sym typeface="Calibri"/>
            </a:endParaRPr>
          </a:p>
        </p:txBody>
      </p:sp>
      <p:sp>
        <p:nvSpPr>
          <p:cNvPr id="1167" name="Google Shape;1167;p44"/>
          <p:cNvSpPr txBox="1"/>
          <p:nvPr/>
        </p:nvSpPr>
        <p:spPr>
          <a:xfrm>
            <a:off x="2148840" y="4690872"/>
            <a:ext cx="9235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500"/>
              <a:buFont typeface="Calibri"/>
              <a:buNone/>
            </a:pPr>
            <a:r>
              <a:rPr b="1" i="0" lang="en-US" sz="1500" u="none" cap="none" strike="noStrike">
                <a:solidFill>
                  <a:srgbClr val="1C212A"/>
                </a:solidFill>
                <a:latin typeface="Calibri"/>
                <a:ea typeface="Calibri"/>
                <a:cs typeface="Calibri"/>
                <a:sym typeface="Calibri"/>
              </a:rPr>
              <a:t>Drought and crop condition</a:t>
            </a:r>
            <a:endParaRPr b="0" i="0" sz="1500" u="none" cap="none" strike="noStrike">
              <a:solidFill>
                <a:schemeClr val="dk1"/>
              </a:solidFill>
              <a:latin typeface="Calibri"/>
              <a:ea typeface="Calibri"/>
              <a:cs typeface="Calibri"/>
              <a:sym typeface="Calibri"/>
            </a:endParaRPr>
          </a:p>
        </p:txBody>
      </p:sp>
      <p:sp>
        <p:nvSpPr>
          <p:cNvPr id="1168" name="Google Shape;1168;p44"/>
          <p:cNvSpPr txBox="1"/>
          <p:nvPr/>
        </p:nvSpPr>
        <p:spPr>
          <a:xfrm>
            <a:off x="2148840" y="5001768"/>
            <a:ext cx="92354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RDMOS · National Agricultural Drought Watch · SEADW · ClimateSERV · RHEAS · Kenya Crop Monitor · Regional Cropland Assessment · EWX</a:t>
            </a:r>
            <a:endParaRPr b="0" i="0" sz="1050" u="none" cap="none" strike="noStrike">
              <a:solidFill>
                <a:schemeClr val="dk1"/>
              </a:solidFill>
              <a:latin typeface="Calibri"/>
              <a:ea typeface="Calibri"/>
              <a:cs typeface="Calibri"/>
              <a:sym typeface="Calibri"/>
            </a:endParaRPr>
          </a:p>
        </p:txBody>
      </p:sp>
      <p:sp>
        <p:nvSpPr>
          <p:cNvPr id="1169" name="Google Shape;1169;p44"/>
          <p:cNvSpPr/>
          <p:nvPr/>
        </p:nvSpPr>
        <p:spPr>
          <a:xfrm>
            <a:off x="502920" y="5989320"/>
            <a:ext cx="11155680" cy="548640"/>
          </a:xfrm>
          <a:prstGeom prst="roundRect">
            <a:avLst>
              <a:gd fmla="val 10000"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44"/>
          <p:cNvSpPr txBox="1"/>
          <p:nvPr/>
        </p:nvSpPr>
        <p:spPr>
          <a:xfrm>
            <a:off x="713232" y="6080760"/>
            <a:ext cx="10789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These are not twenty-nine different problems.  </a:t>
            </a:r>
            <a:r>
              <a:rPr b="0" i="0" lang="en-US" sz="1150" u="none" cap="none" strike="noStrike">
                <a:solidFill>
                  <a:srgbClr val="4D5763"/>
                </a:solidFill>
                <a:latin typeface="Calibri"/>
                <a:ea typeface="Calibri"/>
                <a:cs typeface="Calibri"/>
                <a:sym typeface="Calibri"/>
              </a:rPr>
              <a:t>They are three capabilities, re-implemented per hub because there was no shared layer to build them into.</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45"/>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What the inventory corrects in this plan</a:t>
            </a:r>
            <a:endParaRPr b="0" i="0" sz="3000" u="none" cap="none" strike="noStrike">
              <a:solidFill>
                <a:schemeClr val="dk1"/>
              </a:solidFill>
              <a:latin typeface="Calibri"/>
              <a:ea typeface="Calibri"/>
              <a:cs typeface="Calibri"/>
              <a:sym typeface="Calibri"/>
            </a:endParaRPr>
          </a:p>
        </p:txBody>
      </p:sp>
      <p:sp>
        <p:nvSpPr>
          <p:cNvPr id="1177" name="Google Shape;1177;p45"/>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Two citations in §04 and §06 needed fixing. Both are now flagged in place.</a:t>
            </a:r>
            <a:endParaRPr b="0" i="0" sz="1350" u="none" cap="none" strike="noStrike">
              <a:solidFill>
                <a:schemeClr val="dk1"/>
              </a:solidFill>
              <a:latin typeface="Calibri"/>
              <a:ea typeface="Calibri"/>
              <a:cs typeface="Calibri"/>
              <a:sym typeface="Calibri"/>
            </a:endParaRPr>
          </a:p>
        </p:txBody>
      </p:sp>
      <p:sp>
        <p:nvSpPr>
          <p:cNvPr id="1178" name="Google Shape;1178;p45"/>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1179" name="Google Shape;1179;p45"/>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§09</a:t>
            </a:r>
            <a:endParaRPr b="0" i="0" sz="800" u="none" cap="none" strike="noStrike">
              <a:solidFill>
                <a:schemeClr val="dk1"/>
              </a:solidFill>
              <a:latin typeface="Calibri"/>
              <a:ea typeface="Calibri"/>
              <a:cs typeface="Calibri"/>
              <a:sym typeface="Calibri"/>
            </a:endParaRPr>
          </a:p>
        </p:txBody>
      </p:sp>
      <p:sp>
        <p:nvSpPr>
          <p:cNvPr id="1180" name="Google Shape;1180;p45"/>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41</a:t>
            </a:r>
            <a:endParaRPr b="0" i="0" sz="800" u="none" cap="none" strike="noStrike">
              <a:solidFill>
                <a:schemeClr val="dk1"/>
              </a:solidFill>
              <a:latin typeface="Calibri"/>
              <a:ea typeface="Calibri"/>
              <a:cs typeface="Calibri"/>
              <a:sym typeface="Calibri"/>
            </a:endParaRPr>
          </a:p>
        </p:txBody>
      </p:sp>
      <p:sp>
        <p:nvSpPr>
          <p:cNvPr id="1181" name="Google Shape;1181;p45"/>
          <p:cNvSpPr/>
          <p:nvPr/>
        </p:nvSpPr>
        <p:spPr>
          <a:xfrm>
            <a:off x="502920" y="1600200"/>
            <a:ext cx="11155680" cy="1188720"/>
          </a:xfrm>
          <a:prstGeom prst="roundRect">
            <a:avLst>
              <a:gd fmla="val 4615" name="adj"/>
            </a:avLst>
          </a:prstGeom>
          <a:solidFill>
            <a:srgbClr val="F7E8E8"/>
          </a:solidFill>
          <a:ln cap="flat" cmpd="sng" w="12700">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45"/>
          <p:cNvSpPr txBox="1"/>
          <p:nvPr/>
        </p:nvSpPr>
        <p:spPr>
          <a:xfrm>
            <a:off x="713232" y="1691640"/>
            <a:ext cx="1078992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SWARM is retired.  </a:t>
            </a:r>
            <a:r>
              <a:rPr b="0" i="0" lang="en-US" sz="1150" u="none" cap="none" strike="noStrike">
                <a:solidFill>
                  <a:srgbClr val="4D5763"/>
                </a:solidFill>
                <a:latin typeface="Calibri"/>
                <a:ea typeface="Calibri"/>
                <a:cs typeface="Calibri"/>
                <a:sym typeface="Calibri"/>
              </a:rPr>
              <a:t>§06 carried SWARM (Vietnam water allocation, NAWAPI) as the documented Clock 3 use case for wetlands and inland water. The App Center flags it 'No Longer Active'. The finding it supported — that scenario projection is the weakest column in the NRM matrix — is not weakened by this. It is strengthened: the one operational scenario service in that row has since been switched off.</a:t>
            </a:r>
            <a:endParaRPr b="0" i="0" sz="1150" u="none" cap="none" strike="noStrike">
              <a:solidFill>
                <a:schemeClr val="dk1"/>
              </a:solidFill>
              <a:latin typeface="Calibri"/>
              <a:ea typeface="Calibri"/>
              <a:cs typeface="Calibri"/>
              <a:sym typeface="Calibri"/>
            </a:endParaRPr>
          </a:p>
        </p:txBody>
      </p:sp>
      <p:sp>
        <p:nvSpPr>
          <p:cNvPr id="1183" name="Google Shape;1183;p45"/>
          <p:cNvSpPr/>
          <p:nvPr/>
        </p:nvSpPr>
        <p:spPr>
          <a:xfrm>
            <a:off x="502920" y="2926080"/>
            <a:ext cx="11155680" cy="822960"/>
          </a:xfrm>
          <a:prstGeom prst="roundRect">
            <a:avLst>
              <a:gd fmla="val 6667"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45"/>
          <p:cNvSpPr txBox="1"/>
          <p:nvPr/>
        </p:nvSpPr>
        <p:spPr>
          <a:xfrm>
            <a:off x="713232" y="3017520"/>
            <a:ext cx="10789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Malawi Community-Based Flood EWS is badged 'Pending'.  </a:t>
            </a:r>
            <a:r>
              <a:rPr b="0" i="0" lang="en-US" sz="1150" u="none" cap="none" strike="noStrike">
                <a:solidFill>
                  <a:srgbClr val="4D5763"/>
                </a:solidFill>
                <a:latin typeface="Calibri"/>
                <a:ea typeface="Calibri"/>
                <a:cs typeface="Calibri"/>
                <a:sym typeface="Calibri"/>
              </a:rPr>
              <a:t>§04 cites it as an operational flood use case with lead time going 'from hours to days' during Cyclone Ana. Confirm status with RCMRD before presenting it to a funder as running.</a:t>
            </a:r>
            <a:endParaRPr b="0" i="0" sz="1150" u="none" cap="none" strike="noStrike">
              <a:solidFill>
                <a:schemeClr val="dk1"/>
              </a:solidFill>
              <a:latin typeface="Calibri"/>
              <a:ea typeface="Calibri"/>
              <a:cs typeface="Calibri"/>
              <a:sym typeface="Calibri"/>
            </a:endParaRPr>
          </a:p>
        </p:txBody>
      </p:sp>
      <p:sp>
        <p:nvSpPr>
          <p:cNvPr id="1185" name="Google Shape;1185;p45"/>
          <p:cNvSpPr txBox="1"/>
          <p:nvPr/>
        </p:nvSpPr>
        <p:spPr>
          <a:xfrm>
            <a:off x="502920" y="38862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500"/>
              <a:buFont typeface="Roboto Condensed"/>
              <a:buNone/>
            </a:pPr>
            <a:r>
              <a:rPr b="1" i="0" lang="en-US" sz="1500" u="none" cap="none" strike="noStrike">
                <a:solidFill>
                  <a:srgbClr val="1C212A"/>
                </a:solidFill>
                <a:latin typeface="Roboto Condensed"/>
                <a:ea typeface="Roboto Condensed"/>
                <a:cs typeface="Roboto Condensed"/>
                <a:sym typeface="Roboto Condensed"/>
              </a:rPr>
              <a:t>Also flagged 'No Longer Active' by the App Center</a:t>
            </a:r>
            <a:endParaRPr b="0" i="0" sz="1500" u="none" cap="none" strike="noStrike">
              <a:solidFill>
                <a:schemeClr val="dk1"/>
              </a:solidFill>
              <a:latin typeface="Calibri"/>
              <a:ea typeface="Calibri"/>
              <a:cs typeface="Calibri"/>
              <a:sym typeface="Calibri"/>
            </a:endParaRPr>
          </a:p>
        </p:txBody>
      </p:sp>
      <p:sp>
        <p:nvSpPr>
          <p:cNvPr id="1186" name="Google Shape;1186;p45"/>
          <p:cNvSpPr/>
          <p:nvPr/>
        </p:nvSpPr>
        <p:spPr>
          <a:xfrm>
            <a:off x="548640" y="4224528"/>
            <a:ext cx="2615184" cy="914400"/>
          </a:xfrm>
          <a:prstGeom prst="roundRect">
            <a:avLst>
              <a:gd fmla="val 6000"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45"/>
          <p:cNvSpPr txBox="1"/>
          <p:nvPr/>
        </p:nvSpPr>
        <p:spPr>
          <a:xfrm>
            <a:off x="749808" y="4389120"/>
            <a:ext cx="22128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GeoPortal</a:t>
            </a:r>
            <a:endParaRPr b="0" i="0" sz="1350" u="none" cap="none" strike="noStrike">
              <a:solidFill>
                <a:schemeClr val="dk1"/>
              </a:solidFill>
              <a:latin typeface="Calibri"/>
              <a:ea typeface="Calibri"/>
              <a:cs typeface="Calibri"/>
              <a:sym typeface="Calibri"/>
            </a:endParaRPr>
          </a:p>
        </p:txBody>
      </p:sp>
      <p:sp>
        <p:nvSpPr>
          <p:cNvPr id="1188" name="Google Shape;1188;p45"/>
          <p:cNvSpPr txBox="1"/>
          <p:nvPr/>
        </p:nvSpPr>
        <p:spPr>
          <a:xfrm>
            <a:off x="749808" y="4681728"/>
            <a:ext cx="221284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Regional data portal</a:t>
            </a:r>
            <a:endParaRPr b="0" i="0" sz="1050" u="none" cap="none" strike="noStrike">
              <a:solidFill>
                <a:schemeClr val="dk1"/>
              </a:solidFill>
              <a:latin typeface="Calibri"/>
              <a:ea typeface="Calibri"/>
              <a:cs typeface="Calibri"/>
              <a:sym typeface="Calibri"/>
            </a:endParaRPr>
          </a:p>
        </p:txBody>
      </p:sp>
      <p:sp>
        <p:nvSpPr>
          <p:cNvPr id="1189" name="Google Shape;1189;p45"/>
          <p:cNvSpPr/>
          <p:nvPr/>
        </p:nvSpPr>
        <p:spPr>
          <a:xfrm>
            <a:off x="3364992" y="4224528"/>
            <a:ext cx="2615184" cy="914400"/>
          </a:xfrm>
          <a:prstGeom prst="roundRect">
            <a:avLst>
              <a:gd fmla="val 6000"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45"/>
          <p:cNvSpPr txBox="1"/>
          <p:nvPr/>
        </p:nvSpPr>
        <p:spPr>
          <a:xfrm>
            <a:off x="3566160" y="4389120"/>
            <a:ext cx="22128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LULC Inventory for Africa</a:t>
            </a:r>
            <a:endParaRPr b="0" i="0" sz="1350" u="none" cap="none" strike="noStrike">
              <a:solidFill>
                <a:schemeClr val="dk1"/>
              </a:solidFill>
              <a:latin typeface="Calibri"/>
              <a:ea typeface="Calibri"/>
              <a:cs typeface="Calibri"/>
              <a:sym typeface="Calibri"/>
            </a:endParaRPr>
          </a:p>
        </p:txBody>
      </p:sp>
      <p:sp>
        <p:nvSpPr>
          <p:cNvPr id="1191" name="Google Shape;1191;p45"/>
          <p:cNvSpPr txBox="1"/>
          <p:nvPr/>
        </p:nvSpPr>
        <p:spPr>
          <a:xfrm>
            <a:off x="3566160" y="4681728"/>
            <a:ext cx="221284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Pan-African dataset catalogue, all 54 countries</a:t>
            </a:r>
            <a:endParaRPr b="0" i="0" sz="1050" u="none" cap="none" strike="noStrike">
              <a:solidFill>
                <a:schemeClr val="dk1"/>
              </a:solidFill>
              <a:latin typeface="Calibri"/>
              <a:ea typeface="Calibri"/>
              <a:cs typeface="Calibri"/>
              <a:sym typeface="Calibri"/>
            </a:endParaRPr>
          </a:p>
        </p:txBody>
      </p:sp>
      <p:sp>
        <p:nvSpPr>
          <p:cNvPr id="1192" name="Google Shape;1192;p45"/>
          <p:cNvSpPr/>
          <p:nvPr/>
        </p:nvSpPr>
        <p:spPr>
          <a:xfrm>
            <a:off x="6181344" y="4224528"/>
            <a:ext cx="2615184" cy="914400"/>
          </a:xfrm>
          <a:prstGeom prst="roundRect">
            <a:avLst>
              <a:gd fmla="val 6000"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45"/>
          <p:cNvSpPr txBox="1"/>
          <p:nvPr/>
        </p:nvSpPr>
        <p:spPr>
          <a:xfrm>
            <a:off x="6382512" y="4389120"/>
            <a:ext cx="22128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REDD Information System</a:t>
            </a:r>
            <a:endParaRPr b="0" i="0" sz="1350" u="none" cap="none" strike="noStrike">
              <a:solidFill>
                <a:schemeClr val="dk1"/>
              </a:solidFill>
              <a:latin typeface="Calibri"/>
              <a:ea typeface="Calibri"/>
              <a:cs typeface="Calibri"/>
              <a:sym typeface="Calibri"/>
            </a:endParaRPr>
          </a:p>
        </p:txBody>
      </p:sp>
      <p:sp>
        <p:nvSpPr>
          <p:cNvPr id="1194" name="Google Shape;1194;p45"/>
          <p:cNvSpPr txBox="1"/>
          <p:nvPr/>
        </p:nvSpPr>
        <p:spPr>
          <a:xfrm>
            <a:off x="6382512" y="4681728"/>
            <a:ext cx="221284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HKH forest biomass, Kayar Khola</a:t>
            </a:r>
            <a:endParaRPr b="0" i="0" sz="1050" u="none" cap="none" strike="noStrike">
              <a:solidFill>
                <a:schemeClr val="dk1"/>
              </a:solidFill>
              <a:latin typeface="Calibri"/>
              <a:ea typeface="Calibri"/>
              <a:cs typeface="Calibri"/>
              <a:sym typeface="Calibri"/>
            </a:endParaRPr>
          </a:p>
        </p:txBody>
      </p:sp>
      <p:sp>
        <p:nvSpPr>
          <p:cNvPr id="1195" name="Google Shape;1195;p45"/>
          <p:cNvSpPr/>
          <p:nvPr/>
        </p:nvSpPr>
        <p:spPr>
          <a:xfrm>
            <a:off x="8997696" y="4224528"/>
            <a:ext cx="2615184" cy="914400"/>
          </a:xfrm>
          <a:prstGeom prst="roundRect">
            <a:avLst>
              <a:gd fmla="val 6000"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45"/>
          <p:cNvSpPr txBox="1"/>
          <p:nvPr/>
        </p:nvSpPr>
        <p:spPr>
          <a:xfrm>
            <a:off x="9198864" y="4389120"/>
            <a:ext cx="22128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AgriSERV</a:t>
            </a:r>
            <a:endParaRPr b="0" i="0" sz="1350" u="none" cap="none" strike="noStrike">
              <a:solidFill>
                <a:schemeClr val="dk1"/>
              </a:solidFill>
              <a:latin typeface="Calibri"/>
              <a:ea typeface="Calibri"/>
              <a:cs typeface="Calibri"/>
              <a:sym typeface="Calibri"/>
            </a:endParaRPr>
          </a:p>
        </p:txBody>
      </p:sp>
      <p:sp>
        <p:nvSpPr>
          <p:cNvPr id="1197" name="Google Shape;1197;p45"/>
          <p:cNvSpPr txBox="1"/>
          <p:nvPr/>
        </p:nvSpPr>
        <p:spPr>
          <a:xfrm>
            <a:off x="9198864" y="4681728"/>
            <a:ext cx="221284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Agricultural-intervention comparison</a:t>
            </a:r>
            <a:endParaRPr b="0" i="0" sz="1050" u="none" cap="none" strike="noStrike">
              <a:solidFill>
                <a:schemeClr val="dk1"/>
              </a:solidFill>
              <a:latin typeface="Calibri"/>
              <a:ea typeface="Calibri"/>
              <a:cs typeface="Calibri"/>
              <a:sym typeface="Calibri"/>
            </a:endParaRPr>
          </a:p>
        </p:txBody>
      </p:sp>
      <p:sp>
        <p:nvSpPr>
          <p:cNvPr id="1198" name="Google Shape;1198;p45"/>
          <p:cNvSpPr/>
          <p:nvPr/>
        </p:nvSpPr>
        <p:spPr>
          <a:xfrm>
            <a:off x="502920" y="5257800"/>
            <a:ext cx="11155680" cy="685800"/>
          </a:xfrm>
          <a:prstGeom prst="roundRect">
            <a:avLst>
              <a:gd fmla="val 8000"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45"/>
          <p:cNvSpPr txBox="1"/>
          <p:nvPr/>
        </p:nvSpPr>
        <p:spPr>
          <a:xfrm>
            <a:off x="713232" y="5349240"/>
            <a:ext cx="10789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And a documentation finding worth acting on:  </a:t>
            </a:r>
            <a:r>
              <a:rPr b="0" i="0" lang="en-US" sz="1150" u="none" cap="none" strike="noStrike">
                <a:solidFill>
                  <a:srgbClr val="4D5763"/>
                </a:solidFill>
                <a:latin typeface="Calibri"/>
                <a:ea typeface="Calibri"/>
                <a:cs typeface="Calibri"/>
                <a:sym typeface="Calibri"/>
              </a:rPr>
              <a:t>30 of 123 services could not be classified at all because their pages were unreachable. For a portfolio being pitched as the evidence base for three platforms, that is the number to fix first.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46"/>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What is being built right now in SERVIR-AI</a:t>
            </a:r>
            <a:endParaRPr b="0" i="0" sz="3000" u="none" cap="none" strike="noStrike">
              <a:solidFill>
                <a:schemeClr val="dk1"/>
              </a:solidFill>
              <a:latin typeface="Calibri"/>
              <a:ea typeface="Calibri"/>
              <a:cs typeface="Calibri"/>
              <a:sym typeface="Calibri"/>
            </a:endParaRPr>
          </a:p>
        </p:txBody>
      </p:sp>
      <p:sp>
        <p:nvSpPr>
          <p:cNvPr id="1206" name="Google Shape;1206;p46"/>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Three repos where the current build is organised. Two are private; one is the reference implementation.</a:t>
            </a:r>
            <a:endParaRPr b="0" i="0" sz="1350" u="none" cap="none" strike="noStrike">
              <a:solidFill>
                <a:schemeClr val="dk1"/>
              </a:solidFill>
              <a:latin typeface="Calibri"/>
              <a:ea typeface="Calibri"/>
              <a:cs typeface="Calibri"/>
              <a:sym typeface="Calibri"/>
            </a:endParaRPr>
          </a:p>
        </p:txBody>
      </p:sp>
      <p:sp>
        <p:nvSpPr>
          <p:cNvPr id="1207" name="Google Shape;1207;p46"/>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1208" name="Google Shape;1208;p46"/>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§02</a:t>
            </a:r>
            <a:endParaRPr b="0" i="0" sz="800" u="none" cap="none" strike="noStrike">
              <a:solidFill>
                <a:schemeClr val="dk1"/>
              </a:solidFill>
              <a:latin typeface="Calibri"/>
              <a:ea typeface="Calibri"/>
              <a:cs typeface="Calibri"/>
              <a:sym typeface="Calibri"/>
            </a:endParaRPr>
          </a:p>
        </p:txBody>
      </p:sp>
      <p:sp>
        <p:nvSpPr>
          <p:cNvPr id="1209" name="Google Shape;1209;p46"/>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42</a:t>
            </a:r>
            <a:endParaRPr b="0" i="0" sz="800" u="none" cap="none" strike="noStrike">
              <a:solidFill>
                <a:schemeClr val="dk1"/>
              </a:solidFill>
              <a:latin typeface="Calibri"/>
              <a:ea typeface="Calibri"/>
              <a:cs typeface="Calibri"/>
              <a:sym typeface="Calibri"/>
            </a:endParaRPr>
          </a:p>
        </p:txBody>
      </p:sp>
      <p:graphicFrame>
        <p:nvGraphicFramePr>
          <p:cNvPr id="1210" name="Google Shape;1210;p46"/>
          <p:cNvGraphicFramePr/>
          <p:nvPr/>
        </p:nvGraphicFramePr>
        <p:xfrm>
          <a:off x="502920" y="1645920"/>
          <a:ext cx="3000000" cy="3000000"/>
        </p:xfrm>
        <a:graphic>
          <a:graphicData uri="http://schemas.openxmlformats.org/drawingml/2006/table">
            <a:tbl>
              <a:tblPr>
                <a:noFill/>
                <a:tableStyleId>{0B7ADE64-2C2D-4D68-BEA2-7A829558A485}</a:tableStyleId>
              </a:tblPr>
              <a:tblGrid>
                <a:gridCol w="2834650"/>
                <a:gridCol w="3108950"/>
                <a:gridCol w="2286000"/>
                <a:gridCol w="2926075"/>
              </a:tblGrid>
              <a:tr h="685800">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Repository</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Role</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State</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What the plan needs from it</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r>
              <a:tr h="685800">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SERVIR-AI/global-platform</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Working prototype of the gateway pattern — a live disaster-risk agent for SE Asia</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Public · active · EPL-2.0 · 228 commits</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Read. It is the closest thing to a reference implementation this plan has</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685800">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SERVIR-AI/geoai-hub</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"Where we are organizing things" — the organising hub for the GeoAI build</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PRIVATE — 404 unauthenticated</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Its structure should define how §04–06's agents are organised. The plan is currently guessing</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685800">
                <a:tc>
                  <a:txBody>
                    <a:bodyPr/>
                    <a:lstStyle/>
                    <a:p>
                      <a:pPr indent="0" lvl="0" marL="0" marR="0" rtl="0" algn="l">
                        <a:spcBef>
                          <a:spcPts val="0"/>
                        </a:spcBef>
                        <a:spcAft>
                          <a:spcPts val="0"/>
                        </a:spcAft>
                        <a:buClr>
                          <a:srgbClr val="1C212A"/>
                        </a:buClr>
                        <a:buSzPts val="1000"/>
                        <a:buFont typeface="Calibri"/>
                        <a:buNone/>
                      </a:pPr>
                      <a:r>
                        <a:rPr b="1" lang="en-US" sz="1000" u="none" cap="none" strike="noStrike">
                          <a:solidFill>
                            <a:srgbClr val="1C212A"/>
                          </a:solidFill>
                          <a:latin typeface="Calibri"/>
                          <a:ea typeface="Calibri"/>
                          <a:cs typeface="Calibri"/>
                          <a:sym typeface="Calibri"/>
                        </a:rPr>
                        <a:t>SERVIR-AI/impact-tracker</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Where impact reporting is organised</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PRIVATE — 404 unauthenticated</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1000"/>
                        <a:buFont typeface="Calibri"/>
                        <a:buNone/>
                      </a:pPr>
                      <a:r>
                        <a:rPr lang="en-US" sz="1000" u="none" cap="none" strike="noStrike">
                          <a:solidFill>
                            <a:srgbClr val="1C212A"/>
                          </a:solidFill>
                          <a:latin typeface="Calibri"/>
                          <a:ea typeface="Calibri"/>
                          <a:cs typeface="Calibri"/>
                          <a:sym typeface="Calibri"/>
                        </a:rPr>
                        <a:t>Natural home for §04–06 use cases and the §09 inventory. Overlaps the retired AgriSERV service</a:t>
                      </a:r>
                      <a:endParaRPr sz="10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bl>
          </a:graphicData>
        </a:graphic>
      </p:graphicFrame>
      <p:sp>
        <p:nvSpPr>
          <p:cNvPr id="1211" name="Google Shape;1211;p46"/>
          <p:cNvSpPr/>
          <p:nvPr/>
        </p:nvSpPr>
        <p:spPr>
          <a:xfrm>
            <a:off x="502920" y="4114800"/>
            <a:ext cx="11155680" cy="1463040"/>
          </a:xfrm>
          <a:prstGeom prst="roundRect">
            <a:avLst>
              <a:gd fmla="val 3750"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46"/>
          <p:cNvSpPr txBox="1"/>
          <p:nvPr/>
        </p:nvSpPr>
        <p:spPr>
          <a:xfrm>
            <a:off x="713232" y="4206240"/>
            <a:ext cx="1078992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global-platform already implements four of §04's six seams.  </a:t>
            </a:r>
            <a:r>
              <a:rPr b="0" i="0" lang="en-US" sz="1150" u="none" cap="none" strike="noStrike">
                <a:solidFill>
                  <a:srgbClr val="4D5763"/>
                </a:solidFill>
                <a:latin typeface="Calibri"/>
                <a:ea typeface="Calibri"/>
                <a:cs typeface="Calibri"/>
                <a:sym typeface="Calibri"/>
              </a:rPr>
              <a:t>The resolve step asks the user to choose rather than guessing, resuming via thread_id — that is E4's human-approval checkpoint, built. The dual /mcp and /api mount is E6's access layer, built. POST /api/tiffs takes a partner's own hazard GeoTIFF behind a verification gate — a working version of the hub-override mechanism Decision #18 is still trying to govern. And its L1–L4 data model maps onto E2's two-clock engine, with L4 (upstream-provider fetch) still planned — the same federation gap this plan has.</a:t>
            </a:r>
            <a:endParaRPr b="0" i="0" sz="1150" u="none" cap="none" strike="noStrike">
              <a:solidFill>
                <a:schemeClr val="dk1"/>
              </a:solidFill>
              <a:latin typeface="Calibri"/>
              <a:ea typeface="Calibri"/>
              <a:cs typeface="Calibri"/>
              <a:sym typeface="Calibri"/>
            </a:endParaRPr>
          </a:p>
        </p:txBody>
      </p:sp>
      <p:sp>
        <p:nvSpPr>
          <p:cNvPr id="1213" name="Google Shape;1213;p46"/>
          <p:cNvSpPr/>
          <p:nvPr/>
        </p:nvSpPr>
        <p:spPr>
          <a:xfrm>
            <a:off x="502920" y="5715000"/>
            <a:ext cx="11155680" cy="658368"/>
          </a:xfrm>
          <a:prstGeom prst="roundRect">
            <a:avLst>
              <a:gd fmla="val 8333" name="adj"/>
            </a:avLst>
          </a:prstGeom>
          <a:solidFill>
            <a:srgbClr val="F7E8E8"/>
          </a:solidFill>
          <a:ln cap="flat" cmpd="sng" w="12700">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46"/>
          <p:cNvSpPr txBox="1"/>
          <p:nvPr/>
        </p:nvSpPr>
        <p:spPr>
          <a:xfrm>
            <a:off x="713232" y="5806440"/>
            <a:ext cx="10789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Which sharpens Decision #12.  </a:t>
            </a:r>
            <a:r>
              <a:rPr b="0" i="0" lang="en-US" sz="1150" u="none" cap="none" strike="noStrike">
                <a:solidFill>
                  <a:srgbClr val="4D5763"/>
                </a:solidFill>
                <a:latin typeface="Calibri"/>
                <a:ea typeface="Calibri"/>
                <a:cs typeface="Calibri"/>
                <a:sym typeface="Calibri"/>
              </a:rPr>
              <a:t>The risk is not duplication. It is that this build has already made design decisions §04 describes abstractly. The maintainer conversation should be about adopting them.</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47"/>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Reactivation candidates</a:t>
            </a:r>
            <a:endParaRPr b="0" i="0" sz="3000" u="none" cap="none" strike="noStrike">
              <a:solidFill>
                <a:schemeClr val="dk1"/>
              </a:solidFill>
              <a:latin typeface="Calibri"/>
              <a:ea typeface="Calibri"/>
              <a:cs typeface="Calibri"/>
              <a:sym typeface="Calibri"/>
            </a:endParaRPr>
          </a:p>
        </p:txBody>
      </p:sp>
      <p:sp>
        <p:nvSpPr>
          <p:cNvPr id="1221" name="Google Shape;1221;p47"/>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Retired is not excluded. Six dormant services stay in scope as build options — the same judgement Decision #11 already made.</a:t>
            </a:r>
            <a:endParaRPr b="0" i="0" sz="1350" u="none" cap="none" strike="noStrike">
              <a:solidFill>
                <a:schemeClr val="dk1"/>
              </a:solidFill>
              <a:latin typeface="Calibri"/>
              <a:ea typeface="Calibri"/>
              <a:cs typeface="Calibri"/>
              <a:sym typeface="Calibri"/>
            </a:endParaRPr>
          </a:p>
        </p:txBody>
      </p:sp>
      <p:sp>
        <p:nvSpPr>
          <p:cNvPr id="1222" name="Google Shape;1222;p47"/>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1223" name="Google Shape;1223;p47"/>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§09</a:t>
            </a:r>
            <a:endParaRPr b="0" i="0" sz="800" u="none" cap="none" strike="noStrike">
              <a:solidFill>
                <a:schemeClr val="dk1"/>
              </a:solidFill>
              <a:latin typeface="Calibri"/>
              <a:ea typeface="Calibri"/>
              <a:cs typeface="Calibri"/>
              <a:sym typeface="Calibri"/>
            </a:endParaRPr>
          </a:p>
        </p:txBody>
      </p:sp>
      <p:sp>
        <p:nvSpPr>
          <p:cNvPr id="1224" name="Google Shape;1224;p47"/>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43</a:t>
            </a:r>
            <a:endParaRPr b="0" i="0" sz="800" u="none" cap="none" strike="noStrike">
              <a:solidFill>
                <a:schemeClr val="dk1"/>
              </a:solidFill>
              <a:latin typeface="Calibri"/>
              <a:ea typeface="Calibri"/>
              <a:cs typeface="Calibri"/>
              <a:sym typeface="Calibri"/>
            </a:endParaRPr>
          </a:p>
        </p:txBody>
      </p:sp>
      <p:graphicFrame>
        <p:nvGraphicFramePr>
          <p:cNvPr id="1225" name="Google Shape;1225;p47"/>
          <p:cNvGraphicFramePr/>
          <p:nvPr/>
        </p:nvGraphicFramePr>
        <p:xfrm>
          <a:off x="502920" y="1627632"/>
          <a:ext cx="3000000" cy="3000000"/>
        </p:xfrm>
        <a:graphic>
          <a:graphicData uri="http://schemas.openxmlformats.org/drawingml/2006/table">
            <a:tbl>
              <a:tblPr>
                <a:noFill/>
                <a:tableStyleId>{0B7ADE64-2C2D-4D68-BEA2-7A829558A485}</a:tableStyleId>
              </a:tblPr>
              <a:tblGrid>
                <a:gridCol w="2286000"/>
                <a:gridCol w="1737350"/>
                <a:gridCol w="3017525"/>
                <a:gridCol w="4114800"/>
              </a:tblGrid>
              <a:tr h="493775">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Service</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Hub</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Fills which matrix cell</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Reactivation note</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r>
              <a:tr h="493775">
                <a:tc>
                  <a:txBody>
                    <a:bodyPr/>
                    <a:lstStyle/>
                    <a:p>
                      <a:pPr indent="0" lvl="0" marL="0" marR="0" rtl="0" algn="l">
                        <a:spcBef>
                          <a:spcPts val="0"/>
                        </a:spcBef>
                        <a:spcAft>
                          <a:spcPts val="0"/>
                        </a:spcAft>
                        <a:buClr>
                          <a:srgbClr val="1C212A"/>
                        </a:buClr>
                        <a:buSzPts val="900"/>
                        <a:buFont typeface="Calibri"/>
                        <a:buNone/>
                      </a:pPr>
                      <a:r>
                        <a:rPr b="1" lang="en-US" sz="900" u="none" cap="none" strike="noStrike">
                          <a:solidFill>
                            <a:srgbClr val="1C212A"/>
                          </a:solidFill>
                          <a:latin typeface="Calibri"/>
                          <a:ea typeface="Calibri"/>
                          <a:cs typeface="Calibri"/>
                          <a:sym typeface="Calibri"/>
                        </a:rPr>
                        <a:t>SWARM</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SE Asia</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§06 wetlands &amp; inland water × Clock 3</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Top target. Named ministry user (NAWAPI), documented method, existing code — and it fills the weakest column in the NRM matrix</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493775">
                <a:tc>
                  <a:txBody>
                    <a:bodyPr/>
                    <a:lstStyle/>
                    <a:p>
                      <a:pPr indent="0" lvl="0" marL="0" marR="0" rtl="0" algn="l">
                        <a:spcBef>
                          <a:spcPts val="0"/>
                        </a:spcBef>
                        <a:spcAft>
                          <a:spcPts val="0"/>
                        </a:spcAft>
                        <a:buClr>
                          <a:srgbClr val="1C212A"/>
                        </a:buClr>
                        <a:buSzPts val="900"/>
                        <a:buFont typeface="Calibri"/>
                        <a:buNone/>
                      </a:pPr>
                      <a:r>
                        <a:rPr b="1" lang="en-US" sz="900" u="none" cap="none" strike="noStrike">
                          <a:solidFill>
                            <a:srgbClr val="1C212A"/>
                          </a:solidFill>
                          <a:latin typeface="Calibri"/>
                          <a:ea typeface="Calibri"/>
                          <a:cs typeface="Calibri"/>
                          <a:sym typeface="Calibri"/>
                        </a:rPr>
                        <a:t>REDD Information System</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HKH</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§06 REDD+ activity data × Clock 2</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Imagery only from 2009/2012 — a data rebuild, but the MRV methodology carries over</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493775">
                <a:tc>
                  <a:txBody>
                    <a:bodyPr/>
                    <a:lstStyle/>
                    <a:p>
                      <a:pPr indent="0" lvl="0" marL="0" marR="0" rtl="0" algn="l">
                        <a:spcBef>
                          <a:spcPts val="0"/>
                        </a:spcBef>
                        <a:spcAft>
                          <a:spcPts val="0"/>
                        </a:spcAft>
                        <a:buClr>
                          <a:srgbClr val="1C212A"/>
                        </a:buClr>
                        <a:buSzPts val="900"/>
                        <a:buFont typeface="Calibri"/>
                        <a:buNone/>
                      </a:pPr>
                      <a:r>
                        <a:rPr b="1" lang="en-US" sz="900" u="none" cap="none" strike="noStrike">
                          <a:solidFill>
                            <a:srgbClr val="1C212A"/>
                          </a:solidFill>
                          <a:latin typeface="Calibri"/>
                          <a:ea typeface="Calibri"/>
                          <a:cs typeface="Calibri"/>
                          <a:sym typeface="Calibri"/>
                        </a:rPr>
                        <a:t>LULC Inventory for Africa</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E&amp;S Africa</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§06 land cover × Clock 2; §07 discovery</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A catalogue, not a model — cheapest possible restart, and continental in scope</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493775">
                <a:tc>
                  <a:txBody>
                    <a:bodyPr/>
                    <a:lstStyle/>
                    <a:p>
                      <a:pPr indent="0" lvl="0" marL="0" marR="0" rtl="0" algn="l">
                        <a:spcBef>
                          <a:spcPts val="0"/>
                        </a:spcBef>
                        <a:spcAft>
                          <a:spcPts val="0"/>
                        </a:spcAft>
                        <a:buClr>
                          <a:srgbClr val="1C212A"/>
                        </a:buClr>
                        <a:buSzPts val="900"/>
                        <a:buFont typeface="Calibri"/>
                        <a:buNone/>
                      </a:pPr>
                      <a:r>
                        <a:rPr b="1" lang="en-US" sz="900" u="none" cap="none" strike="noStrike">
                          <a:solidFill>
                            <a:srgbClr val="1C212A"/>
                          </a:solidFill>
                          <a:latin typeface="Calibri"/>
                          <a:ea typeface="Calibri"/>
                          <a:cs typeface="Calibri"/>
                          <a:sym typeface="Calibri"/>
                        </a:rPr>
                        <a:t>AgriSERV</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Tropical S. America</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§05 outcome / impact layer</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Closest existing thing to the impact-tracker work. Check overlap before rebuilding either</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493775">
                <a:tc>
                  <a:txBody>
                    <a:bodyPr/>
                    <a:lstStyle/>
                    <a:p>
                      <a:pPr indent="0" lvl="0" marL="0" marR="0" rtl="0" algn="l">
                        <a:spcBef>
                          <a:spcPts val="0"/>
                        </a:spcBef>
                        <a:spcAft>
                          <a:spcPts val="0"/>
                        </a:spcAft>
                        <a:buClr>
                          <a:srgbClr val="1C212A"/>
                        </a:buClr>
                        <a:buSzPts val="900"/>
                        <a:buFont typeface="Calibri"/>
                        <a:buNone/>
                      </a:pPr>
                      <a:r>
                        <a:rPr b="1" lang="en-US" sz="900" u="none" cap="none" strike="noStrike">
                          <a:solidFill>
                            <a:srgbClr val="1C212A"/>
                          </a:solidFill>
                          <a:latin typeface="Calibri"/>
                          <a:ea typeface="Calibri"/>
                          <a:cs typeface="Calibri"/>
                          <a:sym typeface="Calibri"/>
                        </a:rPr>
                        <a:t>EcoDash</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SE Asia</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§06 ecosystem services × Clock 2</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Lives on a separate subdomain. Genuinely unclear rather than confirmed dead</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493775">
                <a:tc>
                  <a:txBody>
                    <a:bodyPr/>
                    <a:lstStyle/>
                    <a:p>
                      <a:pPr indent="0" lvl="0" marL="0" marR="0" rtl="0" algn="l">
                        <a:spcBef>
                          <a:spcPts val="0"/>
                        </a:spcBef>
                        <a:spcAft>
                          <a:spcPts val="0"/>
                        </a:spcAft>
                        <a:buClr>
                          <a:srgbClr val="1C212A"/>
                        </a:buClr>
                        <a:buSzPts val="900"/>
                        <a:buFont typeface="Calibri"/>
                        <a:buNone/>
                      </a:pPr>
                      <a:r>
                        <a:rPr b="1" lang="en-US" sz="900" u="none" cap="none" strike="noStrike">
                          <a:solidFill>
                            <a:srgbClr val="1C212A"/>
                          </a:solidFill>
                          <a:latin typeface="Calibri"/>
                          <a:ea typeface="Calibri"/>
                          <a:cs typeface="Calibri"/>
                          <a:sym typeface="Calibri"/>
                        </a:rPr>
                        <a:t>GeoPortal</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Cross-cutting</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§07 shared data layer</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00"/>
                        <a:buFont typeface="Calibri"/>
                        <a:buNone/>
                      </a:pPr>
                      <a:r>
                        <a:rPr lang="en-US" sz="900" u="none" cap="none" strike="noStrike">
                          <a:solidFill>
                            <a:srgbClr val="1C212A"/>
                          </a:solidFill>
                          <a:latin typeface="Calibri"/>
                          <a:ea typeface="Calibri"/>
                          <a:cs typeface="Calibri"/>
                          <a:sym typeface="Calibri"/>
                        </a:rPr>
                        <a:t>Pattern superseded by what §07 describes. Recover the catalogue content, not the portal</a:t>
                      </a:r>
                      <a:endParaRPr sz="90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bl>
          </a:graphicData>
        </a:graphic>
      </p:graphicFrame>
      <p:sp>
        <p:nvSpPr>
          <p:cNvPr id="1226" name="Google Shape;1226;p47"/>
          <p:cNvSpPr/>
          <p:nvPr/>
        </p:nvSpPr>
        <p:spPr>
          <a:xfrm>
            <a:off x="502920" y="5321808"/>
            <a:ext cx="11155680" cy="777240"/>
          </a:xfrm>
          <a:prstGeom prst="roundRect">
            <a:avLst>
              <a:gd fmla="val 7059"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47"/>
          <p:cNvSpPr txBox="1"/>
          <p:nvPr/>
        </p:nvSpPr>
        <p:spPr>
          <a:xfrm>
            <a:off x="713232" y="5413248"/>
            <a:ext cx="107899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And two badged Pending rather than retired — DRIP Groundwater Use and the Malawi Community-Based Flood EWS.  </a:t>
            </a:r>
            <a:r>
              <a:rPr b="0" i="0" lang="en-US" sz="1150" u="none" cap="none" strike="noStrike">
                <a:solidFill>
                  <a:srgbClr val="4D5763"/>
                </a:solidFill>
                <a:latin typeface="Calibri"/>
                <a:ea typeface="Calibri"/>
                <a:cs typeface="Calibri"/>
                <a:sym typeface="Calibri"/>
              </a:rPr>
              <a:t>Pending suggests in-flight, not stopped. Confirm both with the hub directly: the App Center sits in the same publishing layer that misreported hub status, so it is the best available signal, not ground truth.</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48"/>
          <p:cNvSpPr/>
          <p:nvPr/>
        </p:nvSpPr>
        <p:spPr>
          <a:xfrm>
            <a:off x="0" y="0"/>
            <a:ext cx="12161520" cy="6858000"/>
          </a:xfrm>
          <a:prstGeom prst="rect">
            <a:avLst/>
          </a:prstGeom>
          <a:solidFill>
            <a:srgbClr val="1C21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48"/>
          <p:cNvSpPr/>
          <p:nvPr/>
        </p:nvSpPr>
        <p:spPr>
          <a:xfrm>
            <a:off x="9509760" y="-1280160"/>
            <a:ext cx="4754880" cy="4754880"/>
          </a:xfrm>
          <a:prstGeom prst="ellipse">
            <a:avLst/>
          </a:prstGeom>
          <a:solidFill>
            <a:srgbClr val="1A6389">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48"/>
          <p:cNvSpPr txBox="1"/>
          <p:nvPr/>
        </p:nvSpPr>
        <p:spPr>
          <a:xfrm>
            <a:off x="822960" y="228600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D8C8"/>
              </a:buClr>
              <a:buSzPts val="1500"/>
              <a:buFont typeface="Consolas"/>
              <a:buNone/>
            </a:pPr>
            <a:r>
              <a:rPr b="0" i="0" lang="en-US" sz="1500" u="none" cap="none" strike="noStrike">
                <a:solidFill>
                  <a:srgbClr val="7CD8C8"/>
                </a:solidFill>
                <a:latin typeface="Consolas"/>
                <a:ea typeface="Consolas"/>
                <a:cs typeface="Consolas"/>
                <a:sym typeface="Consolas"/>
              </a:rPr>
              <a:t>10</a:t>
            </a:r>
            <a:endParaRPr b="0" i="0" sz="1500" u="none" cap="none" strike="noStrike">
              <a:solidFill>
                <a:schemeClr val="dk1"/>
              </a:solidFill>
              <a:latin typeface="Calibri"/>
              <a:ea typeface="Calibri"/>
              <a:cs typeface="Calibri"/>
              <a:sym typeface="Calibri"/>
            </a:endParaRPr>
          </a:p>
        </p:txBody>
      </p:sp>
      <p:sp>
        <p:nvSpPr>
          <p:cNvPr id="1236" name="Google Shape;1236;p48"/>
          <p:cNvSpPr txBox="1"/>
          <p:nvPr/>
        </p:nvSpPr>
        <p:spPr>
          <a:xfrm>
            <a:off x="822960" y="2743200"/>
            <a:ext cx="96012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Roboto Condensed"/>
              <a:buNone/>
            </a:pPr>
            <a:r>
              <a:rPr b="1" i="0" lang="en-US" sz="4000" u="none" cap="none" strike="noStrike">
                <a:solidFill>
                  <a:srgbClr val="FFFFFF"/>
                </a:solidFill>
                <a:latin typeface="Roboto Condensed"/>
                <a:ea typeface="Roboto Condensed"/>
                <a:cs typeface="Roboto Condensed"/>
                <a:sym typeface="Roboto Condensed"/>
              </a:rPr>
              <a:t>NASA Programme Assets Beyond SERVIR</a:t>
            </a:r>
            <a:endParaRPr b="0" i="0" sz="4000" u="none" cap="none" strike="noStrike">
              <a:solidFill>
                <a:schemeClr val="dk1"/>
              </a:solidFill>
              <a:latin typeface="Calibri"/>
              <a:ea typeface="Calibri"/>
              <a:cs typeface="Calibri"/>
              <a:sym typeface="Calibri"/>
            </a:endParaRPr>
          </a:p>
        </p:txBody>
      </p:sp>
      <p:sp>
        <p:nvSpPr>
          <p:cNvPr id="1237" name="Google Shape;1237;p48"/>
          <p:cNvSpPr txBox="1"/>
          <p:nvPr/>
        </p:nvSpPr>
        <p:spPr>
          <a:xfrm>
            <a:off x="822960" y="3840480"/>
            <a:ext cx="87782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D6E6"/>
              </a:buClr>
              <a:buSzPts val="1500"/>
              <a:buFont typeface="Calibri"/>
              <a:buNone/>
            </a:pPr>
            <a:r>
              <a:rPr b="0" i="0" lang="en-US" sz="1500" u="none" cap="none" strike="noStrike">
                <a:solidFill>
                  <a:srgbClr val="C4D6E6"/>
                </a:solidFill>
                <a:latin typeface="Calibri"/>
                <a:ea typeface="Calibri"/>
                <a:cs typeface="Calibri"/>
                <a:sym typeface="Calibri"/>
              </a:rPr>
              <a:t>Most of NASA's applied-science estate is open, free and operational. Several cells marked "new build" have an asset behind them nobody has claimed.</a:t>
            </a:r>
            <a:endParaRPr b="0" i="0" sz="1500" u="none" cap="none" strike="noStrike">
              <a:solidFill>
                <a:schemeClr val="dk1"/>
              </a:solidFill>
              <a:latin typeface="Calibri"/>
              <a:ea typeface="Calibri"/>
              <a:cs typeface="Calibri"/>
              <a:sym typeface="Calibri"/>
            </a:endParaRPr>
          </a:p>
        </p:txBody>
      </p:sp>
      <p:sp>
        <p:nvSpPr>
          <p:cNvPr id="1238" name="Google Shape;1238;p48"/>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8CA8"/>
              </a:buClr>
              <a:buSzPts val="800"/>
              <a:buFont typeface="Consolas"/>
              <a:buNone/>
            </a:pPr>
            <a:r>
              <a:rPr b="0" i="0" lang="en-US" sz="800" u="none" cap="none" strike="noStrike">
                <a:solidFill>
                  <a:srgbClr val="6E8CA8"/>
                </a:solidFill>
                <a:latin typeface="Consolas"/>
                <a:ea typeface="Consolas"/>
                <a:cs typeface="Consolas"/>
                <a:sym typeface="Consolas"/>
              </a:rPr>
              <a:t>44</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49"/>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What NASA already runs — Global Risk</a:t>
            </a:r>
            <a:endParaRPr b="0" i="0" sz="3000" u="none" cap="none" strike="noStrike">
              <a:solidFill>
                <a:schemeClr val="dk1"/>
              </a:solidFill>
              <a:latin typeface="Calibri"/>
              <a:ea typeface="Calibri"/>
              <a:cs typeface="Calibri"/>
              <a:sym typeface="Calibri"/>
            </a:endParaRPr>
          </a:p>
        </p:txBody>
      </p:sp>
      <p:sp>
        <p:nvSpPr>
          <p:cNvPr id="1245" name="Google Shape;1245;p49"/>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Checked for availability, not announcement.</a:t>
            </a:r>
            <a:endParaRPr b="0" i="0" sz="1350" u="none" cap="none" strike="noStrike">
              <a:solidFill>
                <a:schemeClr val="dk1"/>
              </a:solidFill>
              <a:latin typeface="Calibri"/>
              <a:ea typeface="Calibri"/>
              <a:cs typeface="Calibri"/>
              <a:sym typeface="Calibri"/>
            </a:endParaRPr>
          </a:p>
        </p:txBody>
      </p:sp>
      <p:sp>
        <p:nvSpPr>
          <p:cNvPr id="1246" name="Google Shape;1246;p49"/>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1247" name="Google Shape;1247;p49"/>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§10</a:t>
            </a:r>
            <a:endParaRPr b="0" i="0" sz="800" u="none" cap="none" strike="noStrike">
              <a:solidFill>
                <a:schemeClr val="dk1"/>
              </a:solidFill>
              <a:latin typeface="Calibri"/>
              <a:ea typeface="Calibri"/>
              <a:cs typeface="Calibri"/>
              <a:sym typeface="Calibri"/>
            </a:endParaRPr>
          </a:p>
        </p:txBody>
      </p:sp>
      <p:sp>
        <p:nvSpPr>
          <p:cNvPr id="1248" name="Google Shape;1248;p49"/>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45</a:t>
            </a:r>
            <a:endParaRPr b="0" i="0" sz="800" u="none" cap="none" strike="noStrike">
              <a:solidFill>
                <a:schemeClr val="dk1"/>
              </a:solidFill>
              <a:latin typeface="Calibri"/>
              <a:ea typeface="Calibri"/>
              <a:cs typeface="Calibri"/>
              <a:sym typeface="Calibri"/>
            </a:endParaRPr>
          </a:p>
        </p:txBody>
      </p:sp>
      <p:graphicFrame>
        <p:nvGraphicFramePr>
          <p:cNvPr id="1249" name="Google Shape;1249;p49"/>
          <p:cNvGraphicFramePr/>
          <p:nvPr/>
        </p:nvGraphicFramePr>
        <p:xfrm>
          <a:off x="502920" y="1645920"/>
          <a:ext cx="3000000" cy="3000000"/>
        </p:xfrm>
        <a:graphic>
          <a:graphicData uri="http://schemas.openxmlformats.org/drawingml/2006/table">
            <a:tbl>
              <a:tblPr>
                <a:noFill/>
                <a:tableStyleId>{0B7ADE64-2C2D-4D68-BEA2-7A829558A485}</a:tableStyleId>
              </a:tblPr>
              <a:tblGrid>
                <a:gridCol w="2468875"/>
                <a:gridCol w="5852150"/>
                <a:gridCol w="1097275"/>
                <a:gridCol w="1737350"/>
              </a:tblGrid>
              <a:tr h="502925">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Asset</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What it gives the matrix</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Clock</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Access</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r>
              <a:tr h="502925">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NEX-GDDP-CMIP6</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Bias-corrected, downscaled daily CMIP6. Replaces the generic 'CMIP6' citation in every Clock 3 cell across all three matrices at once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3</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Open — AWS, GEE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ARIA Damage Proxy Maps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InSAR post-earthquake deformation, hours to days. Fills the matrix's most visible hole — earthquake had no NRT source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1</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JPL — confirm licence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502925">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Sea Level Change Portal</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Location-specific AR6 SLR projections. Turns a generic citation into a named operational tool</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2–3</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Open</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Black Marble (VNP46)</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Moonlight-corrected nighttime lights — the named product behind LitPop's generic nightlight input, plus outage detection</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All · Assets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Open — LAADS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502925">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GRACE-FO drought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Weekly groundwater and soil-moisture percentiles — an independent sub-surface drought signal</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1</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Open</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NASA POWER</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Meteorology and agroclimatology REST API — inputs for the heat/cold index currently marked new build</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1–2</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Open API</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502925">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OPERA DSWx</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Global 30 m surface water, optical and SAR. Cross-validation for HydraFloods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1</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Open — PO.DAAC</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NRT Global Flood + archive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NRT optical flood detection plus a 23-year historical archive — the archive is what Clock 2 needs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1–2</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Open — LANCE</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bl>
          </a:graphicData>
        </a:graphic>
      </p:graphicFrame>
      <p:sp>
        <p:nvSpPr>
          <p:cNvPr id="1250" name="Google Shape;1250;p49"/>
          <p:cNvSpPr/>
          <p:nvPr/>
        </p:nvSpPr>
        <p:spPr>
          <a:xfrm>
            <a:off x="502920" y="5852160"/>
            <a:ext cx="11155680" cy="640080"/>
          </a:xfrm>
          <a:prstGeom prst="roundRect">
            <a:avLst>
              <a:gd fmla="val 8571" name="adj"/>
            </a:avLst>
          </a:prstGeom>
          <a:solidFill>
            <a:srgbClr val="F7E8E8"/>
          </a:solidFill>
          <a:ln cap="flat" cmpd="sng" w="12700">
            <a:solidFill>
              <a:srgbClr val="9B2C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49"/>
          <p:cNvSpPr txBox="1"/>
          <p:nvPr/>
        </p:nvSpPr>
        <p:spPr>
          <a:xfrm>
            <a:off x="713232" y="5943600"/>
            <a:ext cx="10789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Not yet real — do not count as capability:  </a:t>
            </a:r>
            <a:r>
              <a:rPr b="0" i="0" lang="en-US" sz="1150" u="none" cap="none" strike="noStrike">
                <a:solidFill>
                  <a:srgbClr val="4D5763"/>
                </a:solidFill>
                <a:latin typeface="Calibri"/>
                <a:ea typeface="Calibri"/>
                <a:cs typeface="Calibri"/>
                <a:sym typeface="Calibri"/>
              </a:rPr>
              <a:t>NISAR products (launched July 2025, maturity unconfirmed) · OPERA DSWx-NI · HLS-LL (~2027) · Landsat Next. Degraded: SMAP radar lost 2015 (~40 km permanent); GEDI stowed Mar 2023–Apr 2024.</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50"/>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Shared infrastructure — what not to build</a:t>
            </a:r>
            <a:endParaRPr b="0" i="0" sz="3000" u="none" cap="none" strike="noStrike">
              <a:solidFill>
                <a:schemeClr val="dk1"/>
              </a:solidFill>
              <a:latin typeface="Calibri"/>
              <a:ea typeface="Calibri"/>
              <a:cs typeface="Calibri"/>
              <a:sym typeface="Calibri"/>
            </a:endParaRPr>
          </a:p>
        </p:txBody>
      </p:sp>
      <p:sp>
        <p:nvSpPr>
          <p:cNvPr id="1258" name="Google Shape;1258;p50"/>
          <p:cNvSpPr txBox="1"/>
          <p:nvPr/>
        </p:nvSpPr>
        <p:spPr>
          <a:xfrm>
            <a:off x="502920" y="969264"/>
            <a:ext cx="10607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350"/>
              <a:buFont typeface="Calibri"/>
              <a:buNone/>
            </a:pPr>
            <a:r>
              <a:rPr b="0" i="0" lang="en-US" sz="1350" u="none" cap="none" strike="noStrike">
                <a:solidFill>
                  <a:srgbClr val="4D5763"/>
                </a:solidFill>
                <a:latin typeface="Calibri"/>
                <a:ea typeface="Calibri"/>
                <a:cs typeface="Calibri"/>
                <a:sym typeface="Calibri"/>
              </a:rPr>
              <a:t>The §07 argument one level down: several layers of the shared system already exist inside NASA, open-licensed.</a:t>
            </a:r>
            <a:endParaRPr b="0" i="0" sz="1350" u="none" cap="none" strike="noStrike">
              <a:solidFill>
                <a:schemeClr val="dk1"/>
              </a:solidFill>
              <a:latin typeface="Calibri"/>
              <a:ea typeface="Calibri"/>
              <a:cs typeface="Calibri"/>
              <a:sym typeface="Calibri"/>
            </a:endParaRPr>
          </a:p>
        </p:txBody>
      </p:sp>
      <p:sp>
        <p:nvSpPr>
          <p:cNvPr id="1259" name="Google Shape;1259;p50"/>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1260" name="Google Shape;1260;p50"/>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§10</a:t>
            </a:r>
            <a:endParaRPr b="0" i="0" sz="800" u="none" cap="none" strike="noStrike">
              <a:solidFill>
                <a:schemeClr val="dk1"/>
              </a:solidFill>
              <a:latin typeface="Calibri"/>
              <a:ea typeface="Calibri"/>
              <a:cs typeface="Calibri"/>
              <a:sym typeface="Calibri"/>
            </a:endParaRPr>
          </a:p>
        </p:txBody>
      </p:sp>
      <p:sp>
        <p:nvSpPr>
          <p:cNvPr id="1261" name="Google Shape;1261;p50"/>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46</a:t>
            </a:r>
            <a:endParaRPr b="0" i="0" sz="800" u="none" cap="none" strike="noStrike">
              <a:solidFill>
                <a:schemeClr val="dk1"/>
              </a:solidFill>
              <a:latin typeface="Calibri"/>
              <a:ea typeface="Calibri"/>
              <a:cs typeface="Calibri"/>
              <a:sym typeface="Calibri"/>
            </a:endParaRPr>
          </a:p>
        </p:txBody>
      </p:sp>
      <p:sp>
        <p:nvSpPr>
          <p:cNvPr id="1262" name="Google Shape;1262;p50"/>
          <p:cNvSpPr/>
          <p:nvPr/>
        </p:nvSpPr>
        <p:spPr>
          <a:xfrm>
            <a:off x="548640" y="1645920"/>
            <a:ext cx="3553968" cy="1600200"/>
          </a:xfrm>
          <a:prstGeom prst="roundRect">
            <a:avLst>
              <a:gd fmla="val 3429"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50"/>
          <p:cNvSpPr txBox="1"/>
          <p:nvPr/>
        </p:nvSpPr>
        <p:spPr>
          <a:xfrm>
            <a:off x="749808" y="1773936"/>
            <a:ext cx="31516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DATA LAYER</a:t>
            </a:r>
            <a:endParaRPr b="0" i="0" sz="850" u="none" cap="none" strike="noStrike">
              <a:solidFill>
                <a:schemeClr val="dk1"/>
              </a:solidFill>
              <a:latin typeface="Calibri"/>
              <a:ea typeface="Calibri"/>
              <a:cs typeface="Calibri"/>
              <a:sym typeface="Calibri"/>
            </a:endParaRPr>
          </a:p>
        </p:txBody>
      </p:sp>
      <p:sp>
        <p:nvSpPr>
          <p:cNvPr id="1264" name="Google Shape;1264;p50"/>
          <p:cNvSpPr txBox="1"/>
          <p:nvPr/>
        </p:nvSpPr>
        <p:spPr>
          <a:xfrm>
            <a:off x="749808" y="1975104"/>
            <a:ext cx="3151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Earthdata + earthaccess</a:t>
            </a:r>
            <a:endParaRPr b="0" i="0" sz="1350" u="none" cap="none" strike="noStrike">
              <a:solidFill>
                <a:schemeClr val="dk1"/>
              </a:solidFill>
              <a:latin typeface="Calibri"/>
              <a:ea typeface="Calibri"/>
              <a:cs typeface="Calibri"/>
              <a:sym typeface="Calibri"/>
            </a:endParaRPr>
          </a:p>
        </p:txBody>
      </p:sp>
      <p:sp>
        <p:nvSpPr>
          <p:cNvPr id="1265" name="Google Shape;1265;p50"/>
          <p:cNvSpPr txBox="1"/>
          <p:nvPr/>
        </p:nvSpPr>
        <p:spPr>
          <a:xfrm>
            <a:off x="749808" y="2249424"/>
            <a:ext cx="3151632"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Planet-scale archive with SSO, and an MIT-licensed Python SDK handling CMR search, auth and cloud streaming. No need to build a catalogue or auth layer at all.</a:t>
            </a:r>
            <a:endParaRPr b="0" i="0" sz="1050" u="none" cap="none" strike="noStrike">
              <a:solidFill>
                <a:schemeClr val="dk1"/>
              </a:solidFill>
              <a:latin typeface="Calibri"/>
              <a:ea typeface="Calibri"/>
              <a:cs typeface="Calibri"/>
              <a:sym typeface="Calibri"/>
            </a:endParaRPr>
          </a:p>
        </p:txBody>
      </p:sp>
      <p:sp>
        <p:nvSpPr>
          <p:cNvPr id="1266" name="Google Shape;1266;p50"/>
          <p:cNvSpPr/>
          <p:nvPr/>
        </p:nvSpPr>
        <p:spPr>
          <a:xfrm>
            <a:off x="4303776" y="1645920"/>
            <a:ext cx="3553968" cy="1600200"/>
          </a:xfrm>
          <a:prstGeom prst="roundRect">
            <a:avLst>
              <a:gd fmla="val 3429"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50"/>
          <p:cNvSpPr txBox="1"/>
          <p:nvPr/>
        </p:nvSpPr>
        <p:spPr>
          <a:xfrm>
            <a:off x="4504944" y="1773936"/>
            <a:ext cx="31516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COMPUTE + DASHBOARDS</a:t>
            </a:r>
            <a:endParaRPr b="0" i="0" sz="850" u="none" cap="none" strike="noStrike">
              <a:solidFill>
                <a:schemeClr val="dk1"/>
              </a:solidFill>
              <a:latin typeface="Calibri"/>
              <a:ea typeface="Calibri"/>
              <a:cs typeface="Calibri"/>
              <a:sym typeface="Calibri"/>
            </a:endParaRPr>
          </a:p>
        </p:txBody>
      </p:sp>
      <p:sp>
        <p:nvSpPr>
          <p:cNvPr id="1268" name="Google Shape;1268;p50"/>
          <p:cNvSpPr txBox="1"/>
          <p:nvPr/>
        </p:nvSpPr>
        <p:spPr>
          <a:xfrm>
            <a:off x="4504944" y="1975104"/>
            <a:ext cx="3151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VEDA</a:t>
            </a:r>
            <a:endParaRPr b="0" i="0" sz="1350" u="none" cap="none" strike="noStrike">
              <a:solidFill>
                <a:schemeClr val="dk1"/>
              </a:solidFill>
              <a:latin typeface="Calibri"/>
              <a:ea typeface="Calibri"/>
              <a:cs typeface="Calibri"/>
              <a:sym typeface="Calibri"/>
            </a:endParaRPr>
          </a:p>
        </p:txBody>
      </p:sp>
      <p:sp>
        <p:nvSpPr>
          <p:cNvPr id="1269" name="Google Shape;1269;p50"/>
          <p:cNvSpPr txBox="1"/>
          <p:nvPr/>
        </p:nvSpPr>
        <p:spPr>
          <a:xfrm>
            <a:off x="4504944" y="2249424"/>
            <a:ext cx="3151632"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The one NASA asset explicitly documented to be forked and redeployed by another team — STAC API, raster API, JupyterHub, dashboards. Forking beats building.</a:t>
            </a:r>
            <a:endParaRPr b="0" i="0" sz="1050" u="none" cap="none" strike="noStrike">
              <a:solidFill>
                <a:schemeClr val="dk1"/>
              </a:solidFill>
              <a:latin typeface="Calibri"/>
              <a:ea typeface="Calibri"/>
              <a:cs typeface="Calibri"/>
              <a:sym typeface="Calibri"/>
            </a:endParaRPr>
          </a:p>
        </p:txBody>
      </p:sp>
      <p:sp>
        <p:nvSpPr>
          <p:cNvPr id="1270" name="Google Shape;1270;p50"/>
          <p:cNvSpPr/>
          <p:nvPr/>
        </p:nvSpPr>
        <p:spPr>
          <a:xfrm>
            <a:off x="8058912" y="1645920"/>
            <a:ext cx="3553968" cy="1600200"/>
          </a:xfrm>
          <a:prstGeom prst="roundRect">
            <a:avLst>
              <a:gd fmla="val 3429"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50"/>
          <p:cNvSpPr txBox="1"/>
          <p:nvPr/>
        </p:nvSpPr>
        <p:spPr>
          <a:xfrm>
            <a:off x="8260080" y="1773936"/>
            <a:ext cx="31516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MODEL LAYER</a:t>
            </a:r>
            <a:endParaRPr b="0" i="0" sz="850" u="none" cap="none" strike="noStrike">
              <a:solidFill>
                <a:schemeClr val="dk1"/>
              </a:solidFill>
              <a:latin typeface="Calibri"/>
              <a:ea typeface="Calibri"/>
              <a:cs typeface="Calibri"/>
              <a:sym typeface="Calibri"/>
            </a:endParaRPr>
          </a:p>
        </p:txBody>
      </p:sp>
      <p:sp>
        <p:nvSpPr>
          <p:cNvPr id="1272" name="Google Shape;1272;p50"/>
          <p:cNvSpPr txBox="1"/>
          <p:nvPr/>
        </p:nvSpPr>
        <p:spPr>
          <a:xfrm>
            <a:off x="8260080" y="1975104"/>
            <a:ext cx="3151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Prithvi (IBM–NASA)</a:t>
            </a:r>
            <a:endParaRPr b="0" i="0" sz="1350" u="none" cap="none" strike="noStrike">
              <a:solidFill>
                <a:schemeClr val="dk1"/>
              </a:solidFill>
              <a:latin typeface="Calibri"/>
              <a:ea typeface="Calibri"/>
              <a:cs typeface="Calibri"/>
              <a:sym typeface="Calibri"/>
            </a:endParaRPr>
          </a:p>
        </p:txBody>
      </p:sp>
      <p:sp>
        <p:nvSpPr>
          <p:cNvPr id="1273" name="Google Shape;1273;p50"/>
          <p:cNvSpPr txBox="1"/>
          <p:nvPr/>
        </p:nvSpPr>
        <p:spPr>
          <a:xfrm>
            <a:off x="8260080" y="2249424"/>
            <a:ext cx="3151632"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Apache 2.0. EO-2.0 at 300M/600M with ready flood and burn-scar heads; WxC-2300M for weather. Fine-tune a checkpoint instead of pretraining.</a:t>
            </a:r>
            <a:endParaRPr b="0" i="0" sz="1050" u="none" cap="none" strike="noStrike">
              <a:solidFill>
                <a:schemeClr val="dk1"/>
              </a:solidFill>
              <a:latin typeface="Calibri"/>
              <a:ea typeface="Calibri"/>
              <a:cs typeface="Calibri"/>
              <a:sym typeface="Calibri"/>
            </a:endParaRPr>
          </a:p>
        </p:txBody>
      </p:sp>
      <p:sp>
        <p:nvSpPr>
          <p:cNvPr id="1274" name="Google Shape;1274;p50"/>
          <p:cNvSpPr/>
          <p:nvPr/>
        </p:nvSpPr>
        <p:spPr>
          <a:xfrm>
            <a:off x="548640" y="3447288"/>
            <a:ext cx="3553968" cy="1600200"/>
          </a:xfrm>
          <a:prstGeom prst="roundRect">
            <a:avLst>
              <a:gd fmla="val 3429"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50"/>
          <p:cNvSpPr txBox="1"/>
          <p:nvPr/>
        </p:nvSpPr>
        <p:spPr>
          <a:xfrm>
            <a:off x="749808" y="3575304"/>
            <a:ext cx="31516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COMPUTE</a:t>
            </a:r>
            <a:endParaRPr b="0" i="0" sz="850" u="none" cap="none" strike="noStrike">
              <a:solidFill>
                <a:schemeClr val="dk1"/>
              </a:solidFill>
              <a:latin typeface="Calibri"/>
              <a:ea typeface="Calibri"/>
              <a:cs typeface="Calibri"/>
              <a:sym typeface="Calibri"/>
            </a:endParaRPr>
          </a:p>
        </p:txBody>
      </p:sp>
      <p:sp>
        <p:nvSpPr>
          <p:cNvPr id="1276" name="Google Shape;1276;p50"/>
          <p:cNvSpPr txBox="1"/>
          <p:nvPr/>
        </p:nvSpPr>
        <p:spPr>
          <a:xfrm>
            <a:off x="749808" y="3776472"/>
            <a:ext cx="3151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MAAP (NASA–ESA)</a:t>
            </a:r>
            <a:endParaRPr b="0" i="0" sz="1350" u="none" cap="none" strike="noStrike">
              <a:solidFill>
                <a:schemeClr val="dk1"/>
              </a:solidFill>
              <a:latin typeface="Calibri"/>
              <a:ea typeface="Calibri"/>
              <a:cs typeface="Calibri"/>
              <a:sym typeface="Calibri"/>
            </a:endParaRPr>
          </a:p>
        </p:txBody>
      </p:sp>
      <p:sp>
        <p:nvSpPr>
          <p:cNvPr id="1277" name="Google Shape;1277;p50"/>
          <p:cNvSpPr txBox="1"/>
          <p:nvPr/>
        </p:nvSpPr>
        <p:spPr>
          <a:xfrm>
            <a:off x="749808" y="4050792"/>
            <a:ext cx="3151632"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Cloud compute plus an algorithm environment with harmonised biomass across GEDI, BIOMASS and NISAR — the carbon-MRV workbench §06's N5 would otherwise build.</a:t>
            </a:r>
            <a:endParaRPr b="0" i="0" sz="1050" u="none" cap="none" strike="noStrike">
              <a:solidFill>
                <a:schemeClr val="dk1"/>
              </a:solidFill>
              <a:latin typeface="Calibri"/>
              <a:ea typeface="Calibri"/>
              <a:cs typeface="Calibri"/>
              <a:sym typeface="Calibri"/>
            </a:endParaRPr>
          </a:p>
        </p:txBody>
      </p:sp>
      <p:sp>
        <p:nvSpPr>
          <p:cNvPr id="1278" name="Google Shape;1278;p50"/>
          <p:cNvSpPr/>
          <p:nvPr/>
        </p:nvSpPr>
        <p:spPr>
          <a:xfrm>
            <a:off x="4303776" y="3447288"/>
            <a:ext cx="3553968" cy="1600200"/>
          </a:xfrm>
          <a:prstGeom prst="roundRect">
            <a:avLst>
              <a:gd fmla="val 3429"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50"/>
          <p:cNvSpPr txBox="1"/>
          <p:nvPr/>
        </p:nvSpPr>
        <p:spPr>
          <a:xfrm>
            <a:off x="4504944" y="3575304"/>
            <a:ext cx="31516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CAPACITY LADDER</a:t>
            </a:r>
            <a:endParaRPr b="0" i="0" sz="850" u="none" cap="none" strike="noStrike">
              <a:solidFill>
                <a:schemeClr val="dk1"/>
              </a:solidFill>
              <a:latin typeface="Calibri"/>
              <a:ea typeface="Calibri"/>
              <a:cs typeface="Calibri"/>
              <a:sym typeface="Calibri"/>
            </a:endParaRPr>
          </a:p>
        </p:txBody>
      </p:sp>
      <p:sp>
        <p:nvSpPr>
          <p:cNvPr id="1280" name="Google Shape;1280;p50"/>
          <p:cNvSpPr txBox="1"/>
          <p:nvPr/>
        </p:nvSpPr>
        <p:spPr>
          <a:xfrm>
            <a:off x="4504944" y="3776472"/>
            <a:ext cx="3151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ARSET + Openscapes</a:t>
            </a:r>
            <a:endParaRPr b="0" i="0" sz="1350" u="none" cap="none" strike="noStrike">
              <a:solidFill>
                <a:schemeClr val="dk1"/>
              </a:solidFill>
              <a:latin typeface="Calibri"/>
              <a:ea typeface="Calibri"/>
              <a:cs typeface="Calibri"/>
              <a:sym typeface="Calibri"/>
            </a:endParaRPr>
          </a:p>
        </p:txBody>
      </p:sp>
      <p:sp>
        <p:nvSpPr>
          <p:cNvPr id="1281" name="Google Shape;1281;p50"/>
          <p:cNvSpPr txBox="1"/>
          <p:nvPr/>
        </p:nvSpPr>
        <p:spPr>
          <a:xfrm>
            <a:off x="4504944" y="4050792"/>
            <a:ext cx="3151632"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100,000+ trained across 183 countries, plus a CC BY 4.0 cohort-mentorship model. Covers both ends of §03's ladder without authoring a curriculum.</a:t>
            </a:r>
            <a:endParaRPr b="0" i="0" sz="1050" u="none" cap="none" strike="noStrike">
              <a:solidFill>
                <a:schemeClr val="dk1"/>
              </a:solidFill>
              <a:latin typeface="Calibri"/>
              <a:ea typeface="Calibri"/>
              <a:cs typeface="Calibri"/>
              <a:sym typeface="Calibri"/>
            </a:endParaRPr>
          </a:p>
        </p:txBody>
      </p:sp>
      <p:sp>
        <p:nvSpPr>
          <p:cNvPr id="1282" name="Google Shape;1282;p50"/>
          <p:cNvSpPr/>
          <p:nvPr/>
        </p:nvSpPr>
        <p:spPr>
          <a:xfrm>
            <a:off x="8058912" y="3447288"/>
            <a:ext cx="3553968" cy="1600200"/>
          </a:xfrm>
          <a:prstGeom prst="roundRect">
            <a:avLst>
              <a:gd fmla="val 3429" name="adj"/>
            </a:avLst>
          </a:prstGeom>
          <a:solidFill>
            <a:srgbClr val="FFFFFF"/>
          </a:solidFill>
          <a:ln cap="flat" cmpd="sng" w="12700">
            <a:solidFill>
              <a:srgbClr val="E0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50"/>
          <p:cNvSpPr txBox="1"/>
          <p:nvPr/>
        </p:nvSpPr>
        <p:spPr>
          <a:xfrm>
            <a:off x="8260080" y="3575304"/>
            <a:ext cx="315163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389"/>
              </a:buClr>
              <a:buSzPts val="850"/>
              <a:buFont typeface="Consolas"/>
              <a:buNone/>
            </a:pPr>
            <a:r>
              <a:rPr b="0" i="0" lang="en-US" sz="850" u="none" cap="none" strike="noStrike">
                <a:solidFill>
                  <a:srgbClr val="1A6389"/>
                </a:solidFill>
                <a:latin typeface="Consolas"/>
                <a:ea typeface="Consolas"/>
                <a:cs typeface="Consolas"/>
                <a:sym typeface="Consolas"/>
              </a:rPr>
              <a:t>FUNDING</a:t>
            </a:r>
            <a:endParaRPr b="0" i="0" sz="850" u="none" cap="none" strike="noStrike">
              <a:solidFill>
                <a:schemeClr val="dk1"/>
              </a:solidFill>
              <a:latin typeface="Calibri"/>
              <a:ea typeface="Calibri"/>
              <a:cs typeface="Calibri"/>
              <a:sym typeface="Calibri"/>
            </a:endParaRPr>
          </a:p>
        </p:txBody>
      </p:sp>
      <p:sp>
        <p:nvSpPr>
          <p:cNvPr id="1284" name="Google Shape;1284;p50"/>
          <p:cNvSpPr txBox="1"/>
          <p:nvPr/>
        </p:nvSpPr>
        <p:spPr>
          <a:xfrm>
            <a:off x="8260080" y="3776472"/>
            <a:ext cx="3151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350"/>
              <a:buFont typeface="Calibri"/>
              <a:buNone/>
            </a:pPr>
            <a:r>
              <a:rPr b="1" i="0" lang="en-US" sz="1350" u="none" cap="none" strike="noStrike">
                <a:solidFill>
                  <a:srgbClr val="1C212A"/>
                </a:solidFill>
                <a:latin typeface="Calibri"/>
                <a:ea typeface="Calibri"/>
                <a:cs typeface="Calibri"/>
                <a:sym typeface="Calibri"/>
              </a:rPr>
              <a:t>ROSES A.13 and A.9</a:t>
            </a:r>
            <a:endParaRPr b="0" i="0" sz="1350" u="none" cap="none" strike="noStrike">
              <a:solidFill>
                <a:schemeClr val="dk1"/>
              </a:solidFill>
              <a:latin typeface="Calibri"/>
              <a:ea typeface="Calibri"/>
              <a:cs typeface="Calibri"/>
              <a:sym typeface="Calibri"/>
            </a:endParaRPr>
          </a:p>
        </p:txBody>
      </p:sp>
      <p:sp>
        <p:nvSpPr>
          <p:cNvPr id="1285" name="Google Shape;1285;p50"/>
          <p:cNvSpPr txBox="1"/>
          <p:nvPr/>
        </p:nvSpPr>
        <p:spPr>
          <a:xfrm>
            <a:off x="8260080" y="4050792"/>
            <a:ext cx="3151632"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D5763"/>
              </a:buClr>
              <a:buSzPts val="1050"/>
              <a:buFont typeface="Calibri"/>
              <a:buNone/>
            </a:pPr>
            <a:r>
              <a:rPr b="0" i="0" lang="en-US" sz="1050" u="none" cap="none" strike="noStrike">
                <a:solidFill>
                  <a:srgbClr val="4D5763"/>
                </a:solidFill>
                <a:latin typeface="Calibri"/>
                <a:ea typeface="Calibri"/>
                <a:cs typeface="Calibri"/>
                <a:sym typeface="Calibri"/>
              </a:rPr>
              <a:t>A.9 funds applications of large geospatial foundation models specifically — exactly §03's GeoAI work. Non-US partners join on no-exchange-of-funds.</a:t>
            </a:r>
            <a:endParaRPr b="0" i="0" sz="1050" u="none" cap="none" strike="noStrike">
              <a:solidFill>
                <a:schemeClr val="dk1"/>
              </a:solidFill>
              <a:latin typeface="Calibri"/>
              <a:ea typeface="Calibri"/>
              <a:cs typeface="Calibri"/>
              <a:sym typeface="Calibri"/>
            </a:endParaRPr>
          </a:p>
        </p:txBody>
      </p:sp>
      <p:sp>
        <p:nvSpPr>
          <p:cNvPr id="1286" name="Google Shape;1286;p50"/>
          <p:cNvSpPr/>
          <p:nvPr/>
        </p:nvSpPr>
        <p:spPr>
          <a:xfrm>
            <a:off x="502920" y="5166360"/>
            <a:ext cx="11155680" cy="868680"/>
          </a:xfrm>
          <a:prstGeom prst="roundRect">
            <a:avLst>
              <a:gd fmla="val 6316" name="adj"/>
            </a:avLst>
          </a:prstGeom>
          <a:solidFill>
            <a:srgbClr val="EEF4E0"/>
          </a:solidFill>
          <a:ln cap="flat" cmpd="sng" w="12700">
            <a:solidFill>
              <a:srgbClr val="91A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50"/>
          <p:cNvSpPr txBox="1"/>
          <p:nvPr/>
        </p:nvSpPr>
        <p:spPr>
          <a:xfrm>
            <a:off x="713232" y="5257800"/>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One to act on, one to watch.  </a:t>
            </a:r>
            <a:r>
              <a:rPr b="0" i="0" lang="en-US" sz="1150" u="none" cap="none" strike="noStrike">
                <a:solidFill>
                  <a:srgbClr val="4D5763"/>
                </a:solidFill>
                <a:latin typeface="Calibri"/>
                <a:ea typeface="Calibri"/>
                <a:cs typeface="Calibri"/>
                <a:sym typeface="Calibri"/>
              </a:rPr>
              <a:t>ROSES A.9 is the closest match between this plan and a live NASA solicitation. Meanwhile the SERVIR-specific Applied Sciences Team line was not solicited in ROSES 2024 — monitor annually rather than assuming a standing door, particularly now hubs are independently led.</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51"/>
          <p:cNvSpPr txBox="1"/>
          <p:nvPr/>
        </p:nvSpPr>
        <p:spPr>
          <a:xfrm>
            <a:off x="502920" y="384048"/>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3000"/>
              <a:buFont typeface="Roboto Condensed"/>
              <a:buNone/>
            </a:pPr>
            <a:r>
              <a:rPr b="1" i="0" lang="en-US" sz="3000" u="none" cap="none" strike="noStrike">
                <a:solidFill>
                  <a:srgbClr val="1C212A"/>
                </a:solidFill>
                <a:latin typeface="Roboto Condensed"/>
                <a:ea typeface="Roboto Condensed"/>
                <a:cs typeface="Roboto Condensed"/>
                <a:sym typeface="Roboto Condensed"/>
              </a:rPr>
              <a:t>What the NASA inventory changes in the matrices</a:t>
            </a:r>
            <a:endParaRPr b="0" i="0" sz="3000" u="none" cap="none" strike="noStrike">
              <a:solidFill>
                <a:schemeClr val="dk1"/>
              </a:solidFill>
              <a:latin typeface="Calibri"/>
              <a:ea typeface="Calibri"/>
              <a:cs typeface="Calibri"/>
              <a:sym typeface="Calibri"/>
            </a:endParaRPr>
          </a:p>
        </p:txBody>
      </p:sp>
      <p:sp>
        <p:nvSpPr>
          <p:cNvPr id="1294" name="Google Shape;1294;p51"/>
          <p:cNvSpPr txBox="1"/>
          <p:nvPr/>
        </p:nvSpPr>
        <p:spPr>
          <a:xfrm>
            <a:off x="502920" y="641908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SERVIR PLATFORM ECOSYSTEM · ENGINEERING PLAN v5</a:t>
            </a:r>
            <a:endParaRPr b="0" i="0" sz="800" u="none" cap="none" strike="noStrike">
              <a:solidFill>
                <a:schemeClr val="dk1"/>
              </a:solidFill>
              <a:latin typeface="Calibri"/>
              <a:ea typeface="Calibri"/>
              <a:cs typeface="Calibri"/>
              <a:sym typeface="Calibri"/>
            </a:endParaRPr>
          </a:p>
        </p:txBody>
      </p:sp>
      <p:sp>
        <p:nvSpPr>
          <p:cNvPr id="1295" name="Google Shape;1295;p51"/>
          <p:cNvSpPr txBox="1"/>
          <p:nvPr/>
        </p:nvSpPr>
        <p:spPr>
          <a:xfrm>
            <a:off x="5943600" y="6419088"/>
            <a:ext cx="47548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6389"/>
              </a:buClr>
              <a:buSzPts val="800"/>
              <a:buFont typeface="Consolas"/>
              <a:buNone/>
            </a:pPr>
            <a:r>
              <a:rPr b="0" i="0" lang="en-US" sz="800" u="none" cap="none" strike="noStrike">
                <a:solidFill>
                  <a:srgbClr val="1A6389"/>
                </a:solidFill>
                <a:latin typeface="Consolas"/>
                <a:ea typeface="Consolas"/>
                <a:cs typeface="Consolas"/>
                <a:sym typeface="Consolas"/>
              </a:rPr>
              <a:t>§10</a:t>
            </a:r>
            <a:endParaRPr b="0" i="0" sz="800" u="none" cap="none" strike="noStrike">
              <a:solidFill>
                <a:schemeClr val="dk1"/>
              </a:solidFill>
              <a:latin typeface="Calibri"/>
              <a:ea typeface="Calibri"/>
              <a:cs typeface="Calibri"/>
              <a:sym typeface="Calibri"/>
            </a:endParaRPr>
          </a:p>
        </p:txBody>
      </p:sp>
      <p:sp>
        <p:nvSpPr>
          <p:cNvPr id="1296" name="Google Shape;1296;p51"/>
          <p:cNvSpPr txBox="1"/>
          <p:nvPr/>
        </p:nvSpPr>
        <p:spPr>
          <a:xfrm>
            <a:off x="11155680" y="6419088"/>
            <a:ext cx="5486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D6E71"/>
              </a:buClr>
              <a:buSzPts val="800"/>
              <a:buFont typeface="Consolas"/>
              <a:buNone/>
            </a:pPr>
            <a:r>
              <a:rPr b="0" i="0" lang="en-US" sz="800" u="none" cap="none" strike="noStrike">
                <a:solidFill>
                  <a:srgbClr val="6D6E71"/>
                </a:solidFill>
                <a:latin typeface="Consolas"/>
                <a:ea typeface="Consolas"/>
                <a:cs typeface="Consolas"/>
                <a:sym typeface="Consolas"/>
              </a:rPr>
              <a:t>47</a:t>
            </a:r>
            <a:endParaRPr b="0" i="0" sz="800" u="none" cap="none" strike="noStrike">
              <a:solidFill>
                <a:schemeClr val="dk1"/>
              </a:solidFill>
              <a:latin typeface="Calibri"/>
              <a:ea typeface="Calibri"/>
              <a:cs typeface="Calibri"/>
              <a:sym typeface="Calibri"/>
            </a:endParaRPr>
          </a:p>
        </p:txBody>
      </p:sp>
      <p:graphicFrame>
        <p:nvGraphicFramePr>
          <p:cNvPr id="1297" name="Google Shape;1297;p51"/>
          <p:cNvGraphicFramePr/>
          <p:nvPr/>
        </p:nvGraphicFramePr>
        <p:xfrm>
          <a:off x="502920" y="1645920"/>
          <a:ext cx="3000000" cy="3000000"/>
        </p:xfrm>
        <a:graphic>
          <a:graphicData uri="http://schemas.openxmlformats.org/drawingml/2006/table">
            <a:tbl>
              <a:tblPr>
                <a:noFill/>
                <a:tableStyleId>{0B7ADE64-2C2D-4D68-BEA2-7A829558A485}</a:tableStyleId>
              </a:tblPr>
              <a:tblGrid>
                <a:gridCol w="2743200"/>
                <a:gridCol w="3383275"/>
                <a:gridCol w="5029200"/>
              </a:tblGrid>
              <a:tr h="502925">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Matrix cell</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Was</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c>
                  <a:txBody>
                    <a:bodyPr/>
                    <a:lstStyle/>
                    <a:p>
                      <a:pPr indent="0" lvl="0" marL="0" marR="0" rtl="0" algn="l">
                        <a:spcBef>
                          <a:spcPts val="0"/>
                        </a:spcBef>
                        <a:spcAft>
                          <a:spcPts val="0"/>
                        </a:spcAft>
                        <a:buClr>
                          <a:srgbClr val="FFFFFF"/>
                        </a:buClr>
                        <a:buSzPts val="1050"/>
                        <a:buFont typeface="Consolas"/>
                        <a:buNone/>
                      </a:pPr>
                      <a:r>
                        <a:rPr b="1" lang="en-US" sz="1050" u="none" cap="none" strike="noStrike">
                          <a:solidFill>
                            <a:srgbClr val="FFFFFF"/>
                          </a:solidFill>
                          <a:latin typeface="Consolas"/>
                          <a:ea typeface="Consolas"/>
                          <a:cs typeface="Consolas"/>
                          <a:sym typeface="Consolas"/>
                        </a:rPr>
                        <a:t>Now</a:t>
                      </a:r>
                      <a:endParaRPr sz="1050" u="none" cap="none" strike="noStrike">
                        <a:latin typeface="Consolas"/>
                        <a:ea typeface="Consolas"/>
                        <a:cs typeface="Consolas"/>
                        <a:sym typeface="Consolas"/>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1A6389"/>
                    </a:solidFill>
                  </a:tcPr>
                </a:tc>
              </a:tr>
              <a:tr h="502925">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Earthquake × Clock 1 (§04)</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Partner — USGS ShakeMap only</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Add ARIA Damage Proxy Maps — InSAR deformation, operational, purpose-built for this window</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All Clock 3 cells (§04–06)</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Generic 'CMIP6 / ISIMIP'</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NEX-GDDP-CMIP6 — named, downscaled, daily, open. One substitution fixes the whole column</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502925">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Sea level rise × Clocks 2–3</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Generic 'IPCC AR6 projections'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NASA Sea Level Change Portal — the actual operational tool</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Heat / cold index (§04)</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New build — nine cells depend on it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Still a build, but NASA POWER and NEX-GDDP supply the inputs, shrinking it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502925">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Assets exposure stack (§04)</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LitPop, nightlights generically</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Black Marble VNP46 — the named nightlight product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Forest carbon × Clock 2 (§06)</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CCI Biomass + GEDI</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Add MAAP as the processing platform and ICESat-2 for the GEDI gap</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r h="502925">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Mangroves × Clock 2 (§06)</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Built — regional (Ecuador, Guyana)</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ORNL DAAC global mangrove products give a global baseline under the two regional tools</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Shared capability layer (§07)</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lang="en-US" sz="950" u="none" cap="none" strike="noStrike">
                          <a:solidFill>
                            <a:srgbClr val="1C212A"/>
                          </a:solidFill>
                          <a:latin typeface="Calibri"/>
                          <a:ea typeface="Calibri"/>
                          <a:cs typeface="Calibri"/>
                          <a:sym typeface="Calibri"/>
                        </a:rPr>
                        <a:t>To be built</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c>
                  <a:txBody>
                    <a:bodyPr/>
                    <a:lstStyle/>
                    <a:p>
                      <a:pPr indent="0" lvl="0" marL="0" marR="0" rtl="0" algn="l">
                        <a:spcBef>
                          <a:spcPts val="0"/>
                        </a:spcBef>
                        <a:spcAft>
                          <a:spcPts val="0"/>
                        </a:spcAft>
                        <a:buClr>
                          <a:srgbClr val="1C212A"/>
                        </a:buClr>
                        <a:buSzPts val="950"/>
                        <a:buFont typeface="Calibri"/>
                        <a:buNone/>
                      </a:pPr>
                      <a:r>
                        <a:rPr b="1" lang="en-US" sz="950" u="none" cap="none" strike="noStrike">
                          <a:solidFill>
                            <a:srgbClr val="1C212A"/>
                          </a:solidFill>
                          <a:latin typeface="Calibri"/>
                          <a:ea typeface="Calibri"/>
                          <a:cs typeface="Calibri"/>
                          <a:sym typeface="Calibri"/>
                        </a:rPr>
                        <a:t>VEDA fork + earthaccess + Prithvi — an integration job rather than a build</a:t>
                      </a:r>
                      <a:endParaRPr sz="950" u="none" cap="none" strike="noStrike">
                        <a:latin typeface="Calibri"/>
                        <a:ea typeface="Calibri"/>
                        <a:cs typeface="Calibri"/>
                        <a:sym typeface="Calibri"/>
                      </a:endParaRPr>
                    </a:p>
                  </a:txBody>
                  <a:tcPr marT="45725" marB="45725" marR="91450" marL="91450" anchor="ctr">
                    <a:lnL cap="flat" cmpd="sng" w="9525">
                      <a:solidFill>
                        <a:srgbClr val="E0E6EC"/>
                      </a:solidFill>
                      <a:prstDash val="solid"/>
                      <a:round/>
                      <a:headEnd len="sm" w="sm" type="none"/>
                      <a:tailEnd len="sm" w="sm" type="none"/>
                    </a:lnL>
                    <a:lnR cap="flat" cmpd="sng" w="9525">
                      <a:solidFill>
                        <a:srgbClr val="E0E6EC"/>
                      </a:solidFill>
                      <a:prstDash val="solid"/>
                      <a:round/>
                      <a:headEnd len="sm" w="sm" type="none"/>
                      <a:tailEnd len="sm" w="sm" type="none"/>
                    </a:lnR>
                    <a:lnT cap="flat" cmpd="sng" w="9525">
                      <a:solidFill>
                        <a:srgbClr val="E0E6EC"/>
                      </a:solidFill>
                      <a:prstDash val="solid"/>
                      <a:round/>
                      <a:headEnd len="sm" w="sm" type="none"/>
                      <a:tailEnd len="sm" w="sm" type="none"/>
                    </a:lnT>
                    <a:lnB cap="flat" cmpd="sng" w="9525">
                      <a:solidFill>
                        <a:srgbClr val="E0E6EC"/>
                      </a:solidFill>
                      <a:prstDash val="solid"/>
                      <a:round/>
                      <a:headEnd len="sm" w="sm" type="none"/>
                      <a:tailEnd len="sm" w="sm" type="none"/>
                    </a:lnB>
                    <a:solidFill>
                      <a:srgbClr val="F1F4F7"/>
                    </a:solidFill>
                  </a:tcPr>
                </a:tc>
              </a:tr>
            </a:tbl>
          </a:graphicData>
        </a:graphic>
      </p:graphicFrame>
      <p:sp>
        <p:nvSpPr>
          <p:cNvPr id="1298" name="Google Shape;1298;p51"/>
          <p:cNvSpPr/>
          <p:nvPr/>
        </p:nvSpPr>
        <p:spPr>
          <a:xfrm>
            <a:off x="502920" y="5806440"/>
            <a:ext cx="11155680" cy="640080"/>
          </a:xfrm>
          <a:prstGeom prst="roundRect">
            <a:avLst>
              <a:gd fmla="val 8571" name="adj"/>
            </a:avLst>
          </a:prstGeom>
          <a:solidFill>
            <a:srgbClr val="E7F1F8"/>
          </a:solidFill>
          <a:ln cap="flat" cmpd="sng" w="12700">
            <a:solidFill>
              <a:srgbClr val="2380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51"/>
          <p:cNvSpPr txBox="1"/>
          <p:nvPr/>
        </p:nvSpPr>
        <p:spPr>
          <a:xfrm>
            <a:off x="713232" y="5897880"/>
            <a:ext cx="10789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12A"/>
              </a:buClr>
              <a:buSzPts val="1150"/>
              <a:buFont typeface="Calibri"/>
              <a:buNone/>
            </a:pPr>
            <a:r>
              <a:rPr b="1" i="0" lang="en-US" sz="1150" u="none" cap="none" strike="noStrike">
                <a:solidFill>
                  <a:srgbClr val="1C212A"/>
                </a:solidFill>
                <a:latin typeface="Calibri"/>
                <a:ea typeface="Calibri"/>
                <a:cs typeface="Calibri"/>
                <a:sym typeface="Calibri"/>
              </a:rPr>
              <a:t>The pattern across all eight rows:  </a:t>
            </a:r>
            <a:r>
              <a:rPr b="0" i="0" lang="en-US" sz="1150" u="none" cap="none" strike="noStrike">
                <a:solidFill>
                  <a:srgbClr val="4D5763"/>
                </a:solidFill>
                <a:latin typeface="Calibri"/>
                <a:ea typeface="Calibri"/>
                <a:cs typeface="Calibri"/>
                <a:sym typeface="Calibri"/>
              </a:rPr>
              <a:t>the plan was describing capabilities generically that NASA already ships as named, open, operational products. Naming them turns build estimates into integration estimates.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4" name="Shape 1304"/>
        <p:cNvGrpSpPr/>
        <p:nvPr/>
      </p:nvGrpSpPr>
      <p:grpSpPr>
        <a:xfrm>
          <a:off x="0" y="0"/>
          <a:ext cx="0" cy="0"/>
          <a:chOff x="0" y="0"/>
          <a:chExt cx="0" cy="0"/>
        </a:xfrm>
      </p:grpSpPr>
      <p:sp>
        <p:nvSpPr>
          <p:cNvPr id="1305" name="Google Shape;1305;p52"/>
          <p:cNvSpPr/>
          <p:nvPr/>
        </p:nvSpPr>
        <p:spPr>
          <a:xfrm>
            <a:off x="-2011680" y="3108960"/>
            <a:ext cx="5852160" cy="5852160"/>
          </a:xfrm>
          <a:prstGeom prst="ellipse">
            <a:avLst/>
          </a:prstGeom>
          <a:solidFill>
            <a:srgbClr val="1A6389">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52"/>
          <p:cNvSpPr txBox="1"/>
          <p:nvPr/>
        </p:nvSpPr>
        <p:spPr>
          <a:xfrm>
            <a:off x="1280160" y="1371600"/>
            <a:ext cx="7315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D8C8"/>
              </a:buClr>
              <a:buSzPts val="1200"/>
              <a:buFont typeface="Consolas"/>
              <a:buNone/>
            </a:pPr>
            <a:r>
              <a:rPr b="0" i="0" lang="en-US" sz="1200" u="none" cap="none" strike="noStrike">
                <a:solidFill>
                  <a:srgbClr val="7CD8C8"/>
                </a:solidFill>
                <a:latin typeface="Consolas"/>
                <a:ea typeface="Consolas"/>
                <a:cs typeface="Consolas"/>
                <a:sym typeface="Consolas"/>
              </a:rPr>
              <a:t>WHAT TO DO NEXT</a:t>
            </a:r>
            <a:endParaRPr b="0" i="0" sz="1200" u="none" cap="none" strike="noStrike">
              <a:solidFill>
                <a:schemeClr val="dk1"/>
              </a:solidFill>
              <a:latin typeface="Calibri"/>
              <a:ea typeface="Calibri"/>
              <a:cs typeface="Calibri"/>
              <a:sym typeface="Calibri"/>
            </a:endParaRPr>
          </a:p>
        </p:txBody>
      </p:sp>
      <p:sp>
        <p:nvSpPr>
          <p:cNvPr id="1307" name="Google Shape;1307;p52"/>
          <p:cNvSpPr/>
          <p:nvPr/>
        </p:nvSpPr>
        <p:spPr>
          <a:xfrm>
            <a:off x="1280160" y="2048256"/>
            <a:ext cx="347472" cy="347472"/>
          </a:xfrm>
          <a:prstGeom prst="ellipse">
            <a:avLst/>
          </a:prstGeom>
          <a:solidFill>
            <a:srgbClr val="0E3A5F"/>
          </a:solidFill>
          <a:ln cap="flat" cmpd="sng" w="12700">
            <a:solidFill>
              <a:srgbClr val="7CD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52"/>
          <p:cNvSpPr txBox="1"/>
          <p:nvPr/>
        </p:nvSpPr>
        <p:spPr>
          <a:xfrm>
            <a:off x="1280160" y="2048256"/>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D8C8"/>
              </a:buClr>
              <a:buSzPts val="1100"/>
              <a:buFont typeface="Consolas"/>
              <a:buNone/>
            </a:pPr>
            <a:r>
              <a:rPr b="1" i="0" lang="en-US" sz="1100" u="none" cap="none" strike="noStrike">
                <a:solidFill>
                  <a:srgbClr val="7CD8C8"/>
                </a:solidFill>
                <a:latin typeface="Consolas"/>
                <a:ea typeface="Consolas"/>
                <a:cs typeface="Consolas"/>
                <a:sym typeface="Consolas"/>
              </a:rPr>
              <a:t>1</a:t>
            </a:r>
            <a:endParaRPr b="0" i="0" sz="1100" u="none" cap="none" strike="noStrike">
              <a:solidFill>
                <a:schemeClr val="dk1"/>
              </a:solidFill>
              <a:latin typeface="Calibri"/>
              <a:ea typeface="Calibri"/>
              <a:cs typeface="Calibri"/>
              <a:sym typeface="Calibri"/>
            </a:endParaRPr>
          </a:p>
        </p:txBody>
      </p:sp>
      <p:sp>
        <p:nvSpPr>
          <p:cNvPr id="1309" name="Google Shape;1309;p52"/>
          <p:cNvSpPr txBox="1"/>
          <p:nvPr/>
        </p:nvSpPr>
        <p:spPr>
          <a:xfrm>
            <a:off x="1810512" y="2011680"/>
            <a:ext cx="8961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Contact SERVIR-AI/global-platform's maintainers</a:t>
            </a:r>
            <a:endParaRPr b="0" i="0" sz="1500" u="none" cap="none" strike="noStrike">
              <a:solidFill>
                <a:schemeClr val="dk1"/>
              </a:solidFill>
              <a:latin typeface="Calibri"/>
              <a:ea typeface="Calibri"/>
              <a:cs typeface="Calibri"/>
              <a:sym typeface="Calibri"/>
            </a:endParaRPr>
          </a:p>
        </p:txBody>
      </p:sp>
      <p:sp>
        <p:nvSpPr>
          <p:cNvPr id="1310" name="Google Shape;1310;p52"/>
          <p:cNvSpPr txBox="1"/>
          <p:nvPr/>
        </p:nvSpPr>
        <p:spPr>
          <a:xfrm>
            <a:off x="1810512" y="2295144"/>
            <a:ext cx="8961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9C1D6"/>
              </a:buClr>
              <a:buSzPts val="1150"/>
              <a:buFont typeface="Calibri"/>
              <a:buNone/>
            </a:pPr>
            <a:r>
              <a:rPr b="0" i="0" lang="en-US" sz="1150" u="none" cap="none" strike="noStrike">
                <a:solidFill>
                  <a:srgbClr val="A9C1D6"/>
                </a:solidFill>
                <a:latin typeface="Calibri"/>
                <a:ea typeface="Calibri"/>
                <a:cs typeface="Calibri"/>
                <a:sym typeface="Calibri"/>
              </a:rPr>
              <a:t>Decision #12 — the single remaining upstream blocker.</a:t>
            </a:r>
            <a:endParaRPr b="0" i="0" sz="1150" u="none" cap="none" strike="noStrike">
              <a:solidFill>
                <a:schemeClr val="dk1"/>
              </a:solidFill>
              <a:latin typeface="Calibri"/>
              <a:ea typeface="Calibri"/>
              <a:cs typeface="Calibri"/>
              <a:sym typeface="Calibri"/>
            </a:endParaRPr>
          </a:p>
        </p:txBody>
      </p:sp>
      <p:sp>
        <p:nvSpPr>
          <p:cNvPr id="1311" name="Google Shape;1311;p52"/>
          <p:cNvSpPr/>
          <p:nvPr/>
        </p:nvSpPr>
        <p:spPr>
          <a:xfrm>
            <a:off x="1280160" y="2916936"/>
            <a:ext cx="347472" cy="347472"/>
          </a:xfrm>
          <a:prstGeom prst="ellipse">
            <a:avLst/>
          </a:prstGeom>
          <a:solidFill>
            <a:srgbClr val="0E3A5F"/>
          </a:solidFill>
          <a:ln cap="flat" cmpd="sng" w="12700">
            <a:solidFill>
              <a:srgbClr val="7CD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52"/>
          <p:cNvSpPr txBox="1"/>
          <p:nvPr/>
        </p:nvSpPr>
        <p:spPr>
          <a:xfrm>
            <a:off x="1280160" y="2916936"/>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D8C8"/>
              </a:buClr>
              <a:buSzPts val="1100"/>
              <a:buFont typeface="Consolas"/>
              <a:buNone/>
            </a:pPr>
            <a:r>
              <a:rPr b="1" i="0" lang="en-US" sz="1100" u="none" cap="none" strike="noStrike">
                <a:solidFill>
                  <a:srgbClr val="7CD8C8"/>
                </a:solidFill>
                <a:latin typeface="Consolas"/>
                <a:ea typeface="Consolas"/>
                <a:cs typeface="Consolas"/>
                <a:sym typeface="Consolas"/>
              </a:rPr>
              <a:t>2</a:t>
            </a:r>
            <a:endParaRPr b="0" i="0" sz="1100" u="none" cap="none" strike="noStrike">
              <a:solidFill>
                <a:schemeClr val="dk1"/>
              </a:solidFill>
              <a:latin typeface="Calibri"/>
              <a:ea typeface="Calibri"/>
              <a:cs typeface="Calibri"/>
              <a:sym typeface="Calibri"/>
            </a:endParaRPr>
          </a:p>
        </p:txBody>
      </p:sp>
      <p:sp>
        <p:nvSpPr>
          <p:cNvPr id="1313" name="Google Shape;1313;p52"/>
          <p:cNvSpPr txBox="1"/>
          <p:nvPr/>
        </p:nvSpPr>
        <p:spPr>
          <a:xfrm>
            <a:off x="1810512" y="2880360"/>
            <a:ext cx="8961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Execute the migration triage</a:t>
            </a:r>
            <a:endParaRPr b="0" i="0" sz="1500" u="none" cap="none" strike="noStrike">
              <a:solidFill>
                <a:schemeClr val="dk1"/>
              </a:solidFill>
              <a:latin typeface="Calibri"/>
              <a:ea typeface="Calibri"/>
              <a:cs typeface="Calibri"/>
              <a:sym typeface="Calibri"/>
            </a:endParaRPr>
          </a:p>
        </p:txBody>
      </p:sp>
      <p:sp>
        <p:nvSpPr>
          <p:cNvPr id="1314" name="Google Shape;1314;p52"/>
          <p:cNvSpPr txBox="1"/>
          <p:nvPr/>
        </p:nvSpPr>
        <p:spPr>
          <a:xfrm>
            <a:off x="1810512" y="3163824"/>
            <a:ext cx="8961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9C1D6"/>
              </a:buClr>
              <a:buSzPts val="1150"/>
              <a:buFont typeface="Calibri"/>
              <a:buNone/>
            </a:pPr>
            <a:r>
              <a:rPr b="0" i="0" lang="en-US" sz="1150" u="none" cap="none" strike="noStrike">
                <a:solidFill>
                  <a:srgbClr val="A9C1D6"/>
                </a:solidFill>
                <a:latin typeface="Calibri"/>
                <a:ea typeface="Calibri"/>
                <a:cs typeface="Calibri"/>
                <a:sym typeface="Calibri"/>
              </a:rPr>
              <a:t>231 repos inventoried; 41 wrap candidates identified. Start with the ones two of the first three agents depend on.</a:t>
            </a:r>
            <a:endParaRPr b="0" i="0" sz="1150" u="none" cap="none" strike="noStrike">
              <a:solidFill>
                <a:schemeClr val="dk1"/>
              </a:solidFill>
              <a:latin typeface="Calibri"/>
              <a:ea typeface="Calibri"/>
              <a:cs typeface="Calibri"/>
              <a:sym typeface="Calibri"/>
            </a:endParaRPr>
          </a:p>
        </p:txBody>
      </p:sp>
      <p:sp>
        <p:nvSpPr>
          <p:cNvPr id="1315" name="Google Shape;1315;p52"/>
          <p:cNvSpPr/>
          <p:nvPr/>
        </p:nvSpPr>
        <p:spPr>
          <a:xfrm>
            <a:off x="1280160" y="3785616"/>
            <a:ext cx="347472" cy="347472"/>
          </a:xfrm>
          <a:prstGeom prst="ellipse">
            <a:avLst/>
          </a:prstGeom>
          <a:solidFill>
            <a:srgbClr val="0E3A5F"/>
          </a:solidFill>
          <a:ln cap="flat" cmpd="sng" w="12700">
            <a:solidFill>
              <a:srgbClr val="7CD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52"/>
          <p:cNvSpPr txBox="1"/>
          <p:nvPr/>
        </p:nvSpPr>
        <p:spPr>
          <a:xfrm>
            <a:off x="1280160" y="3785616"/>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D8C8"/>
              </a:buClr>
              <a:buSzPts val="1100"/>
              <a:buFont typeface="Consolas"/>
              <a:buNone/>
            </a:pPr>
            <a:r>
              <a:rPr b="1" i="0" lang="en-US" sz="1100" u="none" cap="none" strike="noStrike">
                <a:solidFill>
                  <a:srgbClr val="7CD8C8"/>
                </a:solidFill>
                <a:latin typeface="Consolas"/>
                <a:ea typeface="Consolas"/>
                <a:cs typeface="Consolas"/>
                <a:sym typeface="Consolas"/>
              </a:rPr>
              <a:t>3</a:t>
            </a:r>
            <a:endParaRPr b="0" i="0" sz="1100" u="none" cap="none" strike="noStrike">
              <a:solidFill>
                <a:schemeClr val="dk1"/>
              </a:solidFill>
              <a:latin typeface="Calibri"/>
              <a:ea typeface="Calibri"/>
              <a:cs typeface="Calibri"/>
              <a:sym typeface="Calibri"/>
            </a:endParaRPr>
          </a:p>
        </p:txBody>
      </p:sp>
      <p:sp>
        <p:nvSpPr>
          <p:cNvPr id="1317" name="Google Shape;1317;p52"/>
          <p:cNvSpPr txBox="1"/>
          <p:nvPr/>
        </p:nvSpPr>
        <p:spPr>
          <a:xfrm>
            <a:off x="1810512" y="3749040"/>
            <a:ext cx="8961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Scope the DSSAT / PCSE bake-off</a:t>
            </a:r>
            <a:endParaRPr b="0" i="0" sz="1500" u="none" cap="none" strike="noStrike">
              <a:solidFill>
                <a:schemeClr val="dk1"/>
              </a:solidFill>
              <a:latin typeface="Calibri"/>
              <a:ea typeface="Calibri"/>
              <a:cs typeface="Calibri"/>
              <a:sym typeface="Calibri"/>
            </a:endParaRPr>
          </a:p>
        </p:txBody>
      </p:sp>
      <p:sp>
        <p:nvSpPr>
          <p:cNvPr id="1318" name="Google Shape;1318;p52"/>
          <p:cNvSpPr txBox="1"/>
          <p:nvPr/>
        </p:nvSpPr>
        <p:spPr>
          <a:xfrm>
            <a:off x="1810512" y="4032504"/>
            <a:ext cx="8961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9C1D6"/>
              </a:buClr>
              <a:buSzPts val="1150"/>
              <a:buFont typeface="Calibri"/>
              <a:buNone/>
            </a:pPr>
            <a:r>
              <a:rPr b="0" i="0" lang="en-US" sz="1150" u="none" cap="none" strike="noStrike">
                <a:solidFill>
                  <a:srgbClr val="A9C1D6"/>
                </a:solidFill>
                <a:latin typeface="Calibri"/>
                <a:ea typeface="Calibri"/>
                <a:cs typeface="Calibri"/>
                <a:sym typeface="Calibri"/>
              </a:rPr>
              <a:t>Decision #13 — Clock 3 of the entire Food Security matrix waits on it.</a:t>
            </a:r>
            <a:endParaRPr b="0" i="0" sz="1150" u="none" cap="none" strike="noStrike">
              <a:solidFill>
                <a:schemeClr val="dk1"/>
              </a:solidFill>
              <a:latin typeface="Calibri"/>
              <a:ea typeface="Calibri"/>
              <a:cs typeface="Calibri"/>
              <a:sym typeface="Calibri"/>
            </a:endParaRPr>
          </a:p>
        </p:txBody>
      </p:sp>
      <p:sp>
        <p:nvSpPr>
          <p:cNvPr id="1319" name="Google Shape;1319;p52"/>
          <p:cNvSpPr/>
          <p:nvPr/>
        </p:nvSpPr>
        <p:spPr>
          <a:xfrm>
            <a:off x="1280160" y="4654296"/>
            <a:ext cx="347472" cy="347472"/>
          </a:xfrm>
          <a:prstGeom prst="ellipse">
            <a:avLst/>
          </a:prstGeom>
          <a:solidFill>
            <a:srgbClr val="0E3A5F"/>
          </a:solidFill>
          <a:ln cap="flat" cmpd="sng" w="12700">
            <a:solidFill>
              <a:srgbClr val="7CD8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52"/>
          <p:cNvSpPr txBox="1"/>
          <p:nvPr/>
        </p:nvSpPr>
        <p:spPr>
          <a:xfrm>
            <a:off x="1280160" y="4654296"/>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D8C8"/>
              </a:buClr>
              <a:buSzPts val="1100"/>
              <a:buFont typeface="Consolas"/>
              <a:buNone/>
            </a:pPr>
            <a:r>
              <a:rPr b="1" i="0" lang="en-US" sz="1100" u="none" cap="none" strike="noStrike">
                <a:solidFill>
                  <a:srgbClr val="7CD8C8"/>
                </a:solidFill>
                <a:latin typeface="Consolas"/>
                <a:ea typeface="Consolas"/>
                <a:cs typeface="Consolas"/>
                <a:sym typeface="Consolas"/>
              </a:rPr>
              <a:t>4</a:t>
            </a:r>
            <a:endParaRPr b="0" i="0" sz="1100" u="none" cap="none" strike="noStrike">
              <a:solidFill>
                <a:schemeClr val="dk1"/>
              </a:solidFill>
              <a:latin typeface="Calibri"/>
              <a:ea typeface="Calibri"/>
              <a:cs typeface="Calibri"/>
              <a:sym typeface="Calibri"/>
            </a:endParaRPr>
          </a:p>
        </p:txBody>
      </p:sp>
      <p:sp>
        <p:nvSpPr>
          <p:cNvPr id="1321" name="Google Shape;1321;p52"/>
          <p:cNvSpPr txBox="1"/>
          <p:nvPr/>
        </p:nvSpPr>
        <p:spPr>
          <a:xfrm>
            <a:off x="1810512" y="4617720"/>
            <a:ext cx="8961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Start sourcing concession boundaries</a:t>
            </a:r>
            <a:endParaRPr b="0" i="0" sz="1500" u="none" cap="none" strike="noStrike">
              <a:solidFill>
                <a:schemeClr val="dk1"/>
              </a:solidFill>
              <a:latin typeface="Calibri"/>
              <a:ea typeface="Calibri"/>
              <a:cs typeface="Calibri"/>
              <a:sym typeface="Calibri"/>
            </a:endParaRPr>
          </a:p>
        </p:txBody>
      </p:sp>
      <p:sp>
        <p:nvSpPr>
          <p:cNvPr id="1322" name="Google Shape;1322;p52"/>
          <p:cNvSpPr txBox="1"/>
          <p:nvPr/>
        </p:nvSpPr>
        <p:spPr>
          <a:xfrm>
            <a:off x="1810512" y="4901184"/>
            <a:ext cx="8961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9C1D6"/>
              </a:buClr>
              <a:buSzPts val="1150"/>
              <a:buFont typeface="Calibri"/>
              <a:buNone/>
            </a:pPr>
            <a:r>
              <a:rPr b="0" i="0" lang="en-US" sz="1150" u="none" cap="none" strike="noStrike">
                <a:solidFill>
                  <a:srgbClr val="A9C1D6"/>
                </a:solidFill>
                <a:latin typeface="Calibri"/>
                <a:ea typeface="Calibri"/>
                <a:cs typeface="Calibri"/>
                <a:sym typeface="Calibri"/>
              </a:rPr>
              <a:t>The unnumbered decision. Without it, NRM detects change but cannot say whether it was permitted.</a:t>
            </a:r>
            <a:endParaRPr b="0" i="0" sz="1150" u="none" cap="none" strike="noStrike">
              <a:solidFill>
                <a:schemeClr val="dk1"/>
              </a:solidFill>
              <a:latin typeface="Calibri"/>
              <a:ea typeface="Calibri"/>
              <a:cs typeface="Calibri"/>
              <a:sym typeface="Calibri"/>
            </a:endParaRPr>
          </a:p>
        </p:txBody>
      </p:sp>
      <p:cxnSp>
        <p:nvCxnSpPr>
          <p:cNvPr id="1323" name="Google Shape;1323;p52"/>
          <p:cNvCxnSpPr/>
          <p:nvPr/>
        </p:nvCxnSpPr>
        <p:spPr>
          <a:xfrm>
            <a:off x="1280160" y="5669280"/>
            <a:ext cx="9509760" cy="0"/>
          </a:xfrm>
          <a:prstGeom prst="straightConnector1">
            <a:avLst/>
          </a:prstGeom>
          <a:noFill/>
          <a:ln cap="flat" cmpd="sng" w="12700">
            <a:solidFill>
              <a:srgbClr val="1E4A72"/>
            </a:solidFill>
            <a:prstDash val="solid"/>
            <a:round/>
            <a:headEnd len="sm" w="sm" type="none"/>
            <a:tailEnd len="sm" w="sm" type="none"/>
          </a:ln>
        </p:spPr>
      </p:cxnSp>
      <p:sp>
        <p:nvSpPr>
          <p:cNvPr id="1324" name="Google Shape;1324;p52"/>
          <p:cNvSpPr txBox="1"/>
          <p:nvPr/>
        </p:nvSpPr>
        <p:spPr>
          <a:xfrm>
            <a:off x="1280160" y="5806440"/>
            <a:ext cx="9509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CB8"/>
              </a:buClr>
              <a:buSzPts val="900"/>
              <a:buFont typeface="Consolas"/>
              <a:buNone/>
            </a:pPr>
            <a:r>
              <a:rPr b="0" i="0" lang="en-US" sz="900" u="none" cap="none" strike="noStrike">
                <a:solidFill>
                  <a:srgbClr val="7E9CB8"/>
                </a:solidFill>
                <a:latin typeface="Consolas"/>
                <a:ea typeface="Consolas"/>
                <a:cs typeface="Consolas"/>
                <a:sym typeface="Consolas"/>
              </a:rPr>
              <a:t>Source of record: SERVIR Platform Ecosystem — Master Architecture v1.7 · GeoAI Strategy Across the Three SERVIR Platforms</a:t>
            </a:r>
            <a:endParaRPr b="0" i="0" sz="900" u="none" cap="none" strike="noStrike">
              <a:solidFill>
                <a:schemeClr val="dk1"/>
              </a:solidFill>
              <a:latin typeface="Calibri"/>
              <a:ea typeface="Calibri"/>
              <a:cs typeface="Calibri"/>
              <a:sym typeface="Calibri"/>
            </a:endParaRPr>
          </a:p>
        </p:txBody>
      </p:sp>
      <p:sp>
        <p:nvSpPr>
          <p:cNvPr id="1325" name="Google Shape;1325;p52"/>
          <p:cNvSpPr txBox="1"/>
          <p:nvPr/>
        </p:nvSpPr>
        <p:spPr>
          <a:xfrm>
            <a:off x="1280160" y="6053328"/>
            <a:ext cx="9509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C98"/>
              </a:buClr>
              <a:buSzPts val="900"/>
              <a:buFont typeface="Consolas"/>
              <a:buNone/>
            </a:pPr>
            <a:r>
              <a:rPr b="0" i="0" lang="en-US" sz="900" u="none" cap="none" strike="noStrike">
                <a:solidFill>
                  <a:srgbClr val="5E7C98"/>
                </a:solidFill>
                <a:latin typeface="Consolas"/>
                <a:ea typeface="Consolas"/>
                <a:cs typeface="Consolas"/>
                <a:sym typeface="Consolas"/>
              </a:rPr>
              <a:t>Engineering draft for review — not a final build commitment.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